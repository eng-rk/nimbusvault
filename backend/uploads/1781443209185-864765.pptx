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52" r:id="rId63"/>
    <p:sldId id="353" r:id="rId64"/>
    <p:sldId id="354" r:id="rId65"/>
    <p:sldId id="356" r:id="rId66"/>
    <p:sldId id="357" r:id="rId67"/>
    <p:sldId id="358" r:id="rId68"/>
    <p:sldId id="359" r:id="rId69"/>
    <p:sldId id="360" r:id="rId70"/>
    <p:sldId id="361" r:id="rId71"/>
    <p:sldId id="362" r:id="rId72"/>
    <p:sldId id="363" r:id="rId73"/>
    <p:sldId id="364" r:id="rId74"/>
    <p:sldId id="365" r:id="rId75"/>
    <p:sldId id="319"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2" r:id="rId89"/>
    <p:sldId id="333" r:id="rId90"/>
    <p:sldId id="334" r:id="rId91"/>
    <p:sldId id="335" r:id="rId92"/>
    <p:sldId id="336" r:id="rId93"/>
    <p:sldId id="337" r:id="rId94"/>
    <p:sldId id="338" r:id="rId95"/>
    <p:sldId id="340" r:id="rId96"/>
    <p:sldId id="341" r:id="rId97"/>
    <p:sldId id="342" r:id="rId98"/>
    <p:sldId id="343" r:id="rId99"/>
    <p:sldId id="344" r:id="rId100"/>
    <p:sldId id="345" r:id="rId101"/>
    <p:sldId id="346" r:id="rId102"/>
    <p:sldId id="347" r:id="rId103"/>
    <p:sldId id="348" r:id="rId104"/>
    <p:sldId id="349" r:id="rId105"/>
    <p:sldId id="350" r:id="rId106"/>
    <p:sldId id="351" r:id="rId10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4B59BF2D-F0C3-47A4-A484-42830F51CC79}" type="datetimeFigureOut">
              <a:rPr lang="en-US" smtClean="0"/>
              <a:t>5/9/2026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237588288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59BF2D-F0C3-47A4-A484-42830F51CC79}"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1498189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9BF2D-F0C3-47A4-A484-42830F51CC79}"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1853575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59BF2D-F0C3-47A4-A484-42830F51CC79}"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232855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59BF2D-F0C3-47A4-A484-42830F51CC79}" type="datetimeFigureOut">
              <a:rPr lang="en-US" smtClean="0"/>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2481352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59BF2D-F0C3-47A4-A484-42830F51CC79}" type="datetimeFigureOut">
              <a:rPr lang="en-US" smtClean="0"/>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383385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4B59BF2D-F0C3-47A4-A484-42830F51CC79}" type="datetimeFigureOut">
              <a:rPr lang="en-US" smtClean="0"/>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1054483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59BF2D-F0C3-47A4-A484-42830F51CC79}"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3267445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59BF2D-F0C3-47A4-A484-42830F51CC79}"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366737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59BF2D-F0C3-47A4-A484-42830F51CC79}"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872518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9BF2D-F0C3-47A4-A484-42830F51CC79}"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977453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9BF2D-F0C3-47A4-A484-42830F51CC79}"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1818578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9BF2D-F0C3-47A4-A484-42830F51CC79}"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13998449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9BF2D-F0C3-47A4-A484-42830F51CC79}"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40565829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9BF2D-F0C3-47A4-A484-42830F51CC79}"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2449584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59BF2D-F0C3-47A4-A484-42830F51CC79}"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E6D3B-F98A-42C8-BCDA-FA79C12B0B3F}"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14376164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59BF2D-F0C3-47A4-A484-42830F51CC79}"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E6D3B-F98A-42C8-BCDA-FA79C12B0B3F}" type="slidenum">
              <a:rPr lang="en-US" smtClean="0"/>
              <a:t>‹#›</a:t>
            </a:fld>
            <a:endParaRPr lang="en-US"/>
          </a:p>
        </p:txBody>
      </p:sp>
    </p:spTree>
    <p:extLst>
      <p:ext uri="{BB962C8B-B14F-4D97-AF65-F5344CB8AC3E}">
        <p14:creationId xmlns:p14="http://schemas.microsoft.com/office/powerpoint/2010/main" val="413369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B59BF2D-F0C3-47A4-A484-42830F51CC79}" type="datetimeFigureOut">
              <a:rPr lang="en-US" smtClean="0"/>
              <a:t>5/9/2026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2FE6D3B-F98A-42C8-BCDA-FA79C12B0B3F}" type="slidenum">
              <a:rPr lang="en-US" smtClean="0"/>
              <a:t>‹#›</a:t>
            </a:fld>
            <a:endParaRPr lang="en-US"/>
          </a:p>
        </p:txBody>
      </p:sp>
      <p:sp>
        <p:nvSpPr>
          <p:cNvPr id="8" name="TextBox 7">
            <a:extLst>
              <a:ext uri="{FF2B5EF4-FFF2-40B4-BE49-F238E27FC236}">
                <a16:creationId xmlns:a16="http://schemas.microsoft.com/office/drawing/2014/main" id="{5BEA841C-B8BD-8F21-15BD-347242301938}"/>
              </a:ext>
            </a:extLst>
          </p:cNvPr>
          <p:cNvSpPr txBox="1"/>
          <p:nvPr userDrawn="1">
            <p:extLst>
              <p:ext uri="{1162E1C5-73C7-4A58-AE30-91384D911F3F}">
                <p184:classification xmlns:p184="http://schemas.microsoft.com/office/powerpoint/2018/4/main" val="ftr"/>
              </p:ext>
            </p:extLst>
          </p:nvPr>
        </p:nvSpPr>
        <p:spPr>
          <a:xfrm>
            <a:off x="63500" y="6642100"/>
            <a:ext cx="701739" cy="152400"/>
          </a:xfrm>
          <a:prstGeom prst="rect">
            <a:avLst/>
          </a:prstGeom>
        </p:spPr>
        <p:txBody>
          <a:bodyPr horzOverflow="overflow" lIns="0" tIns="0" rIns="0" bIns="0">
            <a:spAutoFit/>
          </a:bodyPr>
          <a:lstStyle/>
          <a:p>
            <a:pPr algn="l"/>
            <a:r>
              <a:rPr lang="en-US" sz="1000">
                <a:solidFill>
                  <a:srgbClr val="FF0000">
                    <a:alpha val="50000"/>
                  </a:srgbClr>
                </a:solidFill>
                <a:latin typeface="Aptos" panose="020B0004020202020204" pitchFamily="34" charset="0"/>
              </a:rPr>
              <a:t>Confidential</a:t>
            </a:r>
          </a:p>
        </p:txBody>
      </p:sp>
    </p:spTree>
    <p:extLst>
      <p:ext uri="{BB962C8B-B14F-4D97-AF65-F5344CB8AC3E}">
        <p14:creationId xmlns:p14="http://schemas.microsoft.com/office/powerpoint/2010/main" val="82931393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9979F-DEA1-F537-BB15-4AB3E9D83587}"/>
              </a:ext>
            </a:extLst>
          </p:cNvPr>
          <p:cNvSpPr>
            <a:spLocks noGrp="1"/>
          </p:cNvSpPr>
          <p:nvPr>
            <p:ph type="ctrTitle"/>
          </p:nvPr>
        </p:nvSpPr>
        <p:spPr/>
        <p:txBody>
          <a:bodyPr/>
          <a:lstStyle/>
          <a:p>
            <a:pPr algn="l"/>
            <a:r>
              <a:rPr lang="en-US" dirty="0"/>
              <a:t>Advanced Software Development &amp; Security</a:t>
            </a:r>
          </a:p>
        </p:txBody>
      </p:sp>
      <p:sp>
        <p:nvSpPr>
          <p:cNvPr id="3" name="Subtitle 2">
            <a:extLst>
              <a:ext uri="{FF2B5EF4-FFF2-40B4-BE49-F238E27FC236}">
                <a16:creationId xmlns:a16="http://schemas.microsoft.com/office/drawing/2014/main" id="{3C601D1C-AAE6-CB68-3CC5-0E81CB81BCCC}"/>
              </a:ext>
            </a:extLst>
          </p:cNvPr>
          <p:cNvSpPr>
            <a:spLocks noGrp="1"/>
          </p:cNvSpPr>
          <p:nvPr>
            <p:ph type="subTitle" idx="1"/>
          </p:nvPr>
        </p:nvSpPr>
        <p:spPr/>
        <p:txBody>
          <a:bodyPr>
            <a:normAutofit/>
          </a:bodyPr>
          <a:lstStyle/>
          <a:p>
            <a:pPr algn="l"/>
            <a:r>
              <a:rPr lang="en-US" sz="1800" b="1" dirty="0">
                <a:latin typeface="+mj-lt"/>
                <a:ea typeface="+mj-ea"/>
                <a:cs typeface="+mj-cs"/>
              </a:rPr>
              <a:t>Presented by: Abdallah Eid</a:t>
            </a:r>
          </a:p>
        </p:txBody>
      </p:sp>
    </p:spTree>
    <p:extLst>
      <p:ext uri="{BB962C8B-B14F-4D97-AF65-F5344CB8AC3E}">
        <p14:creationId xmlns:p14="http://schemas.microsoft.com/office/powerpoint/2010/main" val="1179402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E9769-8A00-F5E4-A32F-840BE0B16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FBEA1-E4D7-8D12-58F8-1174509A260B}"/>
              </a:ext>
            </a:extLst>
          </p:cNvPr>
          <p:cNvSpPr>
            <a:spLocks noGrp="1"/>
          </p:cNvSpPr>
          <p:nvPr>
            <p:ph type="title"/>
          </p:nvPr>
        </p:nvSpPr>
        <p:spPr/>
        <p:txBody>
          <a:bodyPr/>
          <a:lstStyle/>
          <a:p>
            <a:r>
              <a:rPr lang="en-US" dirty="0"/>
              <a:t>Security Fundamentals</a:t>
            </a:r>
          </a:p>
        </p:txBody>
      </p:sp>
      <p:sp>
        <p:nvSpPr>
          <p:cNvPr id="5" name="Rectangle 2">
            <a:extLst>
              <a:ext uri="{FF2B5EF4-FFF2-40B4-BE49-F238E27FC236}">
                <a16:creationId xmlns:a16="http://schemas.microsoft.com/office/drawing/2014/main" id="{460A578F-A9D2-8EF7-8A2E-A82FCE2240EC}"/>
              </a:ext>
            </a:extLst>
          </p:cNvPr>
          <p:cNvSpPr>
            <a:spLocks noGrp="1" noChangeArrowheads="1"/>
          </p:cNvSpPr>
          <p:nvPr>
            <p:ph idx="1"/>
          </p:nvPr>
        </p:nvSpPr>
        <p:spPr bwMode="auto">
          <a:xfrm>
            <a:off x="685801" y="3366469"/>
            <a:ext cx="709681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Software runs the world (banking, healthcare, infrastructure)</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Security failures = financial loss, data breach, reputation damage</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Security is not a feature — it’s a requirement</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Developers are the first line of defense</a:t>
            </a:r>
          </a:p>
        </p:txBody>
      </p:sp>
    </p:spTree>
    <p:extLst>
      <p:ext uri="{BB962C8B-B14F-4D97-AF65-F5344CB8AC3E}">
        <p14:creationId xmlns:p14="http://schemas.microsoft.com/office/powerpoint/2010/main" val="3733011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9227C8E-139C-5AB2-CDB7-878ECD8DB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B9DAC-8F53-0512-7767-457D156FFA95}"/>
              </a:ext>
            </a:extLst>
          </p:cNvPr>
          <p:cNvSpPr>
            <a:spLocks noGrp="1"/>
          </p:cNvSpPr>
          <p:nvPr>
            <p:ph type="title"/>
          </p:nvPr>
        </p:nvSpPr>
        <p:spPr>
          <a:xfrm>
            <a:off x="685801" y="609600"/>
            <a:ext cx="5219699" cy="1456267"/>
          </a:xfrm>
        </p:spPr>
        <p:txBody>
          <a:bodyPr>
            <a:normAutofit/>
          </a:bodyPr>
          <a:lstStyle/>
          <a:p>
            <a:r>
              <a:rPr lang="en-US" dirty="0"/>
              <a:t>The CIA Triad</a:t>
            </a:r>
          </a:p>
        </p:txBody>
      </p:sp>
      <p:sp>
        <p:nvSpPr>
          <p:cNvPr id="5" name="Rectangle 2">
            <a:extLst>
              <a:ext uri="{FF2B5EF4-FFF2-40B4-BE49-F238E27FC236}">
                <a16:creationId xmlns:a16="http://schemas.microsoft.com/office/drawing/2014/main" id="{93346299-34EA-7C27-C6E3-40A4EEE505EA}"/>
              </a:ext>
            </a:extLst>
          </p:cNvPr>
          <p:cNvSpPr>
            <a:spLocks noGrp="1" noChangeArrowheads="1"/>
          </p:cNvSpPr>
          <p:nvPr>
            <p:ph idx="1"/>
          </p:nvPr>
        </p:nvSpPr>
        <p:spPr bwMode="auto">
          <a:xfrm>
            <a:off x="685801" y="2142067"/>
            <a:ext cx="5219699"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lnSpc>
                <a:spcPct val="90000"/>
              </a:lnSpc>
              <a:buNone/>
            </a:pPr>
            <a:r>
              <a:rPr lang="en-GB" sz="1700" b="1"/>
              <a:t>Principles of Information Security</a:t>
            </a:r>
            <a:endParaRPr lang="en-GB" sz="1700"/>
          </a:p>
          <a:p>
            <a:pPr marL="0" indent="0">
              <a:lnSpc>
                <a:spcPct val="90000"/>
              </a:lnSpc>
              <a:buNone/>
            </a:pPr>
            <a:r>
              <a:rPr lang="en-GB" sz="1700" b="1"/>
              <a:t>Confidentiality</a:t>
            </a:r>
          </a:p>
          <a:p>
            <a:pPr>
              <a:lnSpc>
                <a:spcPct val="90000"/>
              </a:lnSpc>
            </a:pPr>
            <a:r>
              <a:rPr lang="en-GB" sz="1700"/>
              <a:t>Only authorized users can access information</a:t>
            </a:r>
          </a:p>
          <a:p>
            <a:pPr>
              <a:lnSpc>
                <a:spcPct val="90000"/>
              </a:lnSpc>
            </a:pPr>
            <a:r>
              <a:rPr lang="en-GB" sz="1700"/>
              <a:t>Example: Encryption, access control</a:t>
            </a:r>
          </a:p>
          <a:p>
            <a:pPr marL="0" indent="0">
              <a:lnSpc>
                <a:spcPct val="90000"/>
              </a:lnSpc>
              <a:buNone/>
            </a:pPr>
            <a:r>
              <a:rPr lang="en-GB" sz="1700" b="1"/>
              <a:t>Integrity</a:t>
            </a:r>
          </a:p>
          <a:p>
            <a:pPr>
              <a:lnSpc>
                <a:spcPct val="90000"/>
              </a:lnSpc>
            </a:pPr>
            <a:r>
              <a:rPr lang="en-GB" sz="1700"/>
              <a:t>Data cannot be altered without authorization</a:t>
            </a:r>
          </a:p>
          <a:p>
            <a:pPr>
              <a:lnSpc>
                <a:spcPct val="90000"/>
              </a:lnSpc>
            </a:pPr>
            <a:r>
              <a:rPr lang="en-GB" sz="1700"/>
              <a:t>Example: Hashing, digital signatures</a:t>
            </a:r>
          </a:p>
          <a:p>
            <a:pPr marL="0" indent="0">
              <a:lnSpc>
                <a:spcPct val="90000"/>
              </a:lnSpc>
              <a:buNone/>
            </a:pPr>
            <a:r>
              <a:rPr lang="en-GB" sz="1700" b="1"/>
              <a:t>Availability</a:t>
            </a:r>
          </a:p>
          <a:p>
            <a:pPr>
              <a:lnSpc>
                <a:spcPct val="90000"/>
              </a:lnSpc>
            </a:pPr>
            <a:r>
              <a:rPr lang="en-GB" sz="1700"/>
              <a:t>Systems and data must be accessible when needed</a:t>
            </a:r>
          </a:p>
          <a:p>
            <a:pPr>
              <a:lnSpc>
                <a:spcPct val="90000"/>
              </a:lnSpc>
            </a:pPr>
            <a:r>
              <a:rPr lang="en-GB" sz="1700"/>
              <a:t>Example: Redundancy, DDoS protection</a:t>
            </a:r>
          </a:p>
        </p:txBody>
      </p:sp>
      <p:pic>
        <p:nvPicPr>
          <p:cNvPr id="2054" name="Picture 6" descr="The Confidentiality, Integrity, Availability (CIA) triad.">
            <a:extLst>
              <a:ext uri="{FF2B5EF4-FFF2-40B4-BE49-F238E27FC236}">
                <a16:creationId xmlns:a16="http://schemas.microsoft.com/office/drawing/2014/main" id="{B410237A-F3E8-5BB0-BB58-E4699D3DBE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5" t="1" r="160" b="-63"/>
          <a:stretch>
            <a:fillRect/>
          </a:stretch>
        </p:blipFill>
        <p:spPr bwMode="auto">
          <a:xfrm>
            <a:off x="5811520" y="639097"/>
            <a:ext cx="6055360" cy="5253703"/>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0418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81B6440-E6AD-1457-7C5E-95832B88B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75C00-3D03-1CE7-3F98-BB80FBB327E5}"/>
              </a:ext>
            </a:extLst>
          </p:cNvPr>
          <p:cNvSpPr>
            <a:spLocks noGrp="1"/>
          </p:cNvSpPr>
          <p:nvPr>
            <p:ph type="title"/>
          </p:nvPr>
        </p:nvSpPr>
        <p:spPr>
          <a:xfrm>
            <a:off x="685801" y="609600"/>
            <a:ext cx="5219699" cy="1456267"/>
          </a:xfrm>
        </p:spPr>
        <p:txBody>
          <a:bodyPr>
            <a:normAutofit/>
          </a:bodyPr>
          <a:lstStyle/>
          <a:p>
            <a:r>
              <a:rPr lang="en-US" dirty="0"/>
              <a:t>Types of Hackers</a:t>
            </a:r>
          </a:p>
        </p:txBody>
      </p:sp>
      <p:sp>
        <p:nvSpPr>
          <p:cNvPr id="5" name="Rectangle 2">
            <a:extLst>
              <a:ext uri="{FF2B5EF4-FFF2-40B4-BE49-F238E27FC236}">
                <a16:creationId xmlns:a16="http://schemas.microsoft.com/office/drawing/2014/main" id="{8619A0C1-8C31-4D14-BDCD-D7FB63215B95}"/>
              </a:ext>
            </a:extLst>
          </p:cNvPr>
          <p:cNvSpPr>
            <a:spLocks noGrp="1" noChangeArrowheads="1"/>
          </p:cNvSpPr>
          <p:nvPr>
            <p:ph idx="1"/>
          </p:nvPr>
        </p:nvSpPr>
        <p:spPr bwMode="auto">
          <a:xfrm>
            <a:off x="685801" y="2142067"/>
            <a:ext cx="7124699" cy="388408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GB" sz="1600" b="1" dirty="0"/>
              <a:t>White Hat:</a:t>
            </a:r>
            <a:r>
              <a:rPr lang="en-GB" sz="1600" dirty="0"/>
              <a:t> White hat hackers are well-intentioned hackers who know the techniques and methods used by cyber criminals and recognize the tools and software used during hacker activities.</a:t>
            </a:r>
          </a:p>
          <a:p>
            <a:r>
              <a:rPr lang="en-GB" sz="1600" b="1" dirty="0"/>
              <a:t>Black Hat:</a:t>
            </a:r>
            <a:r>
              <a:rPr lang="en-GB" sz="1600" dirty="0"/>
              <a:t> Black hat hackers are malicious hackers who harm systems, steal information, and gain unauthorized access to systems.</a:t>
            </a:r>
          </a:p>
          <a:p>
            <a:r>
              <a:rPr lang="en-GB" sz="1600" b="1" dirty="0"/>
              <a:t>Gray Hat:</a:t>
            </a:r>
            <a:r>
              <a:rPr lang="en-GB" sz="1600" dirty="0"/>
              <a:t> Gray hat hackers know the techniques and methods used by malicious hackers and recognize the tools and software used during hacker activities. They are computer experts who sometimes may violate the law but generally operate within legal bounds and uphold ethical standards.</a:t>
            </a:r>
          </a:p>
        </p:txBody>
      </p:sp>
    </p:spTree>
    <p:extLst>
      <p:ext uri="{BB962C8B-B14F-4D97-AF65-F5344CB8AC3E}">
        <p14:creationId xmlns:p14="http://schemas.microsoft.com/office/powerpoint/2010/main" val="3752601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BD4B29FF-A51C-0397-E7CA-3D9AF03EA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6D56-191C-2C93-2EDA-89AF72D4FE74}"/>
              </a:ext>
            </a:extLst>
          </p:cNvPr>
          <p:cNvSpPr>
            <a:spLocks noGrp="1"/>
          </p:cNvSpPr>
          <p:nvPr>
            <p:ph type="title"/>
          </p:nvPr>
        </p:nvSpPr>
        <p:spPr>
          <a:xfrm>
            <a:off x="685801" y="609600"/>
            <a:ext cx="5219699" cy="1456267"/>
          </a:xfrm>
        </p:spPr>
        <p:txBody>
          <a:bodyPr>
            <a:normAutofit/>
          </a:bodyPr>
          <a:lstStyle/>
          <a:p>
            <a:r>
              <a:rPr lang="en-US" dirty="0"/>
              <a:t>Ethical Hacker</a:t>
            </a:r>
          </a:p>
        </p:txBody>
      </p:sp>
      <p:sp>
        <p:nvSpPr>
          <p:cNvPr id="5" name="Rectangle 2">
            <a:extLst>
              <a:ext uri="{FF2B5EF4-FFF2-40B4-BE49-F238E27FC236}">
                <a16:creationId xmlns:a16="http://schemas.microsoft.com/office/drawing/2014/main" id="{9171A9F2-9D5A-B703-9D2F-D53C56D1B649}"/>
              </a:ext>
            </a:extLst>
          </p:cNvPr>
          <p:cNvSpPr>
            <a:spLocks noGrp="1" noChangeArrowheads="1"/>
          </p:cNvSpPr>
          <p:nvPr>
            <p:ph idx="1"/>
          </p:nvPr>
        </p:nvSpPr>
        <p:spPr bwMode="auto">
          <a:xfrm>
            <a:off x="685801" y="2142067"/>
            <a:ext cx="5219699"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GB" sz="1600" dirty="0"/>
              <a:t>Works legally with permission</a:t>
            </a:r>
          </a:p>
          <a:p>
            <a:r>
              <a:rPr lang="en-GB" sz="1600" dirty="0"/>
              <a:t>Identifies vulnerabilities before attackers do</a:t>
            </a:r>
          </a:p>
          <a:p>
            <a:r>
              <a:rPr lang="en-GB" sz="1600" dirty="0"/>
              <a:t>Follows responsible disclosure</a:t>
            </a:r>
          </a:p>
          <a:p>
            <a:r>
              <a:rPr lang="en-GB" sz="1600" dirty="0"/>
              <a:t>Often certified &amp; trained</a:t>
            </a:r>
          </a:p>
          <a:p>
            <a:pPr marL="0" indent="0">
              <a:buNone/>
            </a:pPr>
            <a:r>
              <a:rPr lang="en-GB" sz="1600" dirty="0"/>
              <a:t>Ethical hacking is part of a structured process aligned with standards like:</a:t>
            </a:r>
          </a:p>
          <a:p>
            <a:r>
              <a:rPr lang="en-GB" sz="1600" dirty="0"/>
              <a:t>OWASP</a:t>
            </a:r>
          </a:p>
          <a:p>
            <a:r>
              <a:rPr lang="en-GB" sz="1600" dirty="0"/>
              <a:t>National Institute of Standards and Technology</a:t>
            </a:r>
          </a:p>
        </p:txBody>
      </p:sp>
    </p:spTree>
    <p:extLst>
      <p:ext uri="{BB962C8B-B14F-4D97-AF65-F5344CB8AC3E}">
        <p14:creationId xmlns:p14="http://schemas.microsoft.com/office/powerpoint/2010/main" val="408092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DDF9A28D-5858-A9DA-687E-8FAB18F6B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36AA8-4190-3EA4-E72C-CDB9C0C8660B}"/>
              </a:ext>
            </a:extLst>
          </p:cNvPr>
          <p:cNvSpPr>
            <a:spLocks noGrp="1"/>
          </p:cNvSpPr>
          <p:nvPr>
            <p:ph type="title"/>
          </p:nvPr>
        </p:nvSpPr>
        <p:spPr>
          <a:xfrm>
            <a:off x="685801" y="609600"/>
            <a:ext cx="5219699" cy="1456267"/>
          </a:xfrm>
        </p:spPr>
        <p:txBody>
          <a:bodyPr>
            <a:normAutofit/>
          </a:bodyPr>
          <a:lstStyle/>
          <a:p>
            <a:r>
              <a:rPr lang="en-US" dirty="0"/>
              <a:t>Security Teams</a:t>
            </a:r>
          </a:p>
        </p:txBody>
      </p:sp>
      <p:sp>
        <p:nvSpPr>
          <p:cNvPr id="5" name="Rectangle 2">
            <a:extLst>
              <a:ext uri="{FF2B5EF4-FFF2-40B4-BE49-F238E27FC236}">
                <a16:creationId xmlns:a16="http://schemas.microsoft.com/office/drawing/2014/main" id="{A2BA62AD-8BD5-75D7-1C8D-703CEAF0B403}"/>
              </a:ext>
            </a:extLst>
          </p:cNvPr>
          <p:cNvSpPr>
            <a:spLocks noGrp="1" noChangeArrowheads="1"/>
          </p:cNvSpPr>
          <p:nvPr>
            <p:ph idx="1"/>
          </p:nvPr>
        </p:nvSpPr>
        <p:spPr bwMode="auto">
          <a:xfrm>
            <a:off x="685801" y="2142067"/>
            <a:ext cx="8921749" cy="44365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70000" lnSpcReduction="20000"/>
          </a:bodyPr>
          <a:lstStyle/>
          <a:p>
            <a:pPr marL="0" indent="0">
              <a:buNone/>
            </a:pPr>
            <a:r>
              <a:rPr lang="en-GB" sz="1600" dirty="0"/>
              <a:t>Cybersecurity is a field with many sub-disciplines. The teams listed below help organizations counter cyber threats and ensure the organization's security. Although each team has different roles and responsibilities, they all serve a common goal: strengthening the organization's cybersecurity posture.</a:t>
            </a:r>
          </a:p>
          <a:p>
            <a:pPr marL="0" indent="0">
              <a:buNone/>
            </a:pPr>
            <a:r>
              <a:rPr lang="en-GB" sz="1600" dirty="0"/>
              <a:t>Red Team</a:t>
            </a:r>
          </a:p>
          <a:p>
            <a:r>
              <a:rPr lang="en-GB" sz="1600" dirty="0"/>
              <a:t>The Red Team is a group that acts from the attacker's perspective to test an organization's cybersecurity. Their aim is to discover potential vulnerabilities and security gaps, exploit these weaknesses, and realistically test the organization's cyber </a:t>
            </a:r>
            <a:r>
              <a:rPr lang="en-GB" sz="1600" dirty="0" err="1"/>
              <a:t>defense</a:t>
            </a:r>
            <a:r>
              <a:rPr lang="en-GB" sz="1600" dirty="0"/>
              <a:t> capabilities. Red Team operations include various methods such as attack scenarios, penetration tests, and social engineering tactics. Their work helps understand how well the organization's </a:t>
            </a:r>
            <a:r>
              <a:rPr lang="en-GB" sz="1600" dirty="0" err="1"/>
              <a:t>defenses</a:t>
            </a:r>
            <a:r>
              <a:rPr lang="en-GB" sz="1600" dirty="0"/>
              <a:t> are prepared for real-world threats.</a:t>
            </a:r>
          </a:p>
          <a:p>
            <a:pPr marL="0" indent="0">
              <a:buNone/>
            </a:pPr>
            <a:r>
              <a:rPr lang="en-GB" sz="1600" dirty="0"/>
              <a:t>Blue Team</a:t>
            </a:r>
          </a:p>
          <a:p>
            <a:r>
              <a:rPr lang="en-GB" sz="1600" dirty="0"/>
              <a:t>The Blue Team is responsible for strengthening and maintaining the organization's cybersecurity </a:t>
            </a:r>
            <a:r>
              <a:rPr lang="en-GB" sz="1600" dirty="0" err="1"/>
              <a:t>defenses</a:t>
            </a:r>
            <a:r>
              <a:rPr lang="en-GB" sz="1600" dirty="0"/>
              <a:t>. This team defends the organization against the Red Team's attack attempts, continuously monitors and improves security measures to prevent and detect security breaches. The Blue Team's duties include monitoring and managing firewalls, intrusion detection systems, and other security solutions, incident response, implementing security policies, and providing security awareness training to employees.</a:t>
            </a:r>
          </a:p>
          <a:p>
            <a:pPr marL="0" indent="0">
              <a:buNone/>
            </a:pPr>
            <a:r>
              <a:rPr lang="en-GB" sz="1600" dirty="0"/>
              <a:t>Purple Team</a:t>
            </a:r>
          </a:p>
          <a:p>
            <a:r>
              <a:rPr lang="en-GB" sz="1600" dirty="0"/>
              <a:t>The Purple Team aims to maximize the organization's cybersecurity capabilities by combining the efforts of the Red and Blue teams. Serving as a bridge between the Red and Blue teams, the Purple Team allows both sides to learn from each other and develop their skills. They guide the Blue Team on how to address vulnerabilities discovered by the Red Team and provide feedback to enhance the effectiveness of </a:t>
            </a:r>
            <a:r>
              <a:rPr lang="en-GB" sz="1600" dirty="0" err="1"/>
              <a:t>defense</a:t>
            </a:r>
            <a:r>
              <a:rPr lang="en-GB" sz="1600" dirty="0"/>
              <a:t> strategies.</a:t>
            </a:r>
          </a:p>
          <a:p>
            <a:pPr marL="0" indent="0">
              <a:buNone/>
            </a:pPr>
            <a:r>
              <a:rPr lang="en-GB" sz="1600" b="1" dirty="0"/>
              <a:t>Bug Bounty</a:t>
            </a:r>
          </a:p>
          <a:p>
            <a:r>
              <a:rPr lang="en-GB" sz="1600" dirty="0"/>
              <a:t>Bug Bounty is a </a:t>
            </a:r>
            <a:r>
              <a:rPr lang="en-GB" sz="1600" dirty="0" err="1"/>
              <a:t>defense</a:t>
            </a:r>
            <a:r>
              <a:rPr lang="en-GB" sz="1600" dirty="0"/>
              <a:t> strategy for companies and a revenue source for cybersecurity researchers that has gained significant popularity in recent years. In bug bounty programs, cybersecurity researchers who discover security vulnerabilities within the specified scope and report these vulnerabilities are rewarded with money. Through these programs, organizations become more resilient to cyber attacks while cybersecurity researchers can earn income.</a:t>
            </a:r>
          </a:p>
        </p:txBody>
      </p:sp>
    </p:spTree>
    <p:extLst>
      <p:ext uri="{BB962C8B-B14F-4D97-AF65-F5344CB8AC3E}">
        <p14:creationId xmlns:p14="http://schemas.microsoft.com/office/powerpoint/2010/main" val="156000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E32A882B-3BD3-11AE-7629-14A10F330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2AAE7-636B-4DBA-C626-524870A25DE7}"/>
              </a:ext>
            </a:extLst>
          </p:cNvPr>
          <p:cNvSpPr>
            <a:spLocks noGrp="1"/>
          </p:cNvSpPr>
          <p:nvPr>
            <p:ph type="title"/>
          </p:nvPr>
        </p:nvSpPr>
        <p:spPr>
          <a:xfrm>
            <a:off x="685801" y="609600"/>
            <a:ext cx="5219699" cy="1456267"/>
          </a:xfrm>
        </p:spPr>
        <p:txBody>
          <a:bodyPr>
            <a:normAutofit/>
          </a:bodyPr>
          <a:lstStyle/>
          <a:p>
            <a:r>
              <a:rPr lang="en-US" dirty="0"/>
              <a:t>Types of Penetration Testing</a:t>
            </a:r>
          </a:p>
        </p:txBody>
      </p:sp>
      <p:sp>
        <p:nvSpPr>
          <p:cNvPr id="5" name="Rectangle 2">
            <a:extLst>
              <a:ext uri="{FF2B5EF4-FFF2-40B4-BE49-F238E27FC236}">
                <a16:creationId xmlns:a16="http://schemas.microsoft.com/office/drawing/2014/main" id="{59AAF865-F62B-31BE-0F40-A4A2061C60FE}"/>
              </a:ext>
            </a:extLst>
          </p:cNvPr>
          <p:cNvSpPr>
            <a:spLocks noGrp="1" noChangeArrowheads="1"/>
          </p:cNvSpPr>
          <p:nvPr>
            <p:ph idx="1"/>
          </p:nvPr>
        </p:nvSpPr>
        <p:spPr bwMode="auto">
          <a:xfrm>
            <a:off x="685801" y="2142067"/>
            <a:ext cx="5219699"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85000" lnSpcReduction="20000"/>
          </a:bodyPr>
          <a:lstStyle/>
          <a:p>
            <a:pPr marL="0" indent="0">
              <a:buNone/>
            </a:pPr>
            <a:r>
              <a:rPr lang="en-GB" sz="1600" dirty="0"/>
              <a:t>Penetration tests can be classified into three main categories based on the level of information provided: White Box, Grey Box, and Black Box.</a:t>
            </a:r>
          </a:p>
          <a:p>
            <a:pPr marL="0" indent="0">
              <a:buNone/>
            </a:pPr>
            <a:r>
              <a:rPr lang="en-GB" sz="1600" dirty="0"/>
              <a:t>White Box</a:t>
            </a:r>
          </a:p>
          <a:p>
            <a:r>
              <a:rPr lang="en-GB" sz="1600" dirty="0"/>
              <a:t>The team conducting the test is given comprehensive information and authority about the system. This approach allows for an in-depth analysis and testing of the system.</a:t>
            </a:r>
          </a:p>
          <a:p>
            <a:pPr marL="0" indent="0">
              <a:buNone/>
            </a:pPr>
            <a:r>
              <a:rPr lang="en-GB" sz="1600" dirty="0"/>
              <a:t>Grey Box</a:t>
            </a:r>
          </a:p>
          <a:p>
            <a:r>
              <a:rPr lang="en-GB" sz="1600" dirty="0"/>
              <a:t>The team performing the test is provided with partial information and authority about the system. This creates a more realistic test scenario and demonstrates how pentesters can progress with partial information.</a:t>
            </a:r>
          </a:p>
          <a:p>
            <a:pPr marL="0" indent="0">
              <a:buNone/>
            </a:pPr>
            <a:r>
              <a:rPr lang="en-GB" sz="1600" dirty="0"/>
              <a:t>Black Box</a:t>
            </a:r>
          </a:p>
          <a:p>
            <a:r>
              <a:rPr lang="en-GB" sz="1600" dirty="0"/>
              <a:t>The test team conducts the test without any prior knowledge about the system. This offers the most realistic scenario from the perspective of an actual attacker.</a:t>
            </a:r>
          </a:p>
        </p:txBody>
      </p:sp>
    </p:spTree>
    <p:extLst>
      <p:ext uri="{BB962C8B-B14F-4D97-AF65-F5344CB8AC3E}">
        <p14:creationId xmlns:p14="http://schemas.microsoft.com/office/powerpoint/2010/main" val="3222122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96B4177-32E3-3535-2DC6-B51E7BC5C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A23865-AFA9-52DD-DC16-E8C202B794BF}"/>
              </a:ext>
            </a:extLst>
          </p:cNvPr>
          <p:cNvSpPr>
            <a:spLocks noGrp="1"/>
          </p:cNvSpPr>
          <p:nvPr>
            <p:ph type="title"/>
          </p:nvPr>
        </p:nvSpPr>
        <p:spPr>
          <a:xfrm>
            <a:off x="685801" y="609600"/>
            <a:ext cx="5219699" cy="1456267"/>
          </a:xfrm>
        </p:spPr>
        <p:txBody>
          <a:bodyPr>
            <a:normAutofit/>
          </a:bodyPr>
          <a:lstStyle/>
          <a:p>
            <a:r>
              <a:rPr lang="en-US" b="1" dirty="0"/>
              <a:t>Penetration Testing Methodologies</a:t>
            </a:r>
          </a:p>
        </p:txBody>
      </p:sp>
      <p:sp>
        <p:nvSpPr>
          <p:cNvPr id="5" name="Rectangle 2">
            <a:extLst>
              <a:ext uri="{FF2B5EF4-FFF2-40B4-BE49-F238E27FC236}">
                <a16:creationId xmlns:a16="http://schemas.microsoft.com/office/drawing/2014/main" id="{1EB12E22-CA93-E0DB-FE12-2969BA013796}"/>
              </a:ext>
            </a:extLst>
          </p:cNvPr>
          <p:cNvSpPr>
            <a:spLocks noGrp="1" noChangeArrowheads="1"/>
          </p:cNvSpPr>
          <p:nvPr>
            <p:ph idx="1"/>
          </p:nvPr>
        </p:nvSpPr>
        <p:spPr bwMode="auto">
          <a:xfrm>
            <a:off x="685801" y="2142067"/>
            <a:ext cx="8959849" cy="423968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85000" lnSpcReduction="20000"/>
          </a:bodyPr>
          <a:lstStyle/>
          <a:p>
            <a:pPr marL="0" indent="0">
              <a:buNone/>
            </a:pPr>
            <a:r>
              <a:rPr lang="en-GB" sz="1600" dirty="0"/>
              <a:t>Penetration testing methodologies are standardized approaches used to systematically identify and assess security vulnerabilities. These methodologies enhance both the effectiveness and efficiency of penetration tests.</a:t>
            </a:r>
          </a:p>
          <a:p>
            <a:pPr marL="0" indent="0">
              <a:buNone/>
            </a:pPr>
            <a:r>
              <a:rPr lang="en-GB" sz="1600" dirty="0"/>
              <a:t>OWASP</a:t>
            </a:r>
          </a:p>
          <a:p>
            <a:r>
              <a:rPr lang="en-GB" sz="1600" dirty="0"/>
              <a:t>The Open Web Application Security Project (OWASP) is a global initiative focused on improving the security of web applications. The OWASP penetration testing methodology provides a framework for identifying, assessing, and mitigating security vulnerabilities in web applications and services. This methodology guides both developers and security experts in ensuring application security.</a:t>
            </a:r>
          </a:p>
          <a:p>
            <a:pPr marL="0" indent="0">
              <a:buNone/>
            </a:pPr>
            <a:r>
              <a:rPr lang="en-GB" sz="1600" dirty="0"/>
              <a:t>OSSTMM</a:t>
            </a:r>
          </a:p>
          <a:p>
            <a:r>
              <a:rPr lang="en-GB" sz="1600" dirty="0"/>
              <a:t>The Open Source Security Testing Methodology Manual (OSSTMM) provides a methodology for information security testing and can be applied to a wide range of areas such as network security, application testing, and physical security audits. OSSTMM offers a detailed methodology that ensures security tests are conducted transparently, objectively, and repeatably. It also provides guidance for measuring security performance and continuously improving the security posture.</a:t>
            </a:r>
          </a:p>
          <a:p>
            <a:pPr marL="0" indent="0">
              <a:buNone/>
            </a:pPr>
            <a:r>
              <a:rPr lang="en-GB" sz="1600" dirty="0"/>
              <a:t>NIST</a:t>
            </a:r>
          </a:p>
          <a:p>
            <a:r>
              <a:rPr lang="en-GB" sz="1600" dirty="0"/>
              <a:t>The National Institute of Standards and Technology (NIST) penetration testing methodology provides standards and best practices, particularly for government agencies and large-scale organizations. NIST's cybersecurity methodology encompasses risk management, the assessment of security vulnerabilities, and post-breach incident management processes. This methodology helps organizations conduct comprehensive security assessments and meet compliance requirements.</a:t>
            </a:r>
          </a:p>
        </p:txBody>
      </p:sp>
    </p:spTree>
    <p:extLst>
      <p:ext uri="{BB962C8B-B14F-4D97-AF65-F5344CB8AC3E}">
        <p14:creationId xmlns:p14="http://schemas.microsoft.com/office/powerpoint/2010/main" val="825365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0416697-2586-E2A0-051D-5610221E5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ACEE8-F498-740E-68D2-F255463817EF}"/>
              </a:ext>
            </a:extLst>
          </p:cNvPr>
          <p:cNvSpPr>
            <a:spLocks noGrp="1"/>
          </p:cNvSpPr>
          <p:nvPr>
            <p:ph type="title"/>
          </p:nvPr>
        </p:nvSpPr>
        <p:spPr>
          <a:xfrm>
            <a:off x="685802" y="609600"/>
            <a:ext cx="6282266" cy="1456267"/>
          </a:xfrm>
        </p:spPr>
        <p:txBody>
          <a:bodyPr>
            <a:normAutofit/>
          </a:bodyPr>
          <a:lstStyle/>
          <a:p>
            <a:r>
              <a:rPr lang="en-US" dirty="0"/>
              <a:t>Basic Networking Concepts</a:t>
            </a:r>
            <a:endParaRPr lang="en-US" b="1" dirty="0"/>
          </a:p>
        </p:txBody>
      </p:sp>
      <p:sp>
        <p:nvSpPr>
          <p:cNvPr id="5" name="Rectangle 2">
            <a:extLst>
              <a:ext uri="{FF2B5EF4-FFF2-40B4-BE49-F238E27FC236}">
                <a16:creationId xmlns:a16="http://schemas.microsoft.com/office/drawing/2014/main" id="{1ED3FDC6-2927-9A62-AA83-6B81D715E0FF}"/>
              </a:ext>
            </a:extLst>
          </p:cNvPr>
          <p:cNvSpPr>
            <a:spLocks noGrp="1" noChangeArrowheads="1"/>
          </p:cNvSpPr>
          <p:nvPr>
            <p:ph idx="1"/>
          </p:nvPr>
        </p:nvSpPr>
        <p:spPr bwMode="auto">
          <a:xfrm>
            <a:off x="685802" y="2142067"/>
            <a:ext cx="6282266"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GB"/>
              <a:t>Physical Ports</a:t>
            </a:r>
          </a:p>
          <a:p>
            <a:r>
              <a:rPr lang="en-GB"/>
              <a:t>Physical ports are hardware-based connection points found on computers. Examples include USB, Ethernet, HDMI, and DisplayPort, which are used to connect various devices to the computer and facilitate data transfer.</a:t>
            </a:r>
          </a:p>
          <a:p>
            <a:pPr marL="0" indent="0">
              <a:buNone/>
            </a:pPr>
            <a:r>
              <a:rPr lang="en-GB"/>
              <a:t>Virtual Ports</a:t>
            </a:r>
          </a:p>
          <a:p>
            <a:r>
              <a:rPr lang="en-GB"/>
              <a:t>Virtual ports are numbered between 0 and 65535 and are used for communication over a network. Each port number is associated with specific services or protocols, and all data transfer over the internet occurs through these virtual ports.</a:t>
            </a:r>
          </a:p>
        </p:txBody>
      </p:sp>
      <p:pic>
        <p:nvPicPr>
          <p:cNvPr id="4099" name="Picture 3" descr="Understanding 20 common network ports for IT pros | Banu Prakash Naidu E  posted on the topic | LinkedIn">
            <a:extLst>
              <a:ext uri="{FF2B5EF4-FFF2-40B4-BE49-F238E27FC236}">
                <a16:creationId xmlns:a16="http://schemas.microsoft.com/office/drawing/2014/main" id="{17D80798-87AA-8B5C-279C-C73D10CDB2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9100"/>
          <a:stretch>
            <a:fillRect/>
          </a:stretch>
        </p:blipFill>
        <p:spPr bwMode="auto">
          <a:xfrm>
            <a:off x="7590936" y="990600"/>
            <a:ext cx="3445714" cy="4692227"/>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4503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B7AC5EF-756B-A137-F48A-8AA70139B9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6C64C-10F3-1596-A2BB-33D1C20F4291}"/>
              </a:ext>
            </a:extLst>
          </p:cNvPr>
          <p:cNvSpPr>
            <a:spLocks noGrp="1"/>
          </p:cNvSpPr>
          <p:nvPr>
            <p:ph type="title"/>
          </p:nvPr>
        </p:nvSpPr>
        <p:spPr>
          <a:xfrm>
            <a:off x="685802" y="609600"/>
            <a:ext cx="6282266" cy="1456267"/>
          </a:xfrm>
        </p:spPr>
        <p:txBody>
          <a:bodyPr>
            <a:normAutofit/>
          </a:bodyPr>
          <a:lstStyle/>
          <a:p>
            <a:r>
              <a:rPr lang="en-US" b="1" dirty="0"/>
              <a:t>Vulnerability</a:t>
            </a:r>
          </a:p>
        </p:txBody>
      </p:sp>
      <p:sp>
        <p:nvSpPr>
          <p:cNvPr id="5" name="Rectangle 2">
            <a:extLst>
              <a:ext uri="{FF2B5EF4-FFF2-40B4-BE49-F238E27FC236}">
                <a16:creationId xmlns:a16="http://schemas.microsoft.com/office/drawing/2014/main" id="{D2ADD993-04AB-279D-E836-6DE929CCD003}"/>
              </a:ext>
            </a:extLst>
          </p:cNvPr>
          <p:cNvSpPr>
            <a:spLocks noGrp="1" noChangeArrowheads="1"/>
          </p:cNvSpPr>
          <p:nvPr>
            <p:ph idx="1"/>
          </p:nvPr>
        </p:nvSpPr>
        <p:spPr bwMode="auto">
          <a:xfrm>
            <a:off x="685802" y="2142067"/>
            <a:ext cx="6282266"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L="0" indent="0">
              <a:buNone/>
            </a:pPr>
            <a:r>
              <a:rPr lang="en-GB" dirty="0"/>
              <a:t>A vulnerability refers to security weaknesses in computer systems. These weaknesses can be exploited by attackers to gain unauthorized access, steal data, or use the system for malicious purposes.</a:t>
            </a:r>
          </a:p>
          <a:p>
            <a:r>
              <a:rPr lang="en-GB" b="1" dirty="0"/>
              <a:t>OWASP TOP 10:</a:t>
            </a:r>
            <a:r>
              <a:rPr lang="en-GB" dirty="0"/>
              <a:t> A list ranking the most critical security vulnerabilities in web applications.</a:t>
            </a:r>
          </a:p>
          <a:p>
            <a:r>
              <a:rPr lang="en-GB" b="1" dirty="0"/>
              <a:t>CVE (Common Vulnerabilities and Exposures):</a:t>
            </a:r>
            <a:r>
              <a:rPr lang="en-GB" dirty="0"/>
              <a:t> A public directory that identifies known security vulnerabilities and exposures.</a:t>
            </a:r>
          </a:p>
          <a:p>
            <a:r>
              <a:rPr lang="en-GB" b="1" dirty="0"/>
              <a:t>CVSS (Common Vulnerability Scoring System):</a:t>
            </a:r>
            <a:r>
              <a:rPr lang="en-GB" dirty="0"/>
              <a:t> A scoring system used to measure the severity of security vulnerabilities.</a:t>
            </a:r>
          </a:p>
          <a:p>
            <a:endParaRPr lang="en-GB" dirty="0"/>
          </a:p>
        </p:txBody>
      </p:sp>
    </p:spTree>
    <p:extLst>
      <p:ext uri="{BB962C8B-B14F-4D97-AF65-F5344CB8AC3E}">
        <p14:creationId xmlns:p14="http://schemas.microsoft.com/office/powerpoint/2010/main" val="1984784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15304CE2-556C-5C18-F41A-9C404F94D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CE45F-F139-173D-2783-DF8AA6CE03C4}"/>
              </a:ext>
            </a:extLst>
          </p:cNvPr>
          <p:cNvSpPr>
            <a:spLocks noGrp="1"/>
          </p:cNvSpPr>
          <p:nvPr>
            <p:ph type="title"/>
          </p:nvPr>
        </p:nvSpPr>
        <p:spPr>
          <a:xfrm>
            <a:off x="685802" y="609600"/>
            <a:ext cx="6282266" cy="1456267"/>
          </a:xfrm>
        </p:spPr>
        <p:txBody>
          <a:bodyPr>
            <a:normAutofit/>
          </a:bodyPr>
          <a:lstStyle/>
          <a:p>
            <a:r>
              <a:rPr lang="en-US" b="1" dirty="0"/>
              <a:t>Exploit</a:t>
            </a:r>
          </a:p>
        </p:txBody>
      </p:sp>
      <p:sp>
        <p:nvSpPr>
          <p:cNvPr id="5" name="Rectangle 2">
            <a:extLst>
              <a:ext uri="{FF2B5EF4-FFF2-40B4-BE49-F238E27FC236}">
                <a16:creationId xmlns:a16="http://schemas.microsoft.com/office/drawing/2014/main" id="{6B04CCD0-84C2-968D-DDF0-B814832DA9BE}"/>
              </a:ext>
            </a:extLst>
          </p:cNvPr>
          <p:cNvSpPr>
            <a:spLocks noGrp="1" noChangeArrowheads="1"/>
          </p:cNvSpPr>
          <p:nvPr>
            <p:ph idx="1"/>
          </p:nvPr>
        </p:nvSpPr>
        <p:spPr bwMode="auto">
          <a:xfrm>
            <a:off x="685802" y="2142067"/>
            <a:ext cx="6282266"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GB" dirty="0"/>
              <a:t>An exploit is the code or technique that enables the malicious use of a vulnerability. This allows attackers to gain unauthorized access or control over systems.</a:t>
            </a:r>
          </a:p>
          <a:p>
            <a:r>
              <a:rPr lang="en-GB" b="1" dirty="0"/>
              <a:t>PoC (Proof of Concept):</a:t>
            </a:r>
            <a:r>
              <a:rPr lang="en-GB" dirty="0"/>
              <a:t> Demo content demonstrating the exploitability of a vulnerability.</a:t>
            </a:r>
          </a:p>
          <a:p>
            <a:r>
              <a:rPr lang="en-GB" b="1" dirty="0"/>
              <a:t>Zero Day:</a:t>
            </a:r>
            <a:r>
              <a:rPr lang="en-GB" dirty="0"/>
              <a:t> Security vulnerabilities that are not yet patched and are generally unknown to the public.</a:t>
            </a:r>
          </a:p>
        </p:txBody>
      </p:sp>
    </p:spTree>
    <p:extLst>
      <p:ext uri="{BB962C8B-B14F-4D97-AF65-F5344CB8AC3E}">
        <p14:creationId xmlns:p14="http://schemas.microsoft.com/office/powerpoint/2010/main" val="2276743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5D97E010-4B6D-A43F-82D9-11C9CACF1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051F4-8979-F492-6B7A-5D45748EBB86}"/>
              </a:ext>
            </a:extLst>
          </p:cNvPr>
          <p:cNvSpPr>
            <a:spLocks noGrp="1"/>
          </p:cNvSpPr>
          <p:nvPr>
            <p:ph type="title"/>
          </p:nvPr>
        </p:nvSpPr>
        <p:spPr>
          <a:xfrm>
            <a:off x="685802" y="609600"/>
            <a:ext cx="6282266" cy="1456267"/>
          </a:xfrm>
        </p:spPr>
        <p:txBody>
          <a:bodyPr>
            <a:normAutofit/>
          </a:bodyPr>
          <a:lstStyle/>
          <a:p>
            <a:r>
              <a:rPr lang="en-GB" b="1" dirty="0"/>
              <a:t>Client and Server Model</a:t>
            </a:r>
          </a:p>
        </p:txBody>
      </p:sp>
      <p:sp>
        <p:nvSpPr>
          <p:cNvPr id="5" name="Rectangle 2">
            <a:extLst>
              <a:ext uri="{FF2B5EF4-FFF2-40B4-BE49-F238E27FC236}">
                <a16:creationId xmlns:a16="http://schemas.microsoft.com/office/drawing/2014/main" id="{3D4E4C17-7B48-38F4-3ED3-8768E1102B31}"/>
              </a:ext>
            </a:extLst>
          </p:cNvPr>
          <p:cNvSpPr>
            <a:spLocks noGrp="1" noChangeArrowheads="1"/>
          </p:cNvSpPr>
          <p:nvPr>
            <p:ph idx="1"/>
          </p:nvPr>
        </p:nvSpPr>
        <p:spPr bwMode="auto">
          <a:xfrm>
            <a:off x="685802" y="2142067"/>
            <a:ext cx="6282266"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GB" b="1" dirty="0"/>
              <a:t>Client and Server Model</a:t>
            </a:r>
          </a:p>
          <a:p>
            <a:r>
              <a:rPr lang="en-GB" dirty="0"/>
              <a:t>In the internet world, the terms </a:t>
            </a:r>
            <a:r>
              <a:rPr lang="en-GB" b="1" dirty="0"/>
              <a:t>client</a:t>
            </a:r>
            <a:r>
              <a:rPr lang="en-GB" dirty="0"/>
              <a:t> and </a:t>
            </a:r>
            <a:r>
              <a:rPr lang="en-GB" b="1" dirty="0"/>
              <a:t>server</a:t>
            </a:r>
            <a:r>
              <a:rPr lang="en-GB" dirty="0"/>
              <a:t> are frequently encountered. These two terms define the client-server model, a fundamental principle of the internet. In this model, a client requests information or service from a server (the computer that hosts websites). The server processes this request and sends the necessary response back to the client. This interaction forms the foundation of the web.</a:t>
            </a:r>
          </a:p>
        </p:txBody>
      </p:sp>
      <p:pic>
        <p:nvPicPr>
          <p:cNvPr id="7" name="Picture 6">
            <a:extLst>
              <a:ext uri="{FF2B5EF4-FFF2-40B4-BE49-F238E27FC236}">
                <a16:creationId xmlns:a16="http://schemas.microsoft.com/office/drawing/2014/main" id="{1568B80C-4434-7D3A-C98B-752D535563D5}"/>
              </a:ext>
            </a:extLst>
          </p:cNvPr>
          <p:cNvPicPr>
            <a:picLocks noChangeAspect="1"/>
          </p:cNvPicPr>
          <p:nvPr/>
        </p:nvPicPr>
        <p:blipFill>
          <a:blip r:embed="rId3"/>
          <a:stretch>
            <a:fillRect/>
          </a:stretch>
        </p:blipFill>
        <p:spPr>
          <a:xfrm>
            <a:off x="7590936" y="2430407"/>
            <a:ext cx="3445714" cy="1920985"/>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45514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232087D2-0E49-951A-2F73-A8027B45A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A5974-C6DB-F47A-59B6-1BB4E72CC8BC}"/>
              </a:ext>
            </a:extLst>
          </p:cNvPr>
          <p:cNvSpPr>
            <a:spLocks noGrp="1"/>
          </p:cNvSpPr>
          <p:nvPr>
            <p:ph type="title"/>
          </p:nvPr>
        </p:nvSpPr>
        <p:spPr>
          <a:xfrm>
            <a:off x="685802" y="609600"/>
            <a:ext cx="6282266" cy="1456267"/>
          </a:xfrm>
        </p:spPr>
        <p:txBody>
          <a:bodyPr>
            <a:normAutofit/>
          </a:bodyPr>
          <a:lstStyle/>
          <a:p>
            <a:r>
              <a:rPr lang="en-US" b="1" dirty="0"/>
              <a:t>HTTP Requests</a:t>
            </a:r>
          </a:p>
        </p:txBody>
      </p:sp>
      <p:sp>
        <p:nvSpPr>
          <p:cNvPr id="5" name="Rectangle 2">
            <a:extLst>
              <a:ext uri="{FF2B5EF4-FFF2-40B4-BE49-F238E27FC236}">
                <a16:creationId xmlns:a16="http://schemas.microsoft.com/office/drawing/2014/main" id="{458DA294-DD4E-9CE5-E62A-1A27265BC1CD}"/>
              </a:ext>
            </a:extLst>
          </p:cNvPr>
          <p:cNvSpPr>
            <a:spLocks noGrp="1" noChangeArrowheads="1"/>
          </p:cNvSpPr>
          <p:nvPr>
            <p:ph idx="1"/>
          </p:nvPr>
        </p:nvSpPr>
        <p:spPr bwMode="auto">
          <a:xfrm>
            <a:off x="685802" y="2142067"/>
            <a:ext cx="6282266"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US" sz="1200" dirty="0"/>
              <a:t>HTTP requests are composed of four main components:</a:t>
            </a:r>
          </a:p>
          <a:p>
            <a:r>
              <a:rPr lang="en-US" sz="1200" dirty="0"/>
              <a:t>URL</a:t>
            </a:r>
          </a:p>
          <a:p>
            <a:r>
              <a:rPr lang="en-US" sz="1200" dirty="0"/>
              <a:t>Method</a:t>
            </a:r>
          </a:p>
          <a:p>
            <a:r>
              <a:rPr lang="en-US" sz="1200" dirty="0"/>
              <a:t>Headers</a:t>
            </a:r>
          </a:p>
          <a:p>
            <a:r>
              <a:rPr lang="en-US" sz="1200" dirty="0"/>
              <a:t>Request Body (optional)</a:t>
            </a:r>
          </a:p>
          <a:p>
            <a:r>
              <a:rPr lang="en-US" sz="1200" dirty="0"/>
              <a:t>Below is an example of an HTTP header:</a:t>
            </a:r>
          </a:p>
          <a:p>
            <a:pPr marL="0" indent="0">
              <a:buNone/>
            </a:pPr>
            <a:r>
              <a:rPr lang="en-US" sz="1200" dirty="0"/>
              <a:t>GET /index.html HTTP/1.1</a:t>
            </a:r>
          </a:p>
          <a:p>
            <a:pPr marL="0" indent="0">
              <a:buNone/>
            </a:pPr>
            <a:r>
              <a:rPr lang="en-US" sz="1200" dirty="0"/>
              <a:t>Host: www.example.com</a:t>
            </a:r>
          </a:p>
          <a:p>
            <a:pPr marL="0" indent="0">
              <a:buNone/>
            </a:pPr>
            <a:r>
              <a:rPr lang="en-US" sz="1200" dirty="0"/>
              <a:t>Cookie: SESSIONID=badb655ebd99ed6c8e58c0a1aab44eb9</a:t>
            </a:r>
          </a:p>
          <a:p>
            <a:pPr marL="0" indent="0">
              <a:buNone/>
            </a:pPr>
            <a:r>
              <a:rPr lang="en-US" sz="1200" dirty="0"/>
              <a:t>GET /index.html HTTP/1.1</a:t>
            </a:r>
          </a:p>
          <a:p>
            <a:pPr marL="0" indent="0">
              <a:buNone/>
            </a:pPr>
            <a:endParaRPr lang="en-US" dirty="0"/>
          </a:p>
        </p:txBody>
      </p:sp>
    </p:spTree>
    <p:extLst>
      <p:ext uri="{BB962C8B-B14F-4D97-AF65-F5344CB8AC3E}">
        <p14:creationId xmlns:p14="http://schemas.microsoft.com/office/powerpoint/2010/main" val="334826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9D75D48C-5D2A-B5BB-B38F-2C1752AA88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2B4DEF-1EEE-D508-6018-B90F07AAF407}"/>
              </a:ext>
            </a:extLst>
          </p:cNvPr>
          <p:cNvSpPr>
            <a:spLocks noGrp="1"/>
          </p:cNvSpPr>
          <p:nvPr>
            <p:ph type="title"/>
          </p:nvPr>
        </p:nvSpPr>
        <p:spPr>
          <a:xfrm>
            <a:off x="685802" y="609600"/>
            <a:ext cx="6282266" cy="1456267"/>
          </a:xfrm>
        </p:spPr>
        <p:txBody>
          <a:bodyPr>
            <a:normAutofit/>
          </a:bodyPr>
          <a:lstStyle/>
          <a:p>
            <a:r>
              <a:rPr lang="en-US" dirty="0"/>
              <a:t>HTTP Request Methods</a:t>
            </a:r>
            <a:endParaRPr lang="en-US" b="1" dirty="0"/>
          </a:p>
        </p:txBody>
      </p:sp>
      <p:pic>
        <p:nvPicPr>
          <p:cNvPr id="7170" name="Picture 2">
            <a:extLst>
              <a:ext uri="{FF2B5EF4-FFF2-40B4-BE49-F238E27FC236}">
                <a16:creationId xmlns:a16="http://schemas.microsoft.com/office/drawing/2014/main" id="{2AA75707-241D-DC4F-620B-424E9B84AA1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891452" y="2065867"/>
            <a:ext cx="7591213" cy="4270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591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17F94B28-9263-6FDB-0146-6D856625F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7646B-C142-F02F-299B-478E82D57310}"/>
              </a:ext>
            </a:extLst>
          </p:cNvPr>
          <p:cNvSpPr>
            <a:spLocks noGrp="1"/>
          </p:cNvSpPr>
          <p:nvPr>
            <p:ph type="title"/>
          </p:nvPr>
        </p:nvSpPr>
        <p:spPr>
          <a:xfrm>
            <a:off x="685802" y="609600"/>
            <a:ext cx="6282266" cy="1456267"/>
          </a:xfrm>
        </p:spPr>
        <p:txBody>
          <a:bodyPr>
            <a:normAutofit/>
          </a:bodyPr>
          <a:lstStyle/>
          <a:p>
            <a:r>
              <a:rPr lang="en-GB" dirty="0"/>
              <a:t>HTTP Request Headers</a:t>
            </a:r>
          </a:p>
        </p:txBody>
      </p:sp>
      <p:sp>
        <p:nvSpPr>
          <p:cNvPr id="5" name="Rectangle 2">
            <a:extLst>
              <a:ext uri="{FF2B5EF4-FFF2-40B4-BE49-F238E27FC236}">
                <a16:creationId xmlns:a16="http://schemas.microsoft.com/office/drawing/2014/main" id="{69469275-F9B7-91BF-7C06-F8E9388D853B}"/>
              </a:ext>
            </a:extLst>
          </p:cNvPr>
          <p:cNvSpPr>
            <a:spLocks noGrp="1" noChangeArrowheads="1"/>
          </p:cNvSpPr>
          <p:nvPr>
            <p:ph idx="1"/>
          </p:nvPr>
        </p:nvSpPr>
        <p:spPr bwMode="auto">
          <a:xfrm>
            <a:off x="685802" y="2142067"/>
            <a:ext cx="7296148" cy="41063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GB" sz="1200" dirty="0"/>
              <a:t>HTTP request headers contain additional information sent to the server as part of an HTTP request. These headers provide context and additional instructions on how the request should be processed, the client’s preferences, the type of content being sent, and more. They make the communication between the client and server more effective and meaningful.</a:t>
            </a:r>
          </a:p>
          <a:p>
            <a:pPr marL="0" indent="0">
              <a:buNone/>
            </a:pPr>
            <a:r>
              <a:rPr lang="en-GB" sz="1200" dirty="0"/>
              <a:t>An example of an HTTP header:</a:t>
            </a:r>
          </a:p>
          <a:p>
            <a:pPr marL="0" indent="0">
              <a:buNone/>
            </a:pPr>
            <a:r>
              <a:rPr lang="en-GB" sz="1200" dirty="0"/>
              <a:t>GET /api/info HTTP/1.1</a:t>
            </a:r>
          </a:p>
          <a:p>
            <a:pPr marL="0" indent="0">
              <a:buNone/>
            </a:pPr>
            <a:r>
              <a:rPr lang="en-GB" sz="1200" dirty="0"/>
              <a:t>Host: example.com</a:t>
            </a:r>
          </a:p>
          <a:p>
            <a:pPr marL="0" indent="0">
              <a:buNone/>
            </a:pPr>
            <a:r>
              <a:rPr lang="en-GB" sz="1200" dirty="0"/>
              <a:t>User-Agent: Mozilla/5.0 (Windows NT 10.0; Win64; x64) </a:t>
            </a:r>
            <a:r>
              <a:rPr lang="en-GB" sz="1200" dirty="0" err="1"/>
              <a:t>AppleWebKit</a:t>
            </a:r>
            <a:r>
              <a:rPr lang="en-GB" sz="1200" dirty="0"/>
              <a:t>/537.36 (KHTML, like Gecko) Chrome/89.0.4389.82 Safari/537.36</a:t>
            </a:r>
          </a:p>
          <a:p>
            <a:pPr marL="0" indent="0">
              <a:buNone/>
            </a:pPr>
            <a:r>
              <a:rPr lang="en-GB" sz="1200" dirty="0"/>
              <a:t>Accept: application/</a:t>
            </a:r>
            <a:r>
              <a:rPr lang="en-GB" sz="1200" dirty="0" err="1"/>
              <a:t>json</a:t>
            </a:r>
            <a:endParaRPr lang="en-GB" sz="1200" dirty="0"/>
          </a:p>
          <a:p>
            <a:pPr marL="0" indent="0">
              <a:buNone/>
            </a:pPr>
            <a:r>
              <a:rPr lang="en-GB" sz="1200" dirty="0"/>
              <a:t>Accept-Language: </a:t>
            </a:r>
            <a:r>
              <a:rPr lang="en-GB" sz="1200" dirty="0" err="1"/>
              <a:t>en-US,en;q</a:t>
            </a:r>
            <a:r>
              <a:rPr lang="en-GB" sz="1200" dirty="0"/>
              <a:t>=0.5</a:t>
            </a:r>
          </a:p>
          <a:p>
            <a:pPr marL="0" indent="0">
              <a:buNone/>
            </a:pPr>
            <a:r>
              <a:rPr lang="en-GB" sz="1200" dirty="0"/>
              <a:t>Authorization: Token secret123</a:t>
            </a:r>
          </a:p>
          <a:p>
            <a:pPr marL="0" indent="0">
              <a:buNone/>
            </a:pPr>
            <a:r>
              <a:rPr lang="en-GB" sz="1200" dirty="0"/>
              <a:t>Cache-Control: no-cache</a:t>
            </a:r>
          </a:p>
          <a:p>
            <a:pPr marL="0" indent="0">
              <a:buNone/>
            </a:pPr>
            <a:r>
              <a:rPr lang="en-GB" sz="1200" dirty="0"/>
              <a:t>Connection: keep-alive</a:t>
            </a:r>
          </a:p>
          <a:p>
            <a:pPr marL="0" indent="0">
              <a:buNone/>
            </a:pPr>
            <a:r>
              <a:rPr lang="en-GB" sz="1200" dirty="0"/>
              <a:t>Referer: https://www.google.com/</a:t>
            </a:r>
          </a:p>
        </p:txBody>
      </p:sp>
    </p:spTree>
    <p:extLst>
      <p:ext uri="{BB962C8B-B14F-4D97-AF65-F5344CB8AC3E}">
        <p14:creationId xmlns:p14="http://schemas.microsoft.com/office/powerpoint/2010/main" val="1140809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9E7AFC6A-346C-006A-CB3A-AEC207CDC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39EFD-0170-F71A-34DA-C70CB36D9960}"/>
              </a:ext>
            </a:extLst>
          </p:cNvPr>
          <p:cNvSpPr>
            <a:spLocks noGrp="1"/>
          </p:cNvSpPr>
          <p:nvPr>
            <p:ph type="title"/>
          </p:nvPr>
        </p:nvSpPr>
        <p:spPr>
          <a:xfrm>
            <a:off x="685802" y="609600"/>
            <a:ext cx="6282266" cy="1456267"/>
          </a:xfrm>
        </p:spPr>
        <p:txBody>
          <a:bodyPr>
            <a:normAutofit/>
          </a:bodyPr>
          <a:lstStyle/>
          <a:p>
            <a:r>
              <a:rPr lang="en-GB" dirty="0"/>
              <a:t>Modern Web</a:t>
            </a:r>
          </a:p>
        </p:txBody>
      </p:sp>
      <p:sp>
        <p:nvSpPr>
          <p:cNvPr id="5" name="Rectangle 2">
            <a:extLst>
              <a:ext uri="{FF2B5EF4-FFF2-40B4-BE49-F238E27FC236}">
                <a16:creationId xmlns:a16="http://schemas.microsoft.com/office/drawing/2014/main" id="{6AD86CD1-E003-BCC9-7D71-78E5E1C8DC87}"/>
              </a:ext>
            </a:extLst>
          </p:cNvPr>
          <p:cNvSpPr>
            <a:spLocks noGrp="1" noChangeArrowheads="1"/>
          </p:cNvSpPr>
          <p:nvPr>
            <p:ph idx="1"/>
          </p:nvPr>
        </p:nvSpPr>
        <p:spPr bwMode="auto">
          <a:xfrm>
            <a:off x="685802" y="2142067"/>
            <a:ext cx="6905134"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20000"/>
          </a:bodyPr>
          <a:lstStyle/>
          <a:p>
            <a:pPr marL="0" indent="0">
              <a:lnSpc>
                <a:spcPct val="90000"/>
              </a:lnSpc>
              <a:buNone/>
            </a:pPr>
            <a:r>
              <a:rPr lang="en-US" sz="1200" b="1" dirty="0"/>
              <a:t>Generating Dynamic Content</a:t>
            </a:r>
          </a:p>
          <a:p>
            <a:pPr>
              <a:lnSpc>
                <a:spcPct val="90000"/>
              </a:lnSpc>
            </a:pPr>
            <a:r>
              <a:rPr lang="en-US" sz="1200" dirty="0"/>
              <a:t>Modern websites often contain dynamic content, meaning the content can change based on user actions or data in a database. This dynamic content is generated using server-side programming languages (PHP, Python, Go, JavaScript/Node.js, etc.). When a user makes a request, server-side code executes, fetches or processes necessary data from a database, and produces a dynamic web page as a result.</a:t>
            </a:r>
          </a:p>
          <a:p>
            <a:pPr marL="0" indent="0">
              <a:lnSpc>
                <a:spcPct val="90000"/>
              </a:lnSpc>
              <a:buNone/>
            </a:pPr>
            <a:r>
              <a:rPr lang="en-GB" sz="1200" b="1" dirty="0"/>
              <a:t>HTTPS</a:t>
            </a:r>
          </a:p>
          <a:p>
            <a:pPr>
              <a:lnSpc>
                <a:spcPct val="90000"/>
              </a:lnSpc>
            </a:pPr>
            <a:r>
              <a:rPr lang="en-GB" sz="1200" dirty="0"/>
              <a:t>HTTPS (Hypertext Transfer Protocol Secure) is a protocol that ensures secure information exchange over the internet. It was first introduced by Netscape Communications in 1994 alongside the SSL protocol. Initially, it was used primarily to enhance security for online transactions. Over time, with the increasing importance of data security, HTTPS usage expanded and is now used by the majority of websites.</a:t>
            </a:r>
          </a:p>
          <a:p>
            <a:pPr>
              <a:lnSpc>
                <a:spcPct val="90000"/>
              </a:lnSpc>
            </a:pPr>
            <a:r>
              <a:rPr lang="en-GB" sz="1200" dirty="0"/>
              <a:t>Essentially, HTTPS is the HTTP protocol strengthened by TLS (Transport Layer Security) or SSL (Secure Sockets Layer) protocols. HTTPS encrypts data transmission between users and servers, preventing third parties from accessing or altering the data.</a:t>
            </a:r>
          </a:p>
          <a:p>
            <a:pPr>
              <a:lnSpc>
                <a:spcPct val="90000"/>
              </a:lnSpc>
            </a:pPr>
            <a:r>
              <a:rPr lang="en-GB" sz="1200" b="1" dirty="0"/>
              <a:t>SSL (Secure Sockets Layer)</a:t>
            </a:r>
            <a:r>
              <a:rPr lang="en-GB" sz="1200" dirty="0"/>
              <a:t>: A protocol that ensures secure data communication over the internet by encrypting the data.</a:t>
            </a:r>
          </a:p>
          <a:p>
            <a:pPr>
              <a:lnSpc>
                <a:spcPct val="90000"/>
              </a:lnSpc>
            </a:pPr>
            <a:r>
              <a:rPr lang="en-GB" sz="1200" b="1" dirty="0"/>
              <a:t>TLS (Transport Layer Security)</a:t>
            </a:r>
            <a:r>
              <a:rPr lang="en-GB" sz="1200" dirty="0"/>
              <a:t>: An enhanced version of SSL, offering stronger encryption techniques and security protocols for secure internet communication.</a:t>
            </a:r>
          </a:p>
          <a:p>
            <a:pPr marL="0" indent="0">
              <a:lnSpc>
                <a:spcPct val="90000"/>
              </a:lnSpc>
              <a:buNone/>
            </a:pPr>
            <a:r>
              <a:rPr lang="en-GB" sz="1200" b="1" dirty="0"/>
              <a:t>HTTPS Functionality</a:t>
            </a:r>
          </a:p>
          <a:p>
            <a:pPr>
              <a:lnSpc>
                <a:spcPct val="90000"/>
              </a:lnSpc>
            </a:pPr>
            <a:r>
              <a:rPr lang="en-GB" sz="1200" dirty="0"/>
              <a:t>HTTPS works by adding an encryption layer between the client and the server. When a user visits a website secured with HTTPS, a "handshake" process occurs between the browser and the server. During this process:</a:t>
            </a:r>
          </a:p>
          <a:p>
            <a:pPr>
              <a:lnSpc>
                <a:spcPct val="90000"/>
              </a:lnSpc>
            </a:pPr>
            <a:r>
              <a:rPr lang="en-GB" sz="1200" b="1" dirty="0"/>
              <a:t>Server Authentication</a:t>
            </a:r>
            <a:r>
              <a:rPr lang="en-GB" sz="1200" dirty="0"/>
              <a:t>: The server presents a security certificate containing a public key. The browser verifies that the certificate is issued by a trusted authority.</a:t>
            </a:r>
          </a:p>
          <a:p>
            <a:pPr>
              <a:lnSpc>
                <a:spcPct val="90000"/>
              </a:lnSpc>
            </a:pPr>
            <a:r>
              <a:rPr lang="en-GB" sz="1200" b="1" dirty="0"/>
              <a:t>Session Key Creation</a:t>
            </a:r>
            <a:r>
              <a:rPr lang="en-GB" sz="1200" dirty="0"/>
              <a:t>: The browser and server use a secure method to generate a temporary session key for the communication.</a:t>
            </a:r>
          </a:p>
          <a:p>
            <a:pPr>
              <a:lnSpc>
                <a:spcPct val="90000"/>
              </a:lnSpc>
            </a:pPr>
            <a:r>
              <a:rPr lang="en-GB" sz="1200" b="1" dirty="0"/>
              <a:t>Data Encryption</a:t>
            </a:r>
            <a:r>
              <a:rPr lang="en-GB" sz="1200" dirty="0"/>
              <a:t>: The session key is used to encrypt the data transmission, ensuring secure data transfer.</a:t>
            </a:r>
          </a:p>
          <a:p>
            <a:pPr>
              <a:lnSpc>
                <a:spcPct val="90000"/>
              </a:lnSpc>
            </a:pPr>
            <a:endParaRPr lang="en-US" sz="700" dirty="0"/>
          </a:p>
        </p:txBody>
      </p:sp>
      <p:pic>
        <p:nvPicPr>
          <p:cNvPr id="8194" name="Picture 2">
            <a:extLst>
              <a:ext uri="{FF2B5EF4-FFF2-40B4-BE49-F238E27FC236}">
                <a16:creationId xmlns:a16="http://schemas.microsoft.com/office/drawing/2014/main" id="{6B5DD6BB-2CDA-B56E-F9E6-275E430677A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90936" y="2253814"/>
            <a:ext cx="4343676" cy="2866826"/>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5771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CB20D955-F075-1151-AF76-A38B5660C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43F33-206C-70C0-CF1F-A9B5D3EA9115}"/>
              </a:ext>
            </a:extLst>
          </p:cNvPr>
          <p:cNvSpPr>
            <a:spLocks noGrp="1"/>
          </p:cNvSpPr>
          <p:nvPr>
            <p:ph type="title"/>
          </p:nvPr>
        </p:nvSpPr>
        <p:spPr>
          <a:xfrm>
            <a:off x="685802" y="609600"/>
            <a:ext cx="6282266" cy="1456267"/>
          </a:xfrm>
        </p:spPr>
        <p:txBody>
          <a:bodyPr>
            <a:normAutofit/>
          </a:bodyPr>
          <a:lstStyle/>
          <a:p>
            <a:r>
              <a:rPr lang="en-US" b="1" dirty="0"/>
              <a:t>Frontend and Backend</a:t>
            </a:r>
          </a:p>
        </p:txBody>
      </p:sp>
      <p:sp>
        <p:nvSpPr>
          <p:cNvPr id="5" name="Rectangle 2">
            <a:extLst>
              <a:ext uri="{FF2B5EF4-FFF2-40B4-BE49-F238E27FC236}">
                <a16:creationId xmlns:a16="http://schemas.microsoft.com/office/drawing/2014/main" id="{9B5CDA03-DB02-C14E-705E-ECD1A4D10842}"/>
              </a:ext>
            </a:extLst>
          </p:cNvPr>
          <p:cNvSpPr>
            <a:spLocks noGrp="1" noChangeArrowheads="1"/>
          </p:cNvSpPr>
          <p:nvPr>
            <p:ph idx="1"/>
          </p:nvPr>
        </p:nvSpPr>
        <p:spPr bwMode="auto">
          <a:xfrm>
            <a:off x="685802" y="2142067"/>
            <a:ext cx="6905134"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85000" lnSpcReduction="20000"/>
          </a:bodyPr>
          <a:lstStyle/>
          <a:p>
            <a:pPr marL="0" indent="0">
              <a:buNone/>
            </a:pPr>
            <a:r>
              <a:rPr lang="en-GB" sz="1200" b="1" dirty="0"/>
              <a:t>Frontend</a:t>
            </a:r>
          </a:p>
          <a:p>
            <a:r>
              <a:rPr lang="en-GB" sz="1200" dirty="0"/>
              <a:t>The frontend is responsible for the look and feel of a web page that users directly interact with. It is implemented using technologies such as HTML, CSS, and JavaScript.</a:t>
            </a:r>
          </a:p>
          <a:p>
            <a:r>
              <a:rPr lang="en-GB" sz="1200" b="1" dirty="0"/>
              <a:t>Core Technologies</a:t>
            </a:r>
          </a:p>
          <a:p>
            <a:r>
              <a:rPr lang="en-GB" sz="1200" b="1" dirty="0"/>
              <a:t>HTML (</a:t>
            </a:r>
            <a:r>
              <a:rPr lang="en-GB" sz="1200" b="1" dirty="0" err="1"/>
              <a:t>HyperText</a:t>
            </a:r>
            <a:r>
              <a:rPr lang="en-GB" sz="1200" b="1" dirty="0"/>
              <a:t> Markup Language)</a:t>
            </a:r>
            <a:r>
              <a:rPr lang="en-GB" sz="1200" dirty="0"/>
              <a:t>: The foundational structure of the web, HTML defines the content and layout of a web page. It includes a set of markup elements specified using tags, e.g.,</a:t>
            </a:r>
          </a:p>
          <a:p>
            <a:r>
              <a:rPr lang="en-GB" sz="1200" dirty="0"/>
              <a:t>&lt;tag&gt;</a:t>
            </a:r>
          </a:p>
          <a:p>
            <a:r>
              <a:rPr lang="en-GB" sz="1200" dirty="0"/>
              <a:t>. These elements organize texts into headings, paragraphs, and lists; embed multimedia content like images, videos, and links; and gather user input through forms.</a:t>
            </a:r>
          </a:p>
          <a:p>
            <a:r>
              <a:rPr lang="en-GB" sz="1200" b="1" dirty="0"/>
              <a:t>CSS (Cascading Style Sheets)</a:t>
            </a:r>
            <a:r>
              <a:rPr lang="en-GB" sz="1200" dirty="0"/>
              <a:t>: CSS defines how web pages should look. It stylizes the layout created with HTML, controlling visual elements like </a:t>
            </a:r>
            <a:r>
              <a:rPr lang="en-GB" sz="1200" dirty="0" err="1"/>
              <a:t>colors</a:t>
            </a:r>
            <a:r>
              <a:rPr lang="en-GB" sz="1200" dirty="0"/>
              <a:t>, fonts, and spacing. CSS can apply styles to individual elements, elements with specific IDs or classes, or all elements of a certain HTML type.</a:t>
            </a:r>
          </a:p>
          <a:p>
            <a:r>
              <a:rPr lang="en-GB" sz="1200" b="1" dirty="0"/>
              <a:t>JavaScript</a:t>
            </a:r>
            <a:r>
              <a:rPr lang="en-GB" sz="1200" dirty="0"/>
              <a:t>: A programming language that makes web pages dynamic and interactive. JavaScript can respond to user interactions, exchange data, and programmatically change page content. Management of dynamic content is handled by JavaScript.</a:t>
            </a:r>
          </a:p>
          <a:p>
            <a:r>
              <a:rPr lang="en-GB" sz="1200" dirty="0"/>
              <a:t>Frontend Frameworks and Libraries</a:t>
            </a:r>
          </a:p>
          <a:p>
            <a:r>
              <a:rPr lang="en-GB" sz="1200" dirty="0"/>
              <a:t>To speed up the process and add advanced features, developers use JavaScript frameworks and libraries like Angular, React, and Vue.js.</a:t>
            </a:r>
          </a:p>
          <a:p>
            <a:r>
              <a:rPr lang="en-GB" sz="1200" b="1" dirty="0"/>
              <a:t>React</a:t>
            </a:r>
            <a:r>
              <a:rPr lang="en-GB" sz="1200" dirty="0"/>
              <a:t>: Developed by Facebook, React is a JavaScript library used to build user interfaces. It is a popular choice for developing Single Page Applications (SPA) and is based on reusable components.</a:t>
            </a:r>
          </a:p>
          <a:p>
            <a:r>
              <a:rPr lang="en-GB" sz="1200" b="1" dirty="0"/>
              <a:t>Angular</a:t>
            </a:r>
            <a:r>
              <a:rPr lang="en-GB" sz="1200" dirty="0"/>
              <a:t>: Developed by Google, Angular is a JavaScript framework for building dynamic web applications. It works with the Model-View-Controller (MVC) architecture and is suitable for large-scale applications.</a:t>
            </a:r>
          </a:p>
          <a:p>
            <a:r>
              <a:rPr lang="en-GB" sz="1200" b="1" dirty="0"/>
              <a:t>Vue.js</a:t>
            </a:r>
            <a:r>
              <a:rPr lang="en-GB" sz="1200" dirty="0"/>
              <a:t>: A lightweight and flexible JavaScript framework ideal for small to medium-sized projects. It is easy to learn and implement and comes with detailed documentation.</a:t>
            </a:r>
          </a:p>
        </p:txBody>
      </p:sp>
    </p:spTree>
    <p:extLst>
      <p:ext uri="{BB962C8B-B14F-4D97-AF65-F5344CB8AC3E}">
        <p14:creationId xmlns:p14="http://schemas.microsoft.com/office/powerpoint/2010/main" val="2042674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D737039-2400-8AC1-7C1C-AE94AABD9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DD3A1-8E8B-8D6F-1259-B94F14DFA699}"/>
              </a:ext>
            </a:extLst>
          </p:cNvPr>
          <p:cNvSpPr>
            <a:spLocks noGrp="1"/>
          </p:cNvSpPr>
          <p:nvPr>
            <p:ph type="title"/>
          </p:nvPr>
        </p:nvSpPr>
        <p:spPr>
          <a:xfrm>
            <a:off x="685802" y="609600"/>
            <a:ext cx="6282266" cy="1456267"/>
          </a:xfrm>
        </p:spPr>
        <p:txBody>
          <a:bodyPr>
            <a:normAutofit/>
          </a:bodyPr>
          <a:lstStyle/>
          <a:p>
            <a:r>
              <a:rPr lang="en-US" b="1" dirty="0"/>
              <a:t>Frontend and Backend</a:t>
            </a:r>
          </a:p>
        </p:txBody>
      </p:sp>
      <p:sp>
        <p:nvSpPr>
          <p:cNvPr id="5" name="Rectangle 2">
            <a:extLst>
              <a:ext uri="{FF2B5EF4-FFF2-40B4-BE49-F238E27FC236}">
                <a16:creationId xmlns:a16="http://schemas.microsoft.com/office/drawing/2014/main" id="{BD61F810-BC15-617B-CC6C-CA2B61B2B952}"/>
              </a:ext>
            </a:extLst>
          </p:cNvPr>
          <p:cNvSpPr>
            <a:spLocks noGrp="1" noChangeArrowheads="1"/>
          </p:cNvSpPr>
          <p:nvPr>
            <p:ph idx="1"/>
          </p:nvPr>
        </p:nvSpPr>
        <p:spPr bwMode="auto">
          <a:xfrm>
            <a:off x="685802" y="2142067"/>
            <a:ext cx="6905134"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GB" sz="1200" b="1" dirty="0"/>
              <a:t>Backend</a:t>
            </a:r>
          </a:p>
          <a:p>
            <a:r>
              <a:rPr lang="en-GB" sz="1200" dirty="0"/>
              <a:t>The backend is the part of a website that runs in the "background," managing database operations, user management, server logic, and more.</a:t>
            </a:r>
          </a:p>
          <a:p>
            <a:r>
              <a:rPr lang="en-GB" sz="1200" dirty="0"/>
              <a:t>The backend handles user requests, performs the necessary operations (database queries, computations, etc.), and sends the results to the frontend.</a:t>
            </a:r>
          </a:p>
          <a:p>
            <a:r>
              <a:rPr lang="en-GB" sz="1200" dirty="0"/>
              <a:t>Core Technologies</a:t>
            </a:r>
          </a:p>
          <a:p>
            <a:r>
              <a:rPr lang="en-GB" sz="1200" b="1" dirty="0"/>
              <a:t>Server Languages</a:t>
            </a:r>
            <a:r>
              <a:rPr lang="en-GB" sz="1200" dirty="0"/>
              <a:t>: Utilizes programming languages such as Go, Node.js, Python, Ruby, and PHP, along with their frameworks.</a:t>
            </a:r>
          </a:p>
          <a:p>
            <a:r>
              <a:rPr lang="en-GB" sz="1200" b="1" dirty="0"/>
              <a:t>Database Management Systems</a:t>
            </a:r>
            <a:r>
              <a:rPr lang="en-GB" sz="1200" dirty="0"/>
              <a:t>: Systems like MySQL, PostgreSQL, and MongoDB are used for storing and managing data.</a:t>
            </a:r>
          </a:p>
          <a:p>
            <a:r>
              <a:rPr lang="en-GB" sz="1200" b="1" dirty="0"/>
              <a:t>Server Infrastructure</a:t>
            </a:r>
            <a:r>
              <a:rPr lang="en-GB" sz="1200" dirty="0"/>
              <a:t>: Web servers like Apache and Nginx respond to client requests.</a:t>
            </a:r>
          </a:p>
        </p:txBody>
      </p:sp>
    </p:spTree>
    <p:extLst>
      <p:ext uri="{BB962C8B-B14F-4D97-AF65-F5344CB8AC3E}">
        <p14:creationId xmlns:p14="http://schemas.microsoft.com/office/powerpoint/2010/main" val="1061491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59318DEE-4408-C559-BA7F-DF2C71EECC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98BD7-9278-48BF-7DB0-4F6F4527A6FB}"/>
              </a:ext>
            </a:extLst>
          </p:cNvPr>
          <p:cNvSpPr>
            <a:spLocks noGrp="1"/>
          </p:cNvSpPr>
          <p:nvPr>
            <p:ph type="title"/>
          </p:nvPr>
        </p:nvSpPr>
        <p:spPr>
          <a:xfrm>
            <a:off x="685802" y="609600"/>
            <a:ext cx="6282266" cy="1456267"/>
          </a:xfrm>
        </p:spPr>
        <p:txBody>
          <a:bodyPr>
            <a:normAutofit/>
          </a:bodyPr>
          <a:lstStyle/>
          <a:p>
            <a:r>
              <a:rPr lang="en-GB" b="1" dirty="0"/>
              <a:t>Application Programming Interface (API)</a:t>
            </a:r>
          </a:p>
        </p:txBody>
      </p:sp>
      <p:sp>
        <p:nvSpPr>
          <p:cNvPr id="5" name="Rectangle 2">
            <a:extLst>
              <a:ext uri="{FF2B5EF4-FFF2-40B4-BE49-F238E27FC236}">
                <a16:creationId xmlns:a16="http://schemas.microsoft.com/office/drawing/2014/main" id="{0E24193D-782C-DC32-DCC3-BC2CEBED0B98}"/>
              </a:ext>
            </a:extLst>
          </p:cNvPr>
          <p:cNvSpPr>
            <a:spLocks noGrp="1" noChangeArrowheads="1"/>
          </p:cNvSpPr>
          <p:nvPr>
            <p:ph idx="1"/>
          </p:nvPr>
        </p:nvSpPr>
        <p:spPr bwMode="auto">
          <a:xfrm>
            <a:off x="685802" y="2142067"/>
            <a:ext cx="6905134"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GB" sz="1200" b="1" dirty="0"/>
              <a:t>Types of APIs</a:t>
            </a:r>
          </a:p>
          <a:p>
            <a:pPr marL="0" indent="0">
              <a:buNone/>
            </a:pPr>
            <a:r>
              <a:rPr lang="en-GB" sz="1200" b="1" dirty="0"/>
              <a:t>REST (Representational State Transfer)</a:t>
            </a:r>
          </a:p>
          <a:p>
            <a:r>
              <a:rPr lang="en-GB" sz="1200" dirty="0"/>
              <a:t>REST is an API design model used for communication between systems over the web. It works using the HTTP protocol and offers a resource-based approach. REST APIs support CRUD (Create, Read, Update, Delete) operations and typically exchange data in JSON or XML format.</a:t>
            </a:r>
          </a:p>
          <a:p>
            <a:pPr marL="0" indent="0">
              <a:buNone/>
            </a:pPr>
            <a:r>
              <a:rPr lang="en-GB" sz="1200" b="1" dirty="0"/>
              <a:t>SOAP (Simple Object Access Protocol)</a:t>
            </a:r>
          </a:p>
          <a:p>
            <a:r>
              <a:rPr lang="en-GB" sz="1200" dirty="0"/>
              <a:t>SOAP is designed for communication between network objects using HTTP and XML-based protocols. It offers features such as security and transaction management and is often preferred in enterprise applications.</a:t>
            </a:r>
          </a:p>
          <a:p>
            <a:pPr marL="0" indent="0">
              <a:buNone/>
            </a:pPr>
            <a:r>
              <a:rPr lang="en-GB" sz="1200" b="1" dirty="0" err="1"/>
              <a:t>GraphQL</a:t>
            </a:r>
            <a:endParaRPr lang="en-GB" sz="1200" b="1" dirty="0"/>
          </a:p>
          <a:p>
            <a:r>
              <a:rPr lang="en-GB" sz="1200" dirty="0" err="1"/>
              <a:t>GraphQL</a:t>
            </a:r>
            <a:r>
              <a:rPr lang="en-GB" sz="1200" dirty="0"/>
              <a:t> is a query language developed by Facebook and an API design that allows users to request exactly the data they need in a single query. This makes data exchange more efficient and reduces over-fetching and under-fetching issues.</a:t>
            </a:r>
          </a:p>
          <a:p>
            <a:pPr marL="0" indent="0">
              <a:buNone/>
            </a:pPr>
            <a:r>
              <a:rPr lang="en-GB" sz="1200" b="1" dirty="0"/>
              <a:t>WebSocket</a:t>
            </a:r>
          </a:p>
          <a:p>
            <a:r>
              <a:rPr lang="en-GB" sz="1200" dirty="0"/>
              <a:t>WebSocket is a protocol that provides a continuous, bidirectional connection between a client and a server. It is ideal for real-time applications as it offers lower latency compared to the open-close connection model of HTTP.</a:t>
            </a:r>
          </a:p>
          <a:p>
            <a:endParaRPr lang="en-GB" sz="1200" dirty="0"/>
          </a:p>
        </p:txBody>
      </p:sp>
    </p:spTree>
    <p:extLst>
      <p:ext uri="{BB962C8B-B14F-4D97-AF65-F5344CB8AC3E}">
        <p14:creationId xmlns:p14="http://schemas.microsoft.com/office/powerpoint/2010/main" val="3359560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F26611B-19F6-94EA-D5FF-DD8F9C8FC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5023C-BE54-B846-0B51-BC9787091F22}"/>
              </a:ext>
            </a:extLst>
          </p:cNvPr>
          <p:cNvSpPr>
            <a:spLocks noGrp="1"/>
          </p:cNvSpPr>
          <p:nvPr>
            <p:ph type="title"/>
          </p:nvPr>
        </p:nvSpPr>
        <p:spPr>
          <a:xfrm>
            <a:off x="685802" y="609600"/>
            <a:ext cx="6282266" cy="1456267"/>
          </a:xfrm>
        </p:spPr>
        <p:txBody>
          <a:bodyPr>
            <a:normAutofit/>
          </a:bodyPr>
          <a:lstStyle/>
          <a:p>
            <a:r>
              <a:rPr lang="en-GB" b="1" dirty="0"/>
              <a:t>Database Server</a:t>
            </a:r>
          </a:p>
        </p:txBody>
      </p:sp>
      <p:sp>
        <p:nvSpPr>
          <p:cNvPr id="5" name="Rectangle 2">
            <a:extLst>
              <a:ext uri="{FF2B5EF4-FFF2-40B4-BE49-F238E27FC236}">
                <a16:creationId xmlns:a16="http://schemas.microsoft.com/office/drawing/2014/main" id="{F94FEEFC-A5DB-397A-7A5E-551518BE00E1}"/>
              </a:ext>
            </a:extLst>
          </p:cNvPr>
          <p:cNvSpPr>
            <a:spLocks noGrp="1" noChangeArrowheads="1"/>
          </p:cNvSpPr>
          <p:nvPr>
            <p:ph idx="1"/>
          </p:nvPr>
        </p:nvSpPr>
        <p:spPr bwMode="auto">
          <a:xfrm>
            <a:off x="685802" y="2142067"/>
            <a:ext cx="6905134"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20000"/>
          </a:bodyPr>
          <a:lstStyle/>
          <a:p>
            <a:r>
              <a:rPr lang="en-GB" sz="1200" dirty="0"/>
              <a:t>A database server hosts database management systems (DBMS) and provides data storage, querying, updating, and management services to users or applications.</a:t>
            </a:r>
          </a:p>
          <a:p>
            <a:r>
              <a:rPr lang="en-GB" sz="1200" b="1" dirty="0"/>
              <a:t>Database Server Management (DBMS)</a:t>
            </a:r>
            <a:r>
              <a:rPr lang="en-GB" sz="1200" dirty="0"/>
              <a:t>: Involves optimizing database performance, maintaining data integrity, backing up, and performing disaster recovery operations. This management process is typically carried out by database administrators (DBA).</a:t>
            </a:r>
          </a:p>
          <a:p>
            <a:pPr marL="0" indent="0">
              <a:buNone/>
            </a:pPr>
            <a:r>
              <a:rPr lang="en-GB" sz="1200" b="1" dirty="0"/>
              <a:t>Core Functions</a:t>
            </a:r>
          </a:p>
          <a:p>
            <a:r>
              <a:rPr lang="en-GB" sz="1200" b="1" dirty="0"/>
              <a:t>Data Storage and Optimization</a:t>
            </a:r>
            <a:r>
              <a:rPr lang="en-GB" sz="1200" dirty="0"/>
              <a:t>: Structured to store data efficiently and process queries quickly.</a:t>
            </a:r>
          </a:p>
          <a:p>
            <a:r>
              <a:rPr lang="en-GB" sz="1200" b="1" dirty="0"/>
              <a:t>Security</a:t>
            </a:r>
            <a:r>
              <a:rPr lang="en-GB" sz="1200" dirty="0"/>
              <a:t>: Ensures data security through authorization, authentication, and data encryption.</a:t>
            </a:r>
          </a:p>
          <a:p>
            <a:r>
              <a:rPr lang="en-GB" sz="1200" b="1" dirty="0"/>
              <a:t>Backup and Recovery</a:t>
            </a:r>
            <a:r>
              <a:rPr lang="en-GB" sz="1200" dirty="0"/>
              <a:t>: Conducts regular backups to prevent data loss and restores data when needed.</a:t>
            </a:r>
          </a:p>
          <a:p>
            <a:r>
              <a:rPr lang="en-GB" sz="1200" b="1" dirty="0"/>
              <a:t>Popular Database Servers</a:t>
            </a:r>
          </a:p>
          <a:p>
            <a:r>
              <a:rPr lang="en-GB" sz="1200" b="1" dirty="0"/>
              <a:t>SQL (Structured Query Language) Databases</a:t>
            </a:r>
          </a:p>
          <a:p>
            <a:r>
              <a:rPr lang="en-GB" sz="1200" dirty="0"/>
              <a:t>SQL databases organize data in a tabular (relational) model. Each table is divided into columns (or fields) that store similar types of data, and table relations ensure data integrity and consistency.</a:t>
            </a:r>
          </a:p>
          <a:p>
            <a:pPr marL="0" indent="0">
              <a:buNone/>
            </a:pPr>
            <a:r>
              <a:rPr lang="en-GB" sz="1200" b="1" dirty="0"/>
              <a:t>Features:</a:t>
            </a:r>
            <a:endParaRPr lang="en-GB" sz="1200" dirty="0"/>
          </a:p>
          <a:p>
            <a:r>
              <a:rPr lang="en-GB" sz="1200" b="1" dirty="0"/>
              <a:t>ACID Compliance</a:t>
            </a:r>
            <a:r>
              <a:rPr lang="en-GB" sz="1200" dirty="0"/>
              <a:t>: Supports Atomicity, Consistency, Isolation, and Durability principles, enhancing the reliability and consistency of database transactions.</a:t>
            </a:r>
          </a:p>
          <a:p>
            <a:r>
              <a:rPr lang="en-GB" sz="1200" b="1" dirty="0"/>
              <a:t>Strict Schema</a:t>
            </a:r>
            <a:r>
              <a:rPr lang="en-GB" sz="1200" dirty="0"/>
              <a:t>: Database structure needs to be predefined, with data stored according to this schema.</a:t>
            </a:r>
          </a:p>
          <a:p>
            <a:r>
              <a:rPr lang="en-GB" sz="1200" b="1" dirty="0"/>
              <a:t>Query Power</a:t>
            </a:r>
            <a:r>
              <a:rPr lang="en-GB" sz="1200" dirty="0"/>
              <a:t>: The SQL language is a powerful tool for complex queries and data analysis.</a:t>
            </a:r>
          </a:p>
          <a:p>
            <a:r>
              <a:rPr lang="en-GB" sz="1200" b="1" dirty="0"/>
              <a:t>Popular SQL Databases</a:t>
            </a:r>
            <a:r>
              <a:rPr lang="en-GB" sz="1200" dirty="0"/>
              <a:t>: MySQL, PostgreSQL, Oracle, Microsoft SQL Server</a:t>
            </a:r>
          </a:p>
          <a:p>
            <a:endParaRPr lang="en-GB" sz="1200" dirty="0"/>
          </a:p>
        </p:txBody>
      </p:sp>
    </p:spTree>
    <p:extLst>
      <p:ext uri="{BB962C8B-B14F-4D97-AF65-F5344CB8AC3E}">
        <p14:creationId xmlns:p14="http://schemas.microsoft.com/office/powerpoint/2010/main" val="3565491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C05D61B-EB7A-BF3A-21B0-2125A2C32D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E2445-C811-E5DA-1BED-5B8C66BDD93F}"/>
              </a:ext>
            </a:extLst>
          </p:cNvPr>
          <p:cNvSpPr>
            <a:spLocks noGrp="1"/>
          </p:cNvSpPr>
          <p:nvPr>
            <p:ph type="title"/>
          </p:nvPr>
        </p:nvSpPr>
        <p:spPr>
          <a:xfrm>
            <a:off x="685802" y="209550"/>
            <a:ext cx="6282266" cy="1456267"/>
          </a:xfrm>
        </p:spPr>
        <p:txBody>
          <a:bodyPr>
            <a:normAutofit/>
          </a:bodyPr>
          <a:lstStyle/>
          <a:p>
            <a:r>
              <a:rPr lang="en-GB" b="1" dirty="0"/>
              <a:t>Web Server</a:t>
            </a:r>
          </a:p>
        </p:txBody>
      </p:sp>
      <p:sp>
        <p:nvSpPr>
          <p:cNvPr id="5" name="Rectangle 2">
            <a:extLst>
              <a:ext uri="{FF2B5EF4-FFF2-40B4-BE49-F238E27FC236}">
                <a16:creationId xmlns:a16="http://schemas.microsoft.com/office/drawing/2014/main" id="{D41FED44-99BF-0703-9DE3-83E10142B28E}"/>
              </a:ext>
            </a:extLst>
          </p:cNvPr>
          <p:cNvSpPr>
            <a:spLocks noGrp="1" noChangeArrowheads="1"/>
          </p:cNvSpPr>
          <p:nvPr>
            <p:ph idx="1"/>
          </p:nvPr>
        </p:nvSpPr>
        <p:spPr bwMode="auto">
          <a:xfrm>
            <a:off x="685802" y="1881717"/>
            <a:ext cx="7823198"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25000" lnSpcReduction="20000"/>
          </a:bodyPr>
          <a:lstStyle/>
          <a:p>
            <a:r>
              <a:rPr lang="en-GB" sz="4000" dirty="0"/>
              <a:t>A web server is a server that hosts and distributes web pages and other content over the internet, accessible through web browsers. The primary function of a web server is to handle requests via the HTTP protocol and respond with content such as HTML pages, images, style sheets (CSS), and JavaScript files.</a:t>
            </a:r>
          </a:p>
          <a:p>
            <a:r>
              <a:rPr lang="en-GB" sz="4000" b="1" dirty="0"/>
              <a:t>Web Server Configuration:</a:t>
            </a:r>
            <a:r>
              <a:rPr lang="en-GB" sz="4000" dirty="0"/>
              <a:t> Web server software is typically customized through configuration files. These files contain important settings such as which port the server will listen to, which directory contains the files to be served, security settings, and access control rules.</a:t>
            </a:r>
          </a:p>
          <a:p>
            <a:pPr marL="0" indent="0">
              <a:buNone/>
            </a:pPr>
            <a:r>
              <a:rPr lang="en-GB" sz="4000" b="1" dirty="0"/>
              <a:t>Apache HTTP Server</a:t>
            </a:r>
          </a:p>
          <a:p>
            <a:r>
              <a:rPr lang="en-GB" sz="4000" dirty="0"/>
              <a:t>Apache is an open-source and cross-platform web server known for its flexible configuration options and extensive module support.</a:t>
            </a:r>
          </a:p>
          <a:p>
            <a:r>
              <a:rPr lang="en-GB" sz="4000" b="1" dirty="0"/>
              <a:t>Features:</a:t>
            </a:r>
            <a:endParaRPr lang="en-GB" sz="4000" dirty="0"/>
          </a:p>
          <a:p>
            <a:r>
              <a:rPr lang="en-GB" sz="4000" dirty="0"/>
              <a:t>Modular architecture supporting dynamic module loading.</a:t>
            </a:r>
          </a:p>
          <a:p>
            <a:r>
              <a:rPr lang="en-GB" sz="4000" dirty="0"/>
              <a:t>.</a:t>
            </a:r>
            <a:r>
              <a:rPr lang="en-GB" sz="4000" dirty="0" err="1"/>
              <a:t>htaccess</a:t>
            </a:r>
            <a:r>
              <a:rPr lang="en-GB" sz="4000" dirty="0"/>
              <a:t> file for directory-level configuration.</a:t>
            </a:r>
          </a:p>
          <a:p>
            <a:r>
              <a:rPr lang="en-GB" sz="4000" dirty="0"/>
              <a:t>SSL/TLS support for secure connections.</a:t>
            </a:r>
          </a:p>
          <a:p>
            <a:pPr marL="0" indent="0">
              <a:buNone/>
            </a:pPr>
            <a:r>
              <a:rPr lang="en-GB" sz="4000" b="1" dirty="0"/>
              <a:t>Nginx</a:t>
            </a:r>
          </a:p>
          <a:p>
            <a:r>
              <a:rPr lang="en-GB" sz="4000" dirty="0"/>
              <a:t>Nginx is a high-performance web server, reverse proxy, and email proxy server that supports high concurrent connections through asynchronous event handling.</a:t>
            </a:r>
          </a:p>
          <a:p>
            <a:r>
              <a:rPr lang="en-GB" sz="4000" b="1" dirty="0"/>
              <a:t>Features:</a:t>
            </a:r>
            <a:endParaRPr lang="en-GB" sz="4000" dirty="0"/>
          </a:p>
          <a:p>
            <a:r>
              <a:rPr lang="en-GB" sz="4000" dirty="0"/>
              <a:t>Low memory usage and high concurrency.</a:t>
            </a:r>
          </a:p>
          <a:p>
            <a:r>
              <a:rPr lang="en-GB" sz="4000" dirty="0"/>
              <a:t>Load balancing and reverse proxy capabilities.</a:t>
            </a:r>
          </a:p>
          <a:p>
            <a:r>
              <a:rPr lang="en-GB" sz="4000" dirty="0"/>
              <a:t>HTTP2, WebSocket, and SSL/TLS support.</a:t>
            </a:r>
          </a:p>
          <a:p>
            <a:pPr marL="0" indent="0">
              <a:buNone/>
            </a:pPr>
            <a:r>
              <a:rPr lang="en-GB" sz="4000" b="1" dirty="0"/>
              <a:t>Microsoft IIS (Internet Information Services)</a:t>
            </a:r>
          </a:p>
          <a:p>
            <a:r>
              <a:rPr lang="en-GB" sz="4000" dirty="0"/>
              <a:t>IIS is a web server and a suite of internet services for Windows servers. It offers deep integration with ASP.NET applications.</a:t>
            </a:r>
          </a:p>
          <a:p>
            <a:r>
              <a:rPr lang="en-GB" sz="4000" b="1" dirty="0"/>
              <a:t>Features:</a:t>
            </a:r>
            <a:endParaRPr lang="en-GB" sz="4000" dirty="0"/>
          </a:p>
          <a:p>
            <a:r>
              <a:rPr lang="en-GB" sz="4000" dirty="0"/>
              <a:t>Easy management through a graphical user interface.</a:t>
            </a:r>
          </a:p>
          <a:p>
            <a:r>
              <a:rPr lang="en-GB" sz="4000" dirty="0"/>
              <a:t>Robust security features and authentication mechanisms.</a:t>
            </a:r>
          </a:p>
          <a:p>
            <a:r>
              <a:rPr lang="en-GB" sz="4000" dirty="0"/>
              <a:t>Enhanced with modules like ASP.NET, Windows Authentication, and URL Rewrite.</a:t>
            </a:r>
          </a:p>
          <a:p>
            <a:endParaRPr lang="en-GB" sz="1200" dirty="0"/>
          </a:p>
        </p:txBody>
      </p:sp>
    </p:spTree>
    <p:extLst>
      <p:ext uri="{BB962C8B-B14F-4D97-AF65-F5344CB8AC3E}">
        <p14:creationId xmlns:p14="http://schemas.microsoft.com/office/powerpoint/2010/main" val="3825881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9CB3E5F5-3945-E3A8-72C9-95428FCD6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9F0A9-28B2-4530-08B9-FED32F1BE5BC}"/>
              </a:ext>
            </a:extLst>
          </p:cNvPr>
          <p:cNvSpPr>
            <a:spLocks noGrp="1"/>
          </p:cNvSpPr>
          <p:nvPr>
            <p:ph type="title"/>
          </p:nvPr>
        </p:nvSpPr>
        <p:spPr>
          <a:xfrm>
            <a:off x="685802" y="209550"/>
            <a:ext cx="6282266" cy="1456267"/>
          </a:xfrm>
        </p:spPr>
        <p:txBody>
          <a:bodyPr>
            <a:normAutofit/>
          </a:bodyPr>
          <a:lstStyle/>
          <a:p>
            <a:r>
              <a:rPr lang="en-GB" b="1" dirty="0"/>
              <a:t>Security and Performance</a:t>
            </a:r>
          </a:p>
        </p:txBody>
      </p:sp>
      <p:sp>
        <p:nvSpPr>
          <p:cNvPr id="5" name="Rectangle 2">
            <a:extLst>
              <a:ext uri="{FF2B5EF4-FFF2-40B4-BE49-F238E27FC236}">
                <a16:creationId xmlns:a16="http://schemas.microsoft.com/office/drawing/2014/main" id="{320BE273-C146-10AC-DDBF-EF2A3DECA3BD}"/>
              </a:ext>
            </a:extLst>
          </p:cNvPr>
          <p:cNvSpPr>
            <a:spLocks noGrp="1" noChangeArrowheads="1"/>
          </p:cNvSpPr>
          <p:nvPr>
            <p:ph idx="1"/>
          </p:nvPr>
        </p:nvSpPr>
        <p:spPr bwMode="auto">
          <a:xfrm>
            <a:off x="685802" y="1881717"/>
            <a:ext cx="7823198"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32500" lnSpcReduction="20000"/>
          </a:bodyPr>
          <a:lstStyle/>
          <a:p>
            <a:r>
              <a:rPr lang="en-GB" sz="4000" dirty="0"/>
              <a:t>The two primary priorities for modern web applications are security and performance. These priorities directly affect user experience and are critical to the application's success.</a:t>
            </a:r>
          </a:p>
          <a:p>
            <a:pPr marL="0" indent="0">
              <a:buNone/>
            </a:pPr>
            <a:r>
              <a:rPr lang="en-GB" sz="4000" b="1" dirty="0"/>
              <a:t>WAF (Web Application Firewall)</a:t>
            </a:r>
          </a:p>
          <a:p>
            <a:r>
              <a:rPr lang="en-GB" sz="4000" dirty="0"/>
              <a:t>A Web Application Firewall (WAF) is a specialized firewall designed to protect web applications from various security threats, including SQL injection, Cross-Site Scripting (XSS), Cross-Site Request Forgery (CSRF), and notably, Distributed Denial of Service (DDoS) attacks. DDoS attacks aim to make targeted web resources unavailable by overwhelming them with a flood of malicious traffic.</a:t>
            </a:r>
          </a:p>
          <a:p>
            <a:r>
              <a:rPr lang="en-GB" sz="4000" dirty="0"/>
              <a:t>A WAF continuously monitors, </a:t>
            </a:r>
            <a:r>
              <a:rPr lang="en-GB" sz="4000" dirty="0" err="1"/>
              <a:t>analyzes</a:t>
            </a:r>
            <a:r>
              <a:rPr lang="en-GB" sz="4000" dirty="0"/>
              <a:t>, and filters incoming traffic to detect and mitigate such attacks.</a:t>
            </a:r>
          </a:p>
          <a:p>
            <a:pPr marL="0" indent="0">
              <a:buNone/>
            </a:pPr>
            <a:r>
              <a:rPr lang="en-GB" sz="4000" b="1" dirty="0"/>
              <a:t>DDoS Mitigation Strategies with WAF:</a:t>
            </a:r>
          </a:p>
          <a:p>
            <a:r>
              <a:rPr lang="en-GB" sz="4000" b="1" dirty="0"/>
              <a:t>Traffic Analysis</a:t>
            </a:r>
            <a:r>
              <a:rPr lang="en-GB" sz="4000" dirty="0"/>
              <a:t>: </a:t>
            </a:r>
            <a:r>
              <a:rPr lang="en-GB" sz="4000" dirty="0" err="1"/>
              <a:t>Analyzes</a:t>
            </a:r>
            <a:r>
              <a:rPr lang="en-GB" sz="4000" dirty="0"/>
              <a:t> incoming traffic for anomalies, such as excessive request patterns or high traffic from specific sources.</a:t>
            </a:r>
          </a:p>
          <a:p>
            <a:r>
              <a:rPr lang="en-GB" sz="4000" b="1" dirty="0"/>
              <a:t>Rate Limiting</a:t>
            </a:r>
            <a:r>
              <a:rPr lang="en-GB" sz="4000" dirty="0"/>
              <a:t>: Sets a limit on the number of requests allowed within a specified time frame. This can mitigate attacks by limiting the rate of requests.</a:t>
            </a:r>
          </a:p>
          <a:p>
            <a:r>
              <a:rPr lang="en-GB" sz="4000" b="1" dirty="0"/>
              <a:t>Geographical Blocking</a:t>
            </a:r>
            <a:r>
              <a:rPr lang="en-GB" sz="4000" dirty="0"/>
              <a:t>: Blocks traffic from specific geographical regions if attack traffic is identified from those areas.</a:t>
            </a:r>
          </a:p>
          <a:p>
            <a:r>
              <a:rPr lang="en-GB" sz="4000" b="1" dirty="0" err="1"/>
              <a:t>Behavioral</a:t>
            </a:r>
            <a:r>
              <a:rPr lang="en-GB" sz="4000" b="1" dirty="0"/>
              <a:t> Blocking</a:t>
            </a:r>
            <a:r>
              <a:rPr lang="en-GB" sz="4000" dirty="0"/>
              <a:t>: Detects and blocks traffic patterns that do not mimic human </a:t>
            </a:r>
            <a:r>
              <a:rPr lang="en-GB" sz="4000" dirty="0" err="1"/>
              <a:t>behavior</a:t>
            </a:r>
            <a:r>
              <a:rPr lang="en-GB" sz="4000" dirty="0"/>
              <a:t>.</a:t>
            </a:r>
          </a:p>
          <a:p>
            <a:r>
              <a:rPr lang="en-GB" sz="4000" b="1" dirty="0"/>
              <a:t>Example WAF Service: Cloudflare</a:t>
            </a:r>
            <a:r>
              <a:rPr lang="en-GB" sz="4000" dirty="0"/>
              <a:t> </a:t>
            </a:r>
            <a:r>
              <a:rPr lang="en-GB" sz="4000" dirty="0" err="1"/>
              <a:t>Cloudflare</a:t>
            </a:r>
            <a:r>
              <a:rPr lang="en-GB" sz="4000" dirty="0"/>
              <a:t> provides an extensive WAF service that offers predefined rule sets and customizable rules to protect web applications from sophisticated attacks.</a:t>
            </a:r>
          </a:p>
        </p:txBody>
      </p:sp>
    </p:spTree>
    <p:extLst>
      <p:ext uri="{BB962C8B-B14F-4D97-AF65-F5344CB8AC3E}">
        <p14:creationId xmlns:p14="http://schemas.microsoft.com/office/powerpoint/2010/main" val="668258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50B0547C-AFFA-6598-C977-EC972A6F7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996DF-4970-C146-DAA3-4EDCDAD577A2}"/>
              </a:ext>
            </a:extLst>
          </p:cNvPr>
          <p:cNvSpPr>
            <a:spLocks noGrp="1"/>
          </p:cNvSpPr>
          <p:nvPr>
            <p:ph type="title"/>
          </p:nvPr>
        </p:nvSpPr>
        <p:spPr>
          <a:xfrm>
            <a:off x="685802" y="209550"/>
            <a:ext cx="6282266" cy="1456267"/>
          </a:xfrm>
        </p:spPr>
        <p:txBody>
          <a:bodyPr>
            <a:normAutofit/>
          </a:bodyPr>
          <a:lstStyle/>
          <a:p>
            <a:r>
              <a:rPr lang="en-GB" b="1" dirty="0"/>
              <a:t>Security and Performance</a:t>
            </a:r>
          </a:p>
        </p:txBody>
      </p:sp>
      <p:sp>
        <p:nvSpPr>
          <p:cNvPr id="5" name="Rectangle 2">
            <a:extLst>
              <a:ext uri="{FF2B5EF4-FFF2-40B4-BE49-F238E27FC236}">
                <a16:creationId xmlns:a16="http://schemas.microsoft.com/office/drawing/2014/main" id="{20FBBBF5-8F28-FBD8-486B-A31C31631A93}"/>
              </a:ext>
            </a:extLst>
          </p:cNvPr>
          <p:cNvSpPr>
            <a:spLocks noGrp="1" noChangeArrowheads="1"/>
          </p:cNvSpPr>
          <p:nvPr>
            <p:ph idx="1"/>
          </p:nvPr>
        </p:nvSpPr>
        <p:spPr bwMode="auto">
          <a:xfrm>
            <a:off x="685802" y="1881717"/>
            <a:ext cx="7823198"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25000" lnSpcReduction="20000"/>
          </a:bodyPr>
          <a:lstStyle/>
          <a:p>
            <a:pPr marL="0" indent="0">
              <a:buNone/>
            </a:pPr>
            <a:r>
              <a:rPr lang="en-GB" sz="4000" b="1" dirty="0"/>
              <a:t>Load Balancer</a:t>
            </a:r>
          </a:p>
          <a:p>
            <a:r>
              <a:rPr lang="en-GB" sz="4000" dirty="0"/>
              <a:t>A Load Balancer distributes incoming requests across multiple servers to balance the load, preventing any single server from becoming overloaded. It also acts as a reverse proxy, creating an intermediary layer between clients and servers and thus protecting application servers from direct exposure.</a:t>
            </a:r>
          </a:p>
          <a:p>
            <a:r>
              <a:rPr lang="en-GB" sz="4000" b="1" dirty="0"/>
              <a:t>Use Cases:</a:t>
            </a:r>
            <a:endParaRPr lang="en-GB" sz="4000" dirty="0"/>
          </a:p>
          <a:p>
            <a:r>
              <a:rPr lang="en-GB" sz="4000" dirty="0"/>
              <a:t>High-traffic websites</a:t>
            </a:r>
          </a:p>
          <a:p>
            <a:r>
              <a:rPr lang="en-GB" sz="4000" dirty="0"/>
              <a:t>Large-scale web applications</a:t>
            </a:r>
          </a:p>
          <a:p>
            <a:r>
              <a:rPr lang="en-GB" sz="4000" dirty="0"/>
              <a:t>E-commerce platforms</a:t>
            </a:r>
          </a:p>
          <a:p>
            <a:pPr marL="0" indent="0">
              <a:buNone/>
            </a:pPr>
            <a:r>
              <a:rPr lang="en-GB" sz="4000" b="1" dirty="0"/>
              <a:t>Connection Pooling</a:t>
            </a:r>
          </a:p>
          <a:p>
            <a:r>
              <a:rPr lang="en-GB" sz="4000" dirty="0"/>
              <a:t>Connection Pooling is a technique that optimizes database connection management by maintaining a pool of database connections that can be reused by the application. This avoids the overhead of opening and closing a connection for each request, thereby enhancing performance.</a:t>
            </a:r>
          </a:p>
          <a:p>
            <a:pPr marL="0" indent="0">
              <a:buNone/>
            </a:pPr>
            <a:r>
              <a:rPr lang="en-GB" sz="4000" b="1" dirty="0"/>
              <a:t>CDN (Content Delivery Network)</a:t>
            </a:r>
          </a:p>
          <a:p>
            <a:r>
              <a:rPr lang="en-GB" sz="4000" dirty="0"/>
              <a:t>A Content Delivery Network (CDN) is a network of servers that deliver content to users based on their geographic location. This approach reduces content loading times and improves user experience while alleviating the load on the origin servers.</a:t>
            </a:r>
          </a:p>
          <a:p>
            <a:r>
              <a:rPr lang="en-GB" sz="4000" dirty="0"/>
              <a:t>A video-sharing site serving users worldwide can use a CDN to cache videos in different geographic regions.</a:t>
            </a:r>
          </a:p>
          <a:p>
            <a:pPr marL="0" indent="0">
              <a:buNone/>
            </a:pPr>
            <a:r>
              <a:rPr lang="en-GB" sz="4000" b="1" dirty="0"/>
              <a:t>Caching</a:t>
            </a:r>
          </a:p>
          <a:p>
            <a:r>
              <a:rPr lang="en-GB" sz="4000" dirty="0"/>
              <a:t>Caching is the process of temporarily storing frequently accessed data or computation results. This technique speeds up access to the same information and makes more efficient use of system resources.</a:t>
            </a:r>
          </a:p>
          <a:p>
            <a:pPr marL="0" indent="0">
              <a:buNone/>
            </a:pPr>
            <a:r>
              <a:rPr lang="en-GB" sz="4000" b="1" dirty="0"/>
              <a:t>Log Server</a:t>
            </a:r>
          </a:p>
          <a:p>
            <a:r>
              <a:rPr lang="en-GB" sz="4000" dirty="0"/>
              <a:t>Log servers collect, store, and </a:t>
            </a:r>
            <a:r>
              <a:rPr lang="en-GB" sz="4000" dirty="0" err="1"/>
              <a:t>analyze</a:t>
            </a:r>
            <a:r>
              <a:rPr lang="en-GB" sz="4000" dirty="0"/>
              <a:t> log data generated by systems, applications, and network devices. They are used for security, debugging, and monitoring system performance.</a:t>
            </a:r>
          </a:p>
          <a:p>
            <a:endParaRPr lang="en-GB" sz="4000" dirty="0"/>
          </a:p>
        </p:txBody>
      </p:sp>
    </p:spTree>
    <p:extLst>
      <p:ext uri="{BB962C8B-B14F-4D97-AF65-F5344CB8AC3E}">
        <p14:creationId xmlns:p14="http://schemas.microsoft.com/office/powerpoint/2010/main" val="749713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B291B5A2-C722-80A5-379A-9B32406A2C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911B9-60D9-01FF-5C5E-932C71BC3203}"/>
              </a:ext>
            </a:extLst>
          </p:cNvPr>
          <p:cNvSpPr>
            <a:spLocks noGrp="1"/>
          </p:cNvSpPr>
          <p:nvPr>
            <p:ph type="title"/>
          </p:nvPr>
        </p:nvSpPr>
        <p:spPr>
          <a:xfrm>
            <a:off x="685802" y="209550"/>
            <a:ext cx="6282266" cy="1456267"/>
          </a:xfrm>
        </p:spPr>
        <p:txBody>
          <a:bodyPr>
            <a:normAutofit/>
          </a:bodyPr>
          <a:lstStyle/>
          <a:p>
            <a:r>
              <a:rPr lang="en-GB" b="1" dirty="0"/>
              <a:t>Cloud Architecture</a:t>
            </a:r>
          </a:p>
        </p:txBody>
      </p:sp>
      <p:sp>
        <p:nvSpPr>
          <p:cNvPr id="5" name="Rectangle 2">
            <a:extLst>
              <a:ext uri="{FF2B5EF4-FFF2-40B4-BE49-F238E27FC236}">
                <a16:creationId xmlns:a16="http://schemas.microsoft.com/office/drawing/2014/main" id="{A2460AFD-3798-592B-329C-92F6F795A1D4}"/>
              </a:ext>
            </a:extLst>
          </p:cNvPr>
          <p:cNvSpPr>
            <a:spLocks noGrp="1" noChangeArrowheads="1"/>
          </p:cNvSpPr>
          <p:nvPr>
            <p:ph idx="1"/>
          </p:nvPr>
        </p:nvSpPr>
        <p:spPr bwMode="auto">
          <a:xfrm>
            <a:off x="685802" y="1881717"/>
            <a:ext cx="7823198"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25000" lnSpcReduction="20000"/>
          </a:bodyPr>
          <a:lstStyle/>
          <a:p>
            <a:r>
              <a:rPr lang="en-GB" sz="4000" dirty="0"/>
              <a:t>Cloud architecture refers to the overall structure and design of distributed computing technologies that provide data storage, processing, and management services accessible over the internet. It has enabled businesses and individuals to use IT resources in a flexible, scalable, and cost-effective manner, including data access, application hosting, and various IT resources.</a:t>
            </a:r>
          </a:p>
          <a:p>
            <a:pPr marL="0" indent="0">
              <a:buNone/>
            </a:pPr>
            <a:r>
              <a:rPr lang="en-GB" sz="4000" b="1" dirty="0"/>
              <a:t>Cloud architecture consists of various components and services:</a:t>
            </a:r>
          </a:p>
          <a:p>
            <a:pPr marL="0" indent="0">
              <a:buNone/>
            </a:pPr>
            <a:r>
              <a:rPr lang="en-GB" sz="4000" b="1" dirty="0"/>
              <a:t>IaaS (Infrastructure as a Service)</a:t>
            </a:r>
          </a:p>
          <a:p>
            <a:r>
              <a:rPr lang="en-GB" sz="4000" dirty="0"/>
              <a:t>IaaS provides users with fundamental computing resources like virtual servers, networking, and storage over the internet. Users can easily scale resources as needed without managing physical hardware.</a:t>
            </a:r>
          </a:p>
          <a:p>
            <a:r>
              <a:rPr lang="en-GB" sz="4000" dirty="0"/>
              <a:t>AWS EC2</a:t>
            </a:r>
          </a:p>
          <a:p>
            <a:r>
              <a:rPr lang="en-GB" sz="4000" dirty="0"/>
              <a:t>Microsoft Azure Virtual Machines</a:t>
            </a:r>
          </a:p>
          <a:p>
            <a:r>
              <a:rPr lang="en-GB" sz="4000" dirty="0"/>
              <a:t>Google Compute Engine</a:t>
            </a:r>
          </a:p>
          <a:p>
            <a:pPr marL="0" indent="0">
              <a:buNone/>
            </a:pPr>
            <a:r>
              <a:rPr lang="en-GB" sz="4000" b="1" dirty="0"/>
              <a:t>PaaS (Platform as a Service)</a:t>
            </a:r>
          </a:p>
          <a:p>
            <a:r>
              <a:rPr lang="en-GB" sz="4000" dirty="0"/>
              <a:t>PaaS provides developers with the platforms and tools needed to develop, test, and deploy applications, accelerating the software development process by eliminating the complexities of managing infrastructure.</a:t>
            </a:r>
          </a:p>
          <a:p>
            <a:r>
              <a:rPr lang="en-GB" sz="4000" dirty="0"/>
              <a:t>Heroku</a:t>
            </a:r>
          </a:p>
          <a:p>
            <a:r>
              <a:rPr lang="en-GB" sz="4000" dirty="0"/>
              <a:t>Google App Engine</a:t>
            </a:r>
          </a:p>
          <a:p>
            <a:r>
              <a:rPr lang="en-GB" sz="4000" dirty="0"/>
              <a:t>Azure App Services</a:t>
            </a:r>
          </a:p>
          <a:p>
            <a:pPr marL="0" indent="0">
              <a:buNone/>
            </a:pPr>
            <a:r>
              <a:rPr lang="en-GB" sz="4000" b="1" dirty="0"/>
              <a:t>SaaS (Software as a Service)</a:t>
            </a:r>
          </a:p>
          <a:p>
            <a:r>
              <a:rPr lang="en-GB" sz="4000" dirty="0"/>
              <a:t>SaaS delivers fully functional software applications accessible over the internet. Users can use applications without hosting or managing the software.</a:t>
            </a:r>
          </a:p>
          <a:p>
            <a:r>
              <a:rPr lang="en-GB" sz="4000" dirty="0"/>
              <a:t>Google Workspace</a:t>
            </a:r>
          </a:p>
          <a:p>
            <a:r>
              <a:rPr lang="en-GB" sz="4000" dirty="0"/>
              <a:t>Salesforce</a:t>
            </a:r>
          </a:p>
          <a:p>
            <a:r>
              <a:rPr lang="en-GB" sz="4000" dirty="0"/>
              <a:t>Microsoft Office 365</a:t>
            </a:r>
          </a:p>
          <a:p>
            <a:endParaRPr lang="en-GB" sz="4000" dirty="0"/>
          </a:p>
        </p:txBody>
      </p:sp>
    </p:spTree>
    <p:extLst>
      <p:ext uri="{BB962C8B-B14F-4D97-AF65-F5344CB8AC3E}">
        <p14:creationId xmlns:p14="http://schemas.microsoft.com/office/powerpoint/2010/main" val="1097796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29DD86B-D6EE-1B87-369F-363ED176C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67AE7-B3E7-A2D5-7274-B4B4CDD53C82}"/>
              </a:ext>
            </a:extLst>
          </p:cNvPr>
          <p:cNvSpPr>
            <a:spLocks noGrp="1"/>
          </p:cNvSpPr>
          <p:nvPr>
            <p:ph type="title"/>
          </p:nvPr>
        </p:nvSpPr>
        <p:spPr>
          <a:xfrm>
            <a:off x="685802" y="209550"/>
            <a:ext cx="6282266" cy="1456267"/>
          </a:xfrm>
        </p:spPr>
        <p:txBody>
          <a:bodyPr>
            <a:normAutofit/>
          </a:bodyPr>
          <a:lstStyle/>
          <a:p>
            <a:r>
              <a:rPr lang="en-GB" b="1" dirty="0"/>
              <a:t>Cloud Architecture</a:t>
            </a:r>
          </a:p>
        </p:txBody>
      </p:sp>
      <p:sp>
        <p:nvSpPr>
          <p:cNvPr id="5" name="Rectangle 2">
            <a:extLst>
              <a:ext uri="{FF2B5EF4-FFF2-40B4-BE49-F238E27FC236}">
                <a16:creationId xmlns:a16="http://schemas.microsoft.com/office/drawing/2014/main" id="{2A5B1DA4-4C9B-F4AB-5799-6C5A5954B61C}"/>
              </a:ext>
            </a:extLst>
          </p:cNvPr>
          <p:cNvSpPr>
            <a:spLocks noGrp="1" noChangeArrowheads="1"/>
          </p:cNvSpPr>
          <p:nvPr>
            <p:ph idx="1"/>
          </p:nvPr>
        </p:nvSpPr>
        <p:spPr bwMode="auto">
          <a:xfrm>
            <a:off x="685802" y="1881717"/>
            <a:ext cx="7823198"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40000" lnSpcReduction="20000"/>
          </a:bodyPr>
          <a:lstStyle/>
          <a:p>
            <a:pPr marL="0" indent="0">
              <a:buNone/>
            </a:pPr>
            <a:r>
              <a:rPr lang="en-GB" sz="4000" b="1" dirty="0"/>
              <a:t>Cloud's Connection to the Web and Modern Technologies</a:t>
            </a:r>
          </a:p>
          <a:p>
            <a:r>
              <a:rPr lang="en-GB" sz="4000" dirty="0"/>
              <a:t>Cloud computing is a significant milestone in the development and deployment of web technologies. Modern technologies like Docker, Kubernetes, and microservices leverage the flexibility and scalability offered by cloud computing, fundamentally transforming application development and deployment processes.</a:t>
            </a:r>
          </a:p>
          <a:p>
            <a:pPr marL="0" indent="0">
              <a:buNone/>
            </a:pPr>
            <a:r>
              <a:rPr lang="en-GB" sz="4000" b="1" dirty="0"/>
              <a:t>Docker</a:t>
            </a:r>
          </a:p>
          <a:p>
            <a:r>
              <a:rPr lang="en-GB" sz="4000" dirty="0"/>
              <a:t>Docker is a platform that packages applications and their dependencies into lightweight, portable, and self-sufficient containers. These containers can run seamlessly on any Linux or Windows machine, standardizing and simplifying processes from development to deployment.</a:t>
            </a:r>
          </a:p>
          <a:p>
            <a:r>
              <a:rPr lang="en-GB" sz="4000" dirty="0"/>
              <a:t>Containers share the operating system kernel but are isolated from each other, optimizing resource usage and enhancing security.</a:t>
            </a:r>
          </a:p>
          <a:p>
            <a:r>
              <a:rPr lang="en-GB" sz="4000" b="1" dirty="0"/>
              <a:t>Use Cases:</a:t>
            </a:r>
            <a:endParaRPr lang="en-GB" sz="4000" dirty="0"/>
          </a:p>
          <a:p>
            <a:r>
              <a:rPr lang="en-GB" sz="4000" dirty="0"/>
              <a:t>Application isolation and microservices architectures</a:t>
            </a:r>
          </a:p>
          <a:p>
            <a:r>
              <a:rPr lang="en-GB" sz="4000" dirty="0"/>
              <a:t>DevOps and continuous integration/continuous deployment (CI/CD) processes</a:t>
            </a:r>
          </a:p>
          <a:p>
            <a:r>
              <a:rPr lang="en-GB" sz="4000" dirty="0"/>
              <a:t>Consistent application deployment across multiple platforms and cloud services</a:t>
            </a:r>
          </a:p>
        </p:txBody>
      </p:sp>
    </p:spTree>
    <p:extLst>
      <p:ext uri="{BB962C8B-B14F-4D97-AF65-F5344CB8AC3E}">
        <p14:creationId xmlns:p14="http://schemas.microsoft.com/office/powerpoint/2010/main" val="266839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EB5BA78-2D0F-45E9-A872-486BE4FB9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86568-22C9-53B0-8984-71F8A0F1BE53}"/>
              </a:ext>
            </a:extLst>
          </p:cNvPr>
          <p:cNvSpPr>
            <a:spLocks noGrp="1"/>
          </p:cNvSpPr>
          <p:nvPr>
            <p:ph type="title"/>
          </p:nvPr>
        </p:nvSpPr>
        <p:spPr>
          <a:xfrm>
            <a:off x="685802" y="209550"/>
            <a:ext cx="6282266" cy="1456267"/>
          </a:xfrm>
        </p:spPr>
        <p:txBody>
          <a:bodyPr>
            <a:normAutofit/>
          </a:bodyPr>
          <a:lstStyle/>
          <a:p>
            <a:r>
              <a:rPr lang="en-GB" b="1" dirty="0"/>
              <a:t>Cloud Architecture</a:t>
            </a:r>
          </a:p>
        </p:txBody>
      </p:sp>
      <p:sp>
        <p:nvSpPr>
          <p:cNvPr id="5" name="Rectangle 2">
            <a:extLst>
              <a:ext uri="{FF2B5EF4-FFF2-40B4-BE49-F238E27FC236}">
                <a16:creationId xmlns:a16="http://schemas.microsoft.com/office/drawing/2014/main" id="{73C8570F-78A5-64E0-D111-66C47CE9B1F7}"/>
              </a:ext>
            </a:extLst>
          </p:cNvPr>
          <p:cNvSpPr>
            <a:spLocks noGrp="1" noChangeArrowheads="1"/>
          </p:cNvSpPr>
          <p:nvPr>
            <p:ph idx="1"/>
          </p:nvPr>
        </p:nvSpPr>
        <p:spPr bwMode="auto">
          <a:xfrm>
            <a:off x="685802" y="1881717"/>
            <a:ext cx="7823198"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32500" lnSpcReduction="20000"/>
          </a:bodyPr>
          <a:lstStyle/>
          <a:p>
            <a:pPr marL="0" indent="0">
              <a:buNone/>
            </a:pPr>
            <a:r>
              <a:rPr lang="en-GB" sz="4000" b="1" dirty="0"/>
              <a:t>Kubernetes</a:t>
            </a:r>
          </a:p>
          <a:p>
            <a:r>
              <a:rPr lang="en-GB" sz="4000" dirty="0"/>
              <a:t>Kubernetes is an open-source system for automating the deployment, scaling, and management of containerized applications. It supports Docker containers and other container technologies, automating application deployments and optimizing high availability, scalability, and resource usage.</a:t>
            </a:r>
          </a:p>
          <a:p>
            <a:r>
              <a:rPr lang="en-GB" sz="4000" dirty="0"/>
              <a:t>Kubernetes manages a cluster of one or more nodes. Each node is a machine where application containers run. Kubernetes automatically distributes, scales, and restarts applications across these nodes.</a:t>
            </a:r>
          </a:p>
          <a:p>
            <a:r>
              <a:rPr lang="en-GB" sz="4000" b="1" dirty="0"/>
              <a:t>Use Cases:</a:t>
            </a:r>
            <a:endParaRPr lang="en-GB" sz="4000" dirty="0"/>
          </a:p>
          <a:p>
            <a:r>
              <a:rPr lang="en-GB" sz="4000" dirty="0"/>
              <a:t>Deployment and management of microservices-based applications</a:t>
            </a:r>
          </a:p>
          <a:p>
            <a:r>
              <a:rPr lang="en-GB" sz="4000" dirty="0"/>
              <a:t>Automated scaling and load balancing</a:t>
            </a:r>
          </a:p>
          <a:p>
            <a:r>
              <a:rPr lang="en-GB" sz="4000" dirty="0"/>
              <a:t>Application continuity with self-healing capabilities</a:t>
            </a:r>
          </a:p>
          <a:p>
            <a:endParaRPr lang="en-GB" sz="4000" dirty="0"/>
          </a:p>
          <a:p>
            <a:pPr marL="0" indent="0">
              <a:buNone/>
            </a:pPr>
            <a:r>
              <a:rPr lang="en-GB" sz="4000" dirty="0"/>
              <a:t>Microservices</a:t>
            </a:r>
          </a:p>
          <a:p>
            <a:r>
              <a:rPr lang="en-GB" sz="4000" dirty="0"/>
              <a:t>The microservices architecture involves designing an application as a collection of smaller, independent services. Each microservice performs a specific function and typically communicates with other services via an API. This approach simplifies application development, testing, and deployment and enhances scalability.</a:t>
            </a:r>
          </a:p>
        </p:txBody>
      </p:sp>
    </p:spTree>
    <p:extLst>
      <p:ext uri="{BB962C8B-B14F-4D97-AF65-F5344CB8AC3E}">
        <p14:creationId xmlns:p14="http://schemas.microsoft.com/office/powerpoint/2010/main" val="853793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ADA95F8-AF2F-D357-570C-72C83C144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D3E03-A0A3-CA49-676A-26E21A2C24C6}"/>
              </a:ext>
            </a:extLst>
          </p:cNvPr>
          <p:cNvSpPr>
            <a:spLocks noGrp="1"/>
          </p:cNvSpPr>
          <p:nvPr>
            <p:ph type="title"/>
          </p:nvPr>
        </p:nvSpPr>
        <p:spPr>
          <a:xfrm>
            <a:off x="685802" y="209550"/>
            <a:ext cx="6282266" cy="1456267"/>
          </a:xfrm>
        </p:spPr>
        <p:txBody>
          <a:bodyPr>
            <a:normAutofit/>
          </a:bodyPr>
          <a:lstStyle/>
          <a:p>
            <a:r>
              <a:rPr lang="en-GB" b="1" dirty="0"/>
              <a:t>DevOps</a:t>
            </a:r>
          </a:p>
        </p:txBody>
      </p:sp>
      <p:sp>
        <p:nvSpPr>
          <p:cNvPr id="5" name="Rectangle 2">
            <a:extLst>
              <a:ext uri="{FF2B5EF4-FFF2-40B4-BE49-F238E27FC236}">
                <a16:creationId xmlns:a16="http://schemas.microsoft.com/office/drawing/2014/main" id="{A18145B2-78E4-3A83-D29C-917A22A9307F}"/>
              </a:ext>
            </a:extLst>
          </p:cNvPr>
          <p:cNvSpPr>
            <a:spLocks noGrp="1" noChangeArrowheads="1"/>
          </p:cNvSpPr>
          <p:nvPr>
            <p:ph idx="1"/>
          </p:nvPr>
        </p:nvSpPr>
        <p:spPr bwMode="auto">
          <a:xfrm>
            <a:off x="685802" y="1881717"/>
            <a:ext cx="7823198"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47500" lnSpcReduction="20000"/>
          </a:bodyPr>
          <a:lstStyle/>
          <a:p>
            <a:r>
              <a:rPr lang="en-GB" sz="4000" dirty="0"/>
              <a:t>DevOps is a cultural and practice framework aimed at enhancing collaboration between software development (Dev) and IT operations (Ops) to develop and deploy software more quickly and reliably.</a:t>
            </a:r>
          </a:p>
          <a:p>
            <a:r>
              <a:rPr lang="en-GB" sz="4000" dirty="0"/>
              <a:t>Continuous Integration and Continuous Deployment (CI/CD)</a:t>
            </a:r>
          </a:p>
          <a:p>
            <a:r>
              <a:rPr lang="en-GB" sz="4000" dirty="0"/>
              <a:t>Continuous Integration (CI) involves the practice of developers regularly committing code to a central repository, ensuring early and easier error detection. Continuous Deployment (CD) involves automatically testing code changes and deploying them to production environments, minimizing the need for manual intervention.</a:t>
            </a:r>
          </a:p>
          <a:p>
            <a:r>
              <a:rPr lang="en-GB" sz="4000" dirty="0"/>
              <a:t>A CI/CD pipeline encompasses the process from code development to testing, containerization, and deployment to production environments. During the CI process, code changes are automatically tested whenever they are integrated into the repository.</a:t>
            </a:r>
          </a:p>
        </p:txBody>
      </p:sp>
    </p:spTree>
    <p:extLst>
      <p:ext uri="{BB962C8B-B14F-4D97-AF65-F5344CB8AC3E}">
        <p14:creationId xmlns:p14="http://schemas.microsoft.com/office/powerpoint/2010/main" val="2435946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4579161B-AD17-9633-6DDE-058BFFCAB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BA1FD-F4B5-4D9F-F1A1-DCA6EF6DD090}"/>
              </a:ext>
            </a:extLst>
          </p:cNvPr>
          <p:cNvSpPr>
            <a:spLocks noGrp="1"/>
          </p:cNvSpPr>
          <p:nvPr>
            <p:ph type="title"/>
          </p:nvPr>
        </p:nvSpPr>
        <p:spPr>
          <a:xfrm>
            <a:off x="685802" y="209550"/>
            <a:ext cx="6282266" cy="1456267"/>
          </a:xfrm>
        </p:spPr>
        <p:txBody>
          <a:bodyPr>
            <a:normAutofit fontScale="90000"/>
          </a:bodyPr>
          <a:lstStyle/>
          <a:p>
            <a:r>
              <a:rPr lang="en-GB" dirty="0"/>
              <a:t>Secure Software Development Life Cycle (SSDLC)</a:t>
            </a:r>
            <a:endParaRPr lang="en-GB" b="1" dirty="0"/>
          </a:p>
        </p:txBody>
      </p:sp>
      <p:sp>
        <p:nvSpPr>
          <p:cNvPr id="5" name="Rectangle 2">
            <a:extLst>
              <a:ext uri="{FF2B5EF4-FFF2-40B4-BE49-F238E27FC236}">
                <a16:creationId xmlns:a16="http://schemas.microsoft.com/office/drawing/2014/main" id="{C320FCA0-5CB2-7B78-4F2D-82CC64DEC1FB}"/>
              </a:ext>
            </a:extLst>
          </p:cNvPr>
          <p:cNvSpPr>
            <a:spLocks noGrp="1" noChangeArrowheads="1"/>
          </p:cNvSpPr>
          <p:nvPr>
            <p:ph idx="1"/>
          </p:nvPr>
        </p:nvSpPr>
        <p:spPr bwMode="auto">
          <a:xfrm>
            <a:off x="685802" y="1881717"/>
            <a:ext cx="7823198" cy="4631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r>
              <a:rPr lang="en-GB" dirty="0"/>
              <a:t>The </a:t>
            </a:r>
            <a:r>
              <a:rPr lang="en-GB" b="1" dirty="0"/>
              <a:t>Secure Software Development Life Cycle (SSDLC)</a:t>
            </a:r>
            <a:r>
              <a:rPr lang="en-GB" dirty="0"/>
              <a:t> is a development process that integrates </a:t>
            </a:r>
            <a:r>
              <a:rPr lang="en-GB" b="1" dirty="0"/>
              <a:t>security practices into every phase of software development</a:t>
            </a:r>
            <a:r>
              <a:rPr lang="en-GB" dirty="0"/>
              <a:t>.</a:t>
            </a:r>
          </a:p>
          <a:p>
            <a:r>
              <a:rPr lang="en-GB" dirty="0"/>
              <a:t>Instead of testing security </a:t>
            </a:r>
            <a:r>
              <a:rPr lang="en-GB" b="1" dirty="0"/>
              <a:t>after development</a:t>
            </a:r>
            <a:r>
              <a:rPr lang="en-GB" dirty="0"/>
              <a:t>, SSDLC ensures that security is </a:t>
            </a:r>
            <a:r>
              <a:rPr lang="en-GB" b="1" dirty="0"/>
              <a:t>considered from the beginning of the project until deployment and maintenance</a:t>
            </a:r>
            <a:r>
              <a:rPr lang="en-GB" dirty="0"/>
              <a:t>.</a:t>
            </a:r>
          </a:p>
          <a:p>
            <a:r>
              <a:rPr lang="en-GB" sz="2200" b="1" dirty="0"/>
              <a:t>SSDLC helps organizations:</a:t>
            </a:r>
          </a:p>
          <a:p>
            <a:pPr lvl="1"/>
            <a:r>
              <a:rPr lang="en-GB" dirty="0"/>
              <a:t>Detect vulnerabilities early</a:t>
            </a:r>
          </a:p>
          <a:p>
            <a:pPr lvl="1"/>
            <a:r>
              <a:rPr lang="en-GB" dirty="0"/>
              <a:t>Reduce cost of fixing security issues</a:t>
            </a:r>
          </a:p>
          <a:p>
            <a:pPr lvl="1"/>
            <a:r>
              <a:rPr lang="en-GB" dirty="0"/>
              <a:t>Protect sensitive data</a:t>
            </a:r>
          </a:p>
          <a:p>
            <a:pPr lvl="1"/>
            <a:r>
              <a:rPr lang="en-GB" dirty="0"/>
              <a:t>Build secure and reliable systems</a:t>
            </a:r>
          </a:p>
          <a:p>
            <a:pPr lvl="1"/>
            <a:r>
              <a:rPr lang="en-GB" dirty="0"/>
              <a:t>Improve compliance with security standards</a:t>
            </a:r>
          </a:p>
          <a:p>
            <a:pPr lvl="1"/>
            <a:r>
              <a:rPr lang="en-GB" dirty="0"/>
              <a:t>Fixing a vulnerability during </a:t>
            </a:r>
            <a:r>
              <a:rPr lang="en-GB" b="1" dirty="0"/>
              <a:t>design</a:t>
            </a:r>
            <a:r>
              <a:rPr lang="en-GB" dirty="0"/>
              <a:t> is much cheaper than fixing it </a:t>
            </a:r>
            <a:r>
              <a:rPr lang="en-GB" b="1" dirty="0"/>
              <a:t>after production</a:t>
            </a:r>
            <a:r>
              <a:rPr lang="en-GB" dirty="0"/>
              <a:t>.</a:t>
            </a:r>
          </a:p>
          <a:p>
            <a:endParaRPr lang="en-GB" dirty="0"/>
          </a:p>
        </p:txBody>
      </p:sp>
    </p:spTree>
    <p:extLst>
      <p:ext uri="{BB962C8B-B14F-4D97-AF65-F5344CB8AC3E}">
        <p14:creationId xmlns:p14="http://schemas.microsoft.com/office/powerpoint/2010/main" val="1731892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B143BB4-DF45-F5F5-241D-BD80CA4BE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3AE38-0C19-3FD2-626E-E81CA43B8B58}"/>
              </a:ext>
            </a:extLst>
          </p:cNvPr>
          <p:cNvSpPr>
            <a:spLocks noGrp="1"/>
          </p:cNvSpPr>
          <p:nvPr>
            <p:ph type="title"/>
          </p:nvPr>
        </p:nvSpPr>
        <p:spPr>
          <a:xfrm>
            <a:off x="685801" y="609600"/>
            <a:ext cx="5219699" cy="1456267"/>
          </a:xfrm>
        </p:spPr>
        <p:txBody>
          <a:bodyPr>
            <a:normAutofit/>
          </a:bodyPr>
          <a:lstStyle/>
          <a:p>
            <a:r>
              <a:rPr lang="en-US" dirty="0"/>
              <a:t>SSDLC Phases</a:t>
            </a:r>
            <a:endParaRPr lang="en-GB" b="1" dirty="0"/>
          </a:p>
        </p:txBody>
      </p:sp>
      <p:sp>
        <p:nvSpPr>
          <p:cNvPr id="5" name="Rectangle 2">
            <a:extLst>
              <a:ext uri="{FF2B5EF4-FFF2-40B4-BE49-F238E27FC236}">
                <a16:creationId xmlns:a16="http://schemas.microsoft.com/office/drawing/2014/main" id="{E5A972AB-086A-6C07-7B95-921058357DD3}"/>
              </a:ext>
            </a:extLst>
          </p:cNvPr>
          <p:cNvSpPr>
            <a:spLocks noGrp="1" noChangeArrowheads="1"/>
          </p:cNvSpPr>
          <p:nvPr>
            <p:ph idx="1"/>
          </p:nvPr>
        </p:nvSpPr>
        <p:spPr bwMode="auto">
          <a:xfrm>
            <a:off x="685801" y="2142067"/>
            <a:ext cx="5219699"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GB" dirty="0"/>
              <a:t>The Secure Software Development Life Cycle includes the following phases:</a:t>
            </a:r>
          </a:p>
          <a:p>
            <a:pPr lvl="1"/>
            <a:r>
              <a:rPr lang="en-GB" b="1" dirty="0"/>
              <a:t>Planning &amp; Requirements</a:t>
            </a:r>
            <a:endParaRPr lang="en-GB" dirty="0"/>
          </a:p>
          <a:p>
            <a:pPr lvl="1"/>
            <a:r>
              <a:rPr lang="en-GB" b="1" dirty="0"/>
              <a:t>Secure Design</a:t>
            </a:r>
            <a:endParaRPr lang="en-GB" dirty="0"/>
          </a:p>
          <a:p>
            <a:pPr lvl="1"/>
            <a:r>
              <a:rPr lang="en-GB" b="1" dirty="0"/>
              <a:t>Secure Development</a:t>
            </a:r>
            <a:endParaRPr lang="en-GB" dirty="0"/>
          </a:p>
          <a:p>
            <a:pPr lvl="1"/>
            <a:r>
              <a:rPr lang="en-GB" b="1" dirty="0"/>
              <a:t>Security Testing</a:t>
            </a:r>
            <a:endParaRPr lang="en-GB" dirty="0"/>
          </a:p>
          <a:p>
            <a:pPr lvl="1"/>
            <a:r>
              <a:rPr lang="en-GB" b="1" dirty="0"/>
              <a:t>Deployment</a:t>
            </a:r>
            <a:endParaRPr lang="en-GB" dirty="0"/>
          </a:p>
          <a:p>
            <a:pPr lvl="1"/>
            <a:r>
              <a:rPr lang="en-GB" b="1" dirty="0"/>
              <a:t>Maintenance &amp; Monitoring</a:t>
            </a:r>
            <a:endParaRPr lang="en-GB" dirty="0"/>
          </a:p>
          <a:p>
            <a:r>
              <a:rPr lang="en-GB" dirty="0"/>
              <a:t>Security activities are integrated into </a:t>
            </a:r>
            <a:r>
              <a:rPr lang="en-GB" b="1" dirty="0"/>
              <a:t>each stage of development</a:t>
            </a:r>
            <a:r>
              <a:rPr lang="en-GB" dirty="0"/>
              <a:t>.</a:t>
            </a:r>
          </a:p>
        </p:txBody>
      </p:sp>
      <p:pic>
        <p:nvPicPr>
          <p:cNvPr id="4" name="Picture 3">
            <a:extLst>
              <a:ext uri="{FF2B5EF4-FFF2-40B4-BE49-F238E27FC236}">
                <a16:creationId xmlns:a16="http://schemas.microsoft.com/office/drawing/2014/main" id="{4C389A74-CBA2-405D-27A9-AE9A05C27F61}"/>
              </a:ext>
            </a:extLst>
          </p:cNvPr>
          <p:cNvPicPr>
            <a:picLocks noChangeAspect="1"/>
          </p:cNvPicPr>
          <p:nvPr/>
        </p:nvPicPr>
        <p:blipFill>
          <a:blip r:embed="rId3"/>
          <a:srcRect r="2" b="3612"/>
          <a:stretch>
            <a:fillRect/>
          </a:stretch>
        </p:blipFill>
        <p:spPr>
          <a:xfrm>
            <a:off x="6198830" y="639097"/>
            <a:ext cx="5447070" cy="5250425"/>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859385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98C27271-0B58-DDB6-2C8E-9C641AAEF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2700C-B16A-382D-85C8-E6B9287A4ABB}"/>
              </a:ext>
            </a:extLst>
          </p:cNvPr>
          <p:cNvSpPr>
            <a:spLocks noGrp="1"/>
          </p:cNvSpPr>
          <p:nvPr>
            <p:ph type="title"/>
          </p:nvPr>
        </p:nvSpPr>
        <p:spPr>
          <a:xfrm>
            <a:off x="685801" y="609600"/>
            <a:ext cx="6733094" cy="1456267"/>
          </a:xfrm>
        </p:spPr>
        <p:txBody>
          <a:bodyPr>
            <a:normAutofit/>
          </a:bodyPr>
          <a:lstStyle/>
          <a:p>
            <a:r>
              <a:rPr lang="en-GB" dirty="0"/>
              <a:t>OWASP Top 10: SQL Injection</a:t>
            </a:r>
            <a:endParaRPr lang="en-GB" b="1" dirty="0"/>
          </a:p>
        </p:txBody>
      </p:sp>
      <p:sp>
        <p:nvSpPr>
          <p:cNvPr id="5" name="Rectangle 2">
            <a:extLst>
              <a:ext uri="{FF2B5EF4-FFF2-40B4-BE49-F238E27FC236}">
                <a16:creationId xmlns:a16="http://schemas.microsoft.com/office/drawing/2014/main" id="{143ED63A-7693-3C76-4BE3-669A15AB8A5B}"/>
              </a:ext>
            </a:extLst>
          </p:cNvPr>
          <p:cNvSpPr>
            <a:spLocks noGrp="1" noChangeArrowheads="1"/>
          </p:cNvSpPr>
          <p:nvPr>
            <p:ph idx="1"/>
          </p:nvPr>
        </p:nvSpPr>
        <p:spPr bwMode="auto">
          <a:xfrm>
            <a:off x="685801" y="2142067"/>
            <a:ext cx="9221770"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GB" dirty="0"/>
              <a:t>SQL Injection is a vulnerability that occurs when </a:t>
            </a:r>
            <a:r>
              <a:rPr lang="en-GB" b="1" dirty="0"/>
              <a:t>untrusted user input is included in SQL queries without proper validation or parameterization</a:t>
            </a:r>
            <a:r>
              <a:rPr lang="en-GB" dirty="0"/>
              <a:t>.</a:t>
            </a:r>
          </a:p>
          <a:p>
            <a:r>
              <a:rPr lang="en-GB" dirty="0"/>
              <a:t>This allows attackers to manipulate database queries and perform unintended actions such as:</a:t>
            </a:r>
          </a:p>
          <a:p>
            <a:pPr lvl="1"/>
            <a:r>
              <a:rPr lang="en-GB" dirty="0"/>
              <a:t>Accessing sensitive data</a:t>
            </a:r>
          </a:p>
          <a:p>
            <a:pPr lvl="1"/>
            <a:r>
              <a:rPr lang="en-GB" dirty="0"/>
              <a:t>Modifying or deleting records</a:t>
            </a:r>
          </a:p>
          <a:p>
            <a:pPr lvl="1"/>
            <a:r>
              <a:rPr lang="en-GB" dirty="0"/>
              <a:t>Bypassing authentication</a:t>
            </a:r>
          </a:p>
          <a:p>
            <a:pPr lvl="1"/>
            <a:r>
              <a:rPr lang="en-GB" dirty="0"/>
              <a:t>Executing administrative operations</a:t>
            </a:r>
          </a:p>
          <a:p>
            <a:endParaRPr lang="en-GB" dirty="0"/>
          </a:p>
        </p:txBody>
      </p:sp>
    </p:spTree>
    <p:extLst>
      <p:ext uri="{BB962C8B-B14F-4D97-AF65-F5344CB8AC3E}">
        <p14:creationId xmlns:p14="http://schemas.microsoft.com/office/powerpoint/2010/main" val="1885272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FD33C165-D6D0-3D9E-ABEC-8BD17A0AB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F02AF-3523-1C8D-4301-B9E2DB646C5B}"/>
              </a:ext>
            </a:extLst>
          </p:cNvPr>
          <p:cNvSpPr>
            <a:spLocks noGrp="1"/>
          </p:cNvSpPr>
          <p:nvPr>
            <p:ph type="title"/>
          </p:nvPr>
        </p:nvSpPr>
        <p:spPr>
          <a:xfrm>
            <a:off x="685801" y="609600"/>
            <a:ext cx="6733094" cy="1456267"/>
          </a:xfrm>
        </p:spPr>
        <p:txBody>
          <a:bodyPr>
            <a:normAutofit/>
          </a:bodyPr>
          <a:lstStyle/>
          <a:p>
            <a:r>
              <a:rPr lang="en-GB" dirty="0"/>
              <a:t>OWASP Top 10: SQL Injection</a:t>
            </a:r>
            <a:endParaRPr lang="en-GB" b="1" dirty="0"/>
          </a:p>
        </p:txBody>
      </p:sp>
      <p:sp>
        <p:nvSpPr>
          <p:cNvPr id="5" name="Rectangle 2">
            <a:extLst>
              <a:ext uri="{FF2B5EF4-FFF2-40B4-BE49-F238E27FC236}">
                <a16:creationId xmlns:a16="http://schemas.microsoft.com/office/drawing/2014/main" id="{BA358970-9A68-0313-A9F9-957793E45F03}"/>
              </a:ext>
            </a:extLst>
          </p:cNvPr>
          <p:cNvSpPr>
            <a:spLocks noGrp="1" noChangeArrowheads="1"/>
          </p:cNvSpPr>
          <p:nvPr>
            <p:ph idx="1"/>
          </p:nvPr>
        </p:nvSpPr>
        <p:spPr bwMode="auto">
          <a:xfrm>
            <a:off x="685801" y="2142067"/>
            <a:ext cx="9221770"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GB" b="1" dirty="0"/>
              <a:t>Why SQL Injection Happens</a:t>
            </a:r>
          </a:p>
          <a:p>
            <a:r>
              <a:rPr lang="en-GB" dirty="0"/>
              <a:t>SQL Injection occurs when developers </a:t>
            </a:r>
            <a:r>
              <a:rPr lang="en-GB" b="1" dirty="0"/>
              <a:t>concatenate user input directly into SQL queries</a:t>
            </a:r>
            <a:r>
              <a:rPr lang="en-GB" dirty="0"/>
              <a:t>.</a:t>
            </a:r>
          </a:p>
          <a:p>
            <a:r>
              <a:rPr lang="en-GB" dirty="0"/>
              <a:t>Example (Insecure):</a:t>
            </a:r>
          </a:p>
          <a:p>
            <a:pPr lvl="1"/>
            <a:r>
              <a:rPr lang="en-GB" dirty="0"/>
              <a:t>SELECT * FROM users WHERE username = ‘INPUT' AND password = 'INPUT';</a:t>
            </a:r>
          </a:p>
          <a:p>
            <a:r>
              <a:rPr lang="en-GB" dirty="0"/>
              <a:t>If user input is inserted directly into the query, attackers can modify the logic of the query.</a:t>
            </a:r>
          </a:p>
          <a:p>
            <a:r>
              <a:rPr lang="en-GB" dirty="0"/>
              <a:t>Root cause:</a:t>
            </a:r>
          </a:p>
          <a:p>
            <a:pPr lvl="1"/>
            <a:r>
              <a:rPr lang="en-GB" dirty="0"/>
              <a:t>Lack of input handling</a:t>
            </a:r>
          </a:p>
          <a:p>
            <a:pPr lvl="1"/>
            <a:r>
              <a:rPr lang="en-GB" dirty="0"/>
              <a:t>Dynamic query construction</a:t>
            </a:r>
          </a:p>
          <a:p>
            <a:pPr lvl="1"/>
            <a:r>
              <a:rPr lang="en-GB" dirty="0"/>
              <a:t>Missing parameterized queries</a:t>
            </a:r>
          </a:p>
          <a:p>
            <a:endParaRPr lang="en-GB" dirty="0"/>
          </a:p>
        </p:txBody>
      </p:sp>
    </p:spTree>
    <p:extLst>
      <p:ext uri="{BB962C8B-B14F-4D97-AF65-F5344CB8AC3E}">
        <p14:creationId xmlns:p14="http://schemas.microsoft.com/office/powerpoint/2010/main" val="450711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583025E-C3B5-B541-321A-A61825262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9D5BB-340F-C37E-BD72-3CC26D031896}"/>
              </a:ext>
            </a:extLst>
          </p:cNvPr>
          <p:cNvSpPr>
            <a:spLocks noGrp="1"/>
          </p:cNvSpPr>
          <p:nvPr>
            <p:ph type="title"/>
          </p:nvPr>
        </p:nvSpPr>
        <p:spPr>
          <a:xfrm>
            <a:off x="685801" y="609600"/>
            <a:ext cx="6733094" cy="1456267"/>
          </a:xfrm>
        </p:spPr>
        <p:txBody>
          <a:bodyPr>
            <a:normAutofit/>
          </a:bodyPr>
          <a:lstStyle/>
          <a:p>
            <a:r>
              <a:rPr lang="en-GB" dirty="0"/>
              <a:t>OWASP Top 10: SQL Injection</a:t>
            </a:r>
            <a:endParaRPr lang="en-GB" b="1" dirty="0"/>
          </a:p>
        </p:txBody>
      </p:sp>
      <p:sp>
        <p:nvSpPr>
          <p:cNvPr id="5" name="Rectangle 2">
            <a:extLst>
              <a:ext uri="{FF2B5EF4-FFF2-40B4-BE49-F238E27FC236}">
                <a16:creationId xmlns:a16="http://schemas.microsoft.com/office/drawing/2014/main" id="{EEEFD3AE-CB17-B0A6-399B-842FD38ED343}"/>
              </a:ext>
            </a:extLst>
          </p:cNvPr>
          <p:cNvSpPr>
            <a:spLocks noGrp="1" noChangeArrowheads="1"/>
          </p:cNvSpPr>
          <p:nvPr>
            <p:ph idx="1"/>
          </p:nvPr>
        </p:nvSpPr>
        <p:spPr bwMode="auto">
          <a:xfrm>
            <a:off x="685801" y="2142067"/>
            <a:ext cx="9221770"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US" b="1" dirty="0"/>
              <a:t>Vulnerable Code Example</a:t>
            </a:r>
          </a:p>
          <a:p>
            <a:r>
              <a:rPr lang="en-US" dirty="0"/>
              <a:t>Example in PHP:</a:t>
            </a:r>
          </a:p>
          <a:p>
            <a:pPr lvl="1"/>
            <a:r>
              <a:rPr lang="en-US" dirty="0"/>
              <a:t>$username = $_POST['username'];</a:t>
            </a:r>
            <a:br>
              <a:rPr lang="en-US" dirty="0"/>
            </a:br>
            <a:r>
              <a:rPr lang="en-US" dirty="0"/>
              <a:t>$password = $_POST['password'];</a:t>
            </a:r>
            <a:br>
              <a:rPr lang="en-US" dirty="0"/>
            </a:br>
            <a:br>
              <a:rPr lang="en-US" dirty="0"/>
            </a:br>
            <a:r>
              <a:rPr lang="en-US" dirty="0"/>
              <a:t>$query = "SELECT * FROM users WHERE username='$username' AND password='$password'";</a:t>
            </a:r>
            <a:br>
              <a:rPr lang="en-US" dirty="0"/>
            </a:br>
            <a:r>
              <a:rPr lang="en-US" dirty="0"/>
              <a:t>$result = </a:t>
            </a:r>
            <a:r>
              <a:rPr lang="en-US" dirty="0" err="1"/>
              <a:t>mysqli_query</a:t>
            </a:r>
            <a:r>
              <a:rPr lang="en-US" dirty="0"/>
              <a:t>($conn, $query);</a:t>
            </a:r>
          </a:p>
          <a:p>
            <a:r>
              <a:rPr lang="en-US" dirty="0"/>
              <a:t>Problem:</a:t>
            </a:r>
          </a:p>
          <a:p>
            <a:pPr lvl="1"/>
            <a:r>
              <a:rPr lang="en-US" dirty="0"/>
              <a:t>User input is </a:t>
            </a:r>
            <a:r>
              <a:rPr lang="en-US" b="1" dirty="0"/>
              <a:t>directly concatenated into the SQL query</a:t>
            </a:r>
            <a:r>
              <a:rPr lang="en-US" dirty="0"/>
              <a:t>.</a:t>
            </a:r>
          </a:p>
          <a:p>
            <a:endParaRPr lang="en-GB" dirty="0"/>
          </a:p>
        </p:txBody>
      </p:sp>
    </p:spTree>
    <p:extLst>
      <p:ext uri="{BB962C8B-B14F-4D97-AF65-F5344CB8AC3E}">
        <p14:creationId xmlns:p14="http://schemas.microsoft.com/office/powerpoint/2010/main" val="23185539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F84F2E8-649C-8512-7F4D-BBC8D4D88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5AD0F-6455-8B7D-0468-B63747AF5742}"/>
              </a:ext>
            </a:extLst>
          </p:cNvPr>
          <p:cNvSpPr>
            <a:spLocks noGrp="1"/>
          </p:cNvSpPr>
          <p:nvPr>
            <p:ph type="title"/>
          </p:nvPr>
        </p:nvSpPr>
        <p:spPr>
          <a:xfrm>
            <a:off x="685801" y="609600"/>
            <a:ext cx="6733094" cy="1456267"/>
          </a:xfrm>
        </p:spPr>
        <p:txBody>
          <a:bodyPr>
            <a:normAutofit/>
          </a:bodyPr>
          <a:lstStyle/>
          <a:p>
            <a:r>
              <a:rPr lang="en-GB" dirty="0"/>
              <a:t>OWASP Top 10: SQL Injection</a:t>
            </a:r>
            <a:endParaRPr lang="en-GB" b="1" dirty="0"/>
          </a:p>
        </p:txBody>
      </p:sp>
      <p:sp>
        <p:nvSpPr>
          <p:cNvPr id="5" name="Rectangle 2">
            <a:extLst>
              <a:ext uri="{FF2B5EF4-FFF2-40B4-BE49-F238E27FC236}">
                <a16:creationId xmlns:a16="http://schemas.microsoft.com/office/drawing/2014/main" id="{3DA58A0B-4E02-EE89-9CBA-04F7B2E6CFDC}"/>
              </a:ext>
            </a:extLst>
          </p:cNvPr>
          <p:cNvSpPr>
            <a:spLocks noGrp="1" noChangeArrowheads="1"/>
          </p:cNvSpPr>
          <p:nvPr>
            <p:ph idx="1"/>
          </p:nvPr>
        </p:nvSpPr>
        <p:spPr bwMode="auto">
          <a:xfrm>
            <a:off x="685801" y="2142067"/>
            <a:ext cx="9221770"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GB" b="1" dirty="0"/>
              <a:t>Example Attack</a:t>
            </a:r>
          </a:p>
          <a:p>
            <a:r>
              <a:rPr lang="en-GB" dirty="0"/>
              <a:t>If an attacker enters:</a:t>
            </a:r>
          </a:p>
          <a:p>
            <a:pPr lvl="1"/>
            <a:r>
              <a:rPr lang="en-GB" dirty="0"/>
              <a:t>username: admin</a:t>
            </a:r>
            <a:br>
              <a:rPr lang="en-GB" dirty="0"/>
            </a:br>
            <a:r>
              <a:rPr lang="en-GB" dirty="0"/>
              <a:t>password: ' OR '1'=‘1The query becomes:</a:t>
            </a:r>
          </a:p>
          <a:p>
            <a:pPr lvl="1"/>
            <a:r>
              <a:rPr lang="en-GB" dirty="0"/>
              <a:t>SELECT * FROM users </a:t>
            </a:r>
            <a:br>
              <a:rPr lang="en-GB" dirty="0"/>
            </a:br>
            <a:r>
              <a:rPr lang="en-GB" dirty="0"/>
              <a:t>WHERE username='admin' AND password='' OR '1'='1'</a:t>
            </a:r>
          </a:p>
          <a:p>
            <a:r>
              <a:rPr lang="en-GB" dirty="0"/>
              <a:t>Since '1'='1' is always true, the attacker may </a:t>
            </a:r>
            <a:r>
              <a:rPr lang="en-GB" b="1" dirty="0"/>
              <a:t>bypass authentication</a:t>
            </a:r>
            <a:r>
              <a:rPr lang="en-GB" dirty="0"/>
              <a:t>.</a:t>
            </a:r>
          </a:p>
          <a:p>
            <a:endParaRPr lang="en-GB" dirty="0"/>
          </a:p>
        </p:txBody>
      </p:sp>
    </p:spTree>
    <p:extLst>
      <p:ext uri="{BB962C8B-B14F-4D97-AF65-F5344CB8AC3E}">
        <p14:creationId xmlns:p14="http://schemas.microsoft.com/office/powerpoint/2010/main" val="3016594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C93D4728-5920-A403-383D-C0AF0D49D2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88175-1431-EC81-C32A-0FA6FCFED65B}"/>
              </a:ext>
            </a:extLst>
          </p:cNvPr>
          <p:cNvSpPr>
            <a:spLocks noGrp="1"/>
          </p:cNvSpPr>
          <p:nvPr>
            <p:ph type="title"/>
          </p:nvPr>
        </p:nvSpPr>
        <p:spPr>
          <a:xfrm>
            <a:off x="685801" y="609600"/>
            <a:ext cx="6733094" cy="1456267"/>
          </a:xfrm>
        </p:spPr>
        <p:txBody>
          <a:bodyPr>
            <a:normAutofit/>
          </a:bodyPr>
          <a:lstStyle/>
          <a:p>
            <a:r>
              <a:rPr lang="en-GB" dirty="0"/>
              <a:t>OWASP Top 10: SQL Injection</a:t>
            </a:r>
            <a:endParaRPr lang="en-GB" b="1" dirty="0"/>
          </a:p>
        </p:txBody>
      </p:sp>
      <p:sp>
        <p:nvSpPr>
          <p:cNvPr id="5" name="Rectangle 2">
            <a:extLst>
              <a:ext uri="{FF2B5EF4-FFF2-40B4-BE49-F238E27FC236}">
                <a16:creationId xmlns:a16="http://schemas.microsoft.com/office/drawing/2014/main" id="{70772849-CB35-4BEC-8A7F-21FDC147407F}"/>
              </a:ext>
            </a:extLst>
          </p:cNvPr>
          <p:cNvSpPr>
            <a:spLocks noGrp="1" noChangeArrowheads="1"/>
          </p:cNvSpPr>
          <p:nvPr>
            <p:ph idx="1"/>
          </p:nvPr>
        </p:nvSpPr>
        <p:spPr bwMode="auto">
          <a:xfrm>
            <a:off x="685801" y="2142067"/>
            <a:ext cx="9221770"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GB" b="1" dirty="0"/>
              <a:t>Impact of SQL Injection</a:t>
            </a:r>
          </a:p>
          <a:p>
            <a:r>
              <a:rPr lang="en-GB" dirty="0"/>
              <a:t>SQL Injection can lead to:</a:t>
            </a:r>
          </a:p>
          <a:p>
            <a:pPr lvl="1"/>
            <a:r>
              <a:rPr lang="en-GB" dirty="0"/>
              <a:t>Authentication bypass</a:t>
            </a:r>
          </a:p>
          <a:p>
            <a:pPr lvl="1"/>
            <a:r>
              <a:rPr lang="en-GB" dirty="0"/>
              <a:t>Data leakage</a:t>
            </a:r>
          </a:p>
          <a:p>
            <a:pPr lvl="1"/>
            <a:r>
              <a:rPr lang="en-GB" dirty="0"/>
              <a:t>Database modification</a:t>
            </a:r>
          </a:p>
          <a:p>
            <a:pPr lvl="1"/>
            <a:r>
              <a:rPr lang="en-GB" dirty="0"/>
              <a:t>Privilege escalation</a:t>
            </a:r>
          </a:p>
          <a:p>
            <a:pPr lvl="1"/>
            <a:r>
              <a:rPr lang="en-GB" dirty="0"/>
              <a:t>Full database compromise</a:t>
            </a:r>
          </a:p>
          <a:p>
            <a:r>
              <a:rPr lang="en-GB" dirty="0"/>
              <a:t>In severe cases it may lead to </a:t>
            </a:r>
            <a:r>
              <a:rPr lang="en-GB" b="1" dirty="0"/>
              <a:t>remote command execution on the server</a:t>
            </a:r>
            <a:r>
              <a:rPr lang="en-GB" dirty="0"/>
              <a:t>.</a:t>
            </a:r>
          </a:p>
          <a:p>
            <a:endParaRPr lang="en-GB" dirty="0"/>
          </a:p>
        </p:txBody>
      </p:sp>
    </p:spTree>
    <p:extLst>
      <p:ext uri="{BB962C8B-B14F-4D97-AF65-F5344CB8AC3E}">
        <p14:creationId xmlns:p14="http://schemas.microsoft.com/office/powerpoint/2010/main" val="3622024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56ADFDAC-E25D-3691-5F8D-286D98D2A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E6543-D416-5299-4807-16782E2AA29D}"/>
              </a:ext>
            </a:extLst>
          </p:cNvPr>
          <p:cNvSpPr>
            <a:spLocks noGrp="1"/>
          </p:cNvSpPr>
          <p:nvPr>
            <p:ph type="title"/>
          </p:nvPr>
        </p:nvSpPr>
        <p:spPr>
          <a:xfrm>
            <a:off x="685801" y="609600"/>
            <a:ext cx="6733094" cy="1456267"/>
          </a:xfrm>
        </p:spPr>
        <p:txBody>
          <a:bodyPr>
            <a:normAutofit/>
          </a:bodyPr>
          <a:lstStyle/>
          <a:p>
            <a:r>
              <a:rPr lang="en-GB" dirty="0"/>
              <a:t>OWASP Top 10: SQL Injection</a:t>
            </a:r>
            <a:endParaRPr lang="en-GB" b="1" dirty="0"/>
          </a:p>
        </p:txBody>
      </p:sp>
      <p:sp>
        <p:nvSpPr>
          <p:cNvPr id="5" name="Rectangle 2">
            <a:extLst>
              <a:ext uri="{FF2B5EF4-FFF2-40B4-BE49-F238E27FC236}">
                <a16:creationId xmlns:a16="http://schemas.microsoft.com/office/drawing/2014/main" id="{9F2568BF-1E4D-4F06-2E21-338CE5606CFD}"/>
              </a:ext>
            </a:extLst>
          </p:cNvPr>
          <p:cNvSpPr>
            <a:spLocks noGrp="1" noChangeArrowheads="1"/>
          </p:cNvSpPr>
          <p:nvPr>
            <p:ph idx="1"/>
          </p:nvPr>
        </p:nvSpPr>
        <p:spPr bwMode="auto">
          <a:xfrm>
            <a:off x="685801" y="2142067"/>
            <a:ext cx="9221770"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GB" b="1" dirty="0"/>
              <a:t>Secure Coding Principles</a:t>
            </a:r>
          </a:p>
          <a:p>
            <a:r>
              <a:rPr lang="en-GB" dirty="0"/>
              <a:t>To prevent SQL Injection, developers must follow secure coding practices.</a:t>
            </a:r>
          </a:p>
          <a:p>
            <a:r>
              <a:rPr lang="en-GB" dirty="0"/>
              <a:t>Key principles:</a:t>
            </a:r>
          </a:p>
          <a:p>
            <a:pPr lvl="1"/>
            <a:r>
              <a:rPr lang="en-GB" dirty="0"/>
              <a:t>Never trust user input</a:t>
            </a:r>
          </a:p>
          <a:p>
            <a:pPr lvl="1"/>
            <a:r>
              <a:rPr lang="en-GB" dirty="0"/>
              <a:t>Separate data from code</a:t>
            </a:r>
          </a:p>
          <a:p>
            <a:pPr lvl="1"/>
            <a:r>
              <a:rPr lang="en-GB" dirty="0"/>
              <a:t>Use parameterized queries</a:t>
            </a:r>
          </a:p>
          <a:p>
            <a:pPr lvl="1"/>
            <a:r>
              <a:rPr lang="en-GB" dirty="0"/>
              <a:t>Apply least privilege to database accounts</a:t>
            </a:r>
          </a:p>
          <a:p>
            <a:endParaRPr lang="en-GB" dirty="0"/>
          </a:p>
        </p:txBody>
      </p:sp>
    </p:spTree>
    <p:extLst>
      <p:ext uri="{BB962C8B-B14F-4D97-AF65-F5344CB8AC3E}">
        <p14:creationId xmlns:p14="http://schemas.microsoft.com/office/powerpoint/2010/main" val="6867300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FBA4B32E-7EA9-9241-D70E-423314C60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50ABF-D500-BAE4-BD36-30AF5CE666FC}"/>
              </a:ext>
            </a:extLst>
          </p:cNvPr>
          <p:cNvSpPr>
            <a:spLocks noGrp="1"/>
          </p:cNvSpPr>
          <p:nvPr>
            <p:ph type="title"/>
          </p:nvPr>
        </p:nvSpPr>
        <p:spPr>
          <a:xfrm>
            <a:off x="685801" y="609600"/>
            <a:ext cx="6733094" cy="1456267"/>
          </a:xfrm>
        </p:spPr>
        <p:txBody>
          <a:bodyPr>
            <a:normAutofit/>
          </a:bodyPr>
          <a:lstStyle/>
          <a:p>
            <a:r>
              <a:rPr lang="en-GB" dirty="0"/>
              <a:t>OWASP Top 10: SQL Injection</a:t>
            </a:r>
            <a:endParaRPr lang="en-GB" b="1" dirty="0"/>
          </a:p>
        </p:txBody>
      </p:sp>
      <p:sp>
        <p:nvSpPr>
          <p:cNvPr id="5" name="Rectangle 2">
            <a:extLst>
              <a:ext uri="{FF2B5EF4-FFF2-40B4-BE49-F238E27FC236}">
                <a16:creationId xmlns:a16="http://schemas.microsoft.com/office/drawing/2014/main" id="{8059B037-77B9-7A13-15C9-120E1F16207D}"/>
              </a:ext>
            </a:extLst>
          </p:cNvPr>
          <p:cNvSpPr>
            <a:spLocks noGrp="1" noChangeArrowheads="1"/>
          </p:cNvSpPr>
          <p:nvPr>
            <p:ph idx="1"/>
          </p:nvPr>
        </p:nvSpPr>
        <p:spPr bwMode="auto">
          <a:xfrm>
            <a:off x="685801" y="2142067"/>
            <a:ext cx="9221770"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r>
              <a:rPr lang="en-US" b="1" dirty="0"/>
              <a:t>Parameterized Queries (Best Practice)</a:t>
            </a:r>
          </a:p>
          <a:p>
            <a:r>
              <a:rPr lang="en-US" dirty="0"/>
              <a:t>The </a:t>
            </a:r>
            <a:r>
              <a:rPr lang="en-US" b="1" dirty="0"/>
              <a:t>most effective mitigation</a:t>
            </a:r>
            <a:r>
              <a:rPr lang="en-US" dirty="0"/>
              <a:t> is using </a:t>
            </a:r>
            <a:r>
              <a:rPr lang="en-US" b="1" dirty="0"/>
              <a:t>prepared statements with parameters</a:t>
            </a:r>
            <a:r>
              <a:rPr lang="en-US" dirty="0"/>
              <a:t>.</a:t>
            </a:r>
          </a:p>
          <a:p>
            <a:r>
              <a:rPr lang="en-US" dirty="0"/>
              <a:t>Example (Secure):</a:t>
            </a:r>
          </a:p>
          <a:p>
            <a:r>
              <a:rPr lang="en-US" dirty="0"/>
              <a:t>Java example:</a:t>
            </a:r>
          </a:p>
          <a:p>
            <a:pPr lvl="1"/>
            <a:r>
              <a:rPr lang="en-US" dirty="0"/>
              <a:t>String query = "SELECT * FROM users WHERE username = ? AND password = ?";</a:t>
            </a:r>
            <a:br>
              <a:rPr lang="en-US" dirty="0"/>
            </a:br>
            <a:r>
              <a:rPr lang="en-US" dirty="0" err="1"/>
              <a:t>PreparedStatement</a:t>
            </a:r>
            <a:r>
              <a:rPr lang="en-US" dirty="0"/>
              <a:t> </a:t>
            </a:r>
            <a:r>
              <a:rPr lang="en-US" dirty="0" err="1"/>
              <a:t>stmt</a:t>
            </a:r>
            <a:r>
              <a:rPr lang="en-US" dirty="0"/>
              <a:t> = </a:t>
            </a:r>
            <a:r>
              <a:rPr lang="en-US" dirty="0" err="1"/>
              <a:t>connection.prepareStatement</a:t>
            </a:r>
            <a:r>
              <a:rPr lang="en-US" dirty="0"/>
              <a:t>(query);</a:t>
            </a:r>
            <a:br>
              <a:rPr lang="en-US" dirty="0"/>
            </a:br>
            <a:br>
              <a:rPr lang="en-US" dirty="0"/>
            </a:br>
            <a:r>
              <a:rPr lang="en-US" dirty="0" err="1"/>
              <a:t>stmt.setString</a:t>
            </a:r>
            <a:r>
              <a:rPr lang="en-US" dirty="0"/>
              <a:t>(1, username);</a:t>
            </a:r>
            <a:br>
              <a:rPr lang="en-US" dirty="0"/>
            </a:br>
            <a:r>
              <a:rPr lang="en-US" dirty="0" err="1"/>
              <a:t>stmt.setString</a:t>
            </a:r>
            <a:r>
              <a:rPr lang="en-US" dirty="0"/>
              <a:t>(2, password);</a:t>
            </a:r>
            <a:br>
              <a:rPr lang="en-US" dirty="0"/>
            </a:br>
            <a:br>
              <a:rPr lang="en-US" dirty="0"/>
            </a:br>
            <a:r>
              <a:rPr lang="en-US" dirty="0" err="1"/>
              <a:t>ResultSet</a:t>
            </a:r>
            <a:r>
              <a:rPr lang="en-US" dirty="0"/>
              <a:t> </a:t>
            </a:r>
            <a:r>
              <a:rPr lang="en-US" dirty="0" err="1"/>
              <a:t>rs</a:t>
            </a:r>
            <a:r>
              <a:rPr lang="en-US" dirty="0"/>
              <a:t> = </a:t>
            </a:r>
            <a:r>
              <a:rPr lang="en-US" dirty="0" err="1"/>
              <a:t>stmt.executeQuery</a:t>
            </a:r>
            <a:r>
              <a:rPr lang="en-US" dirty="0"/>
              <a:t>();</a:t>
            </a:r>
          </a:p>
          <a:p>
            <a:r>
              <a:rPr lang="en-US" dirty="0"/>
              <a:t>Here the input is </a:t>
            </a:r>
            <a:r>
              <a:rPr lang="en-US" b="1" dirty="0"/>
              <a:t>treated as data</a:t>
            </a:r>
            <a:r>
              <a:rPr lang="en-US" dirty="0"/>
              <a:t>, not executable SQL.</a:t>
            </a:r>
          </a:p>
          <a:p>
            <a:endParaRPr lang="en-GB" dirty="0"/>
          </a:p>
        </p:txBody>
      </p:sp>
    </p:spTree>
    <p:extLst>
      <p:ext uri="{BB962C8B-B14F-4D97-AF65-F5344CB8AC3E}">
        <p14:creationId xmlns:p14="http://schemas.microsoft.com/office/powerpoint/2010/main" val="1260376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EFD2E57-ADD2-3B09-438F-87B826C57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59847-76AF-075A-1C76-883A2FEB4A38}"/>
              </a:ext>
            </a:extLst>
          </p:cNvPr>
          <p:cNvSpPr>
            <a:spLocks noGrp="1"/>
          </p:cNvSpPr>
          <p:nvPr>
            <p:ph type="title"/>
          </p:nvPr>
        </p:nvSpPr>
        <p:spPr>
          <a:xfrm>
            <a:off x="685801" y="609600"/>
            <a:ext cx="6733094" cy="1456267"/>
          </a:xfrm>
        </p:spPr>
        <p:txBody>
          <a:bodyPr>
            <a:normAutofit/>
          </a:bodyPr>
          <a:lstStyle/>
          <a:p>
            <a:r>
              <a:rPr lang="en-GB" dirty="0"/>
              <a:t>OWASP Top 10: SQL Injection</a:t>
            </a:r>
            <a:endParaRPr lang="en-GB" b="1" dirty="0"/>
          </a:p>
        </p:txBody>
      </p:sp>
      <p:sp>
        <p:nvSpPr>
          <p:cNvPr id="5" name="Rectangle 2">
            <a:extLst>
              <a:ext uri="{FF2B5EF4-FFF2-40B4-BE49-F238E27FC236}">
                <a16:creationId xmlns:a16="http://schemas.microsoft.com/office/drawing/2014/main" id="{86ECE08A-BA30-6AA6-A7F7-3E0A4E891377}"/>
              </a:ext>
            </a:extLst>
          </p:cNvPr>
          <p:cNvSpPr>
            <a:spLocks noGrp="1" noChangeArrowheads="1"/>
          </p:cNvSpPr>
          <p:nvPr>
            <p:ph idx="1"/>
          </p:nvPr>
        </p:nvSpPr>
        <p:spPr bwMode="auto">
          <a:xfrm>
            <a:off x="685801" y="2142067"/>
            <a:ext cx="9221770"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US" b="1" dirty="0"/>
              <a:t>ORM Protection</a:t>
            </a:r>
          </a:p>
          <a:p>
            <a:r>
              <a:rPr lang="en-US" dirty="0"/>
              <a:t>Many modern frameworks use </a:t>
            </a:r>
            <a:r>
              <a:rPr lang="en-US" b="1" dirty="0"/>
              <a:t>ORMs</a:t>
            </a:r>
            <a:r>
              <a:rPr lang="en-US" dirty="0"/>
              <a:t> that reduce SQL Injection risk.</a:t>
            </a:r>
          </a:p>
          <a:p>
            <a:r>
              <a:rPr lang="en-US" dirty="0"/>
              <a:t>Examples:</a:t>
            </a:r>
          </a:p>
          <a:p>
            <a:pPr lvl="1"/>
            <a:r>
              <a:rPr lang="en-US" dirty="0"/>
              <a:t>Django ORM</a:t>
            </a:r>
          </a:p>
          <a:p>
            <a:pPr lvl="1"/>
            <a:r>
              <a:rPr lang="en-US" dirty="0"/>
              <a:t>Hibernate</a:t>
            </a:r>
          </a:p>
          <a:p>
            <a:pPr lvl="1"/>
            <a:r>
              <a:rPr lang="en-US" dirty="0"/>
              <a:t>Entity Framework</a:t>
            </a:r>
          </a:p>
          <a:p>
            <a:r>
              <a:rPr lang="en-US" dirty="0"/>
              <a:t>Example (Django):</a:t>
            </a:r>
          </a:p>
          <a:p>
            <a:pPr lvl="1"/>
            <a:r>
              <a:rPr lang="en-US" dirty="0" err="1"/>
              <a:t>User.objects.filter</a:t>
            </a:r>
            <a:r>
              <a:rPr lang="en-US" dirty="0"/>
              <a:t>(username=username)</a:t>
            </a:r>
          </a:p>
          <a:p>
            <a:r>
              <a:rPr lang="en-US" dirty="0"/>
              <a:t>The ORM automatically </a:t>
            </a:r>
            <a:r>
              <a:rPr lang="en-US" b="1" dirty="0"/>
              <a:t>escapes and parameterizes queries</a:t>
            </a:r>
            <a:r>
              <a:rPr lang="en-US" dirty="0"/>
              <a:t>.</a:t>
            </a:r>
          </a:p>
          <a:p>
            <a:endParaRPr lang="en-GB" dirty="0"/>
          </a:p>
        </p:txBody>
      </p:sp>
    </p:spTree>
    <p:extLst>
      <p:ext uri="{BB962C8B-B14F-4D97-AF65-F5344CB8AC3E}">
        <p14:creationId xmlns:p14="http://schemas.microsoft.com/office/powerpoint/2010/main" val="38903980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31A8923-8C07-BFAF-2358-DF90CF8AC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EBA52-2CFE-3D88-F933-3821343A190E}"/>
              </a:ext>
            </a:extLst>
          </p:cNvPr>
          <p:cNvSpPr>
            <a:spLocks noGrp="1"/>
          </p:cNvSpPr>
          <p:nvPr>
            <p:ph type="title"/>
          </p:nvPr>
        </p:nvSpPr>
        <p:spPr>
          <a:xfrm>
            <a:off x="685801" y="609600"/>
            <a:ext cx="6733094" cy="1456267"/>
          </a:xfrm>
        </p:spPr>
        <p:txBody>
          <a:bodyPr>
            <a:normAutofit/>
          </a:bodyPr>
          <a:lstStyle/>
          <a:p>
            <a:r>
              <a:rPr lang="en-GB" dirty="0"/>
              <a:t>OWASP Top 10: SQL Injection</a:t>
            </a:r>
            <a:endParaRPr lang="en-GB" b="1" dirty="0"/>
          </a:p>
        </p:txBody>
      </p:sp>
      <p:sp>
        <p:nvSpPr>
          <p:cNvPr id="5" name="Rectangle 2">
            <a:extLst>
              <a:ext uri="{FF2B5EF4-FFF2-40B4-BE49-F238E27FC236}">
                <a16:creationId xmlns:a16="http://schemas.microsoft.com/office/drawing/2014/main" id="{9D18B5C8-F10E-9F3C-159C-991DD83982B2}"/>
              </a:ext>
            </a:extLst>
          </p:cNvPr>
          <p:cNvSpPr>
            <a:spLocks noGrp="1" noChangeArrowheads="1"/>
          </p:cNvSpPr>
          <p:nvPr>
            <p:ph idx="1"/>
          </p:nvPr>
        </p:nvSpPr>
        <p:spPr bwMode="auto">
          <a:xfrm>
            <a:off x="685801" y="2142067"/>
            <a:ext cx="9221770"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GB" b="1" dirty="0"/>
              <a:t>Additional Mitigations</a:t>
            </a:r>
          </a:p>
          <a:p>
            <a:r>
              <a:rPr lang="en-GB" dirty="0"/>
              <a:t>Other security controls include:</a:t>
            </a:r>
          </a:p>
          <a:p>
            <a:pPr lvl="1"/>
            <a:r>
              <a:rPr lang="en-GB" dirty="0"/>
              <a:t>Input validation</a:t>
            </a:r>
            <a:br>
              <a:rPr lang="en-GB" dirty="0"/>
            </a:br>
            <a:r>
              <a:rPr lang="en-GB" dirty="0"/>
              <a:t>Allow only expected input formats.</a:t>
            </a:r>
          </a:p>
          <a:p>
            <a:pPr lvl="1"/>
            <a:r>
              <a:rPr lang="en-GB" dirty="0"/>
              <a:t>Least privilege database accounts</a:t>
            </a:r>
            <a:br>
              <a:rPr lang="en-GB" dirty="0"/>
            </a:br>
            <a:r>
              <a:rPr lang="en-GB" dirty="0"/>
              <a:t>Application DB user should not have admin privileges.</a:t>
            </a:r>
          </a:p>
          <a:p>
            <a:pPr lvl="1"/>
            <a:r>
              <a:rPr lang="en-GB" dirty="0"/>
              <a:t>Error handling</a:t>
            </a:r>
            <a:br>
              <a:rPr lang="en-GB" dirty="0"/>
            </a:br>
            <a:r>
              <a:rPr lang="en-GB" dirty="0"/>
              <a:t>Avoid exposing database errors to users.</a:t>
            </a:r>
          </a:p>
          <a:p>
            <a:pPr lvl="1"/>
            <a:r>
              <a:rPr lang="en-GB" dirty="0"/>
              <a:t>Web Application Firewalls (WAF)</a:t>
            </a:r>
            <a:br>
              <a:rPr lang="en-GB" dirty="0"/>
            </a:br>
            <a:r>
              <a:rPr lang="en-GB" dirty="0"/>
              <a:t>Can help detect and block SQL injection attempts.</a:t>
            </a:r>
          </a:p>
          <a:p>
            <a:endParaRPr lang="en-GB" dirty="0"/>
          </a:p>
        </p:txBody>
      </p:sp>
    </p:spTree>
    <p:extLst>
      <p:ext uri="{BB962C8B-B14F-4D97-AF65-F5344CB8AC3E}">
        <p14:creationId xmlns:p14="http://schemas.microsoft.com/office/powerpoint/2010/main" val="12231292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20358F1-4640-40DF-BB79-BDD8AC121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3B623-5147-A38E-059C-4E9D7E00B095}"/>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XSS (Cross-Site Scripting)</a:t>
            </a:r>
            <a:endParaRPr lang="en-GB" b="1" dirty="0"/>
          </a:p>
        </p:txBody>
      </p:sp>
      <p:sp>
        <p:nvSpPr>
          <p:cNvPr id="5" name="Rectangle 2">
            <a:extLst>
              <a:ext uri="{FF2B5EF4-FFF2-40B4-BE49-F238E27FC236}">
                <a16:creationId xmlns:a16="http://schemas.microsoft.com/office/drawing/2014/main" id="{4604A349-BDE3-A0E4-4195-6B8ADB7840CA}"/>
              </a:ext>
            </a:extLst>
          </p:cNvPr>
          <p:cNvSpPr>
            <a:spLocks noGrp="1" noChangeArrowheads="1"/>
          </p:cNvSpPr>
          <p:nvPr>
            <p:ph idx="1"/>
          </p:nvPr>
        </p:nvSpPr>
        <p:spPr bwMode="auto">
          <a:xfrm>
            <a:off x="685801" y="2142067"/>
            <a:ext cx="9221770"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GB" dirty="0"/>
              <a:t>XSS is a vulnerability that allows attackers to </a:t>
            </a:r>
            <a:r>
              <a:rPr lang="en-GB" b="1" dirty="0"/>
              <a:t>inject malicious JavaScript into web pages</a:t>
            </a:r>
            <a:r>
              <a:rPr lang="en-GB" dirty="0"/>
              <a:t>, which is then executed in the victim’s browser.</a:t>
            </a:r>
          </a:p>
          <a:p>
            <a:r>
              <a:rPr lang="en-GB" dirty="0"/>
              <a:t>It is a </a:t>
            </a:r>
            <a:r>
              <a:rPr lang="en-GB" b="1" dirty="0"/>
              <a:t>client-side injection vulnerability</a:t>
            </a:r>
            <a:r>
              <a:rPr lang="en-GB" dirty="0"/>
              <a:t>.</a:t>
            </a:r>
          </a:p>
          <a:p>
            <a:r>
              <a:rPr lang="en-GB" dirty="0"/>
              <a:t>Key idea:</a:t>
            </a:r>
          </a:p>
          <a:p>
            <a:r>
              <a:rPr lang="en-GB" dirty="0"/>
              <a:t>The browser executes attacker-controlled code </a:t>
            </a:r>
            <a:r>
              <a:rPr lang="en-GB" b="1" dirty="0"/>
              <a:t>as if it belongs to your application</a:t>
            </a:r>
            <a:endParaRPr lang="en-GB" dirty="0"/>
          </a:p>
        </p:txBody>
      </p:sp>
    </p:spTree>
    <p:extLst>
      <p:ext uri="{BB962C8B-B14F-4D97-AF65-F5344CB8AC3E}">
        <p14:creationId xmlns:p14="http://schemas.microsoft.com/office/powerpoint/2010/main" val="29631354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12EB4B53-43B9-E18A-53A9-9497F38BC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DFD95D-163C-9622-E21A-60559676C880}"/>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XSS (Cross-Site Scripting)</a:t>
            </a:r>
            <a:endParaRPr lang="en-GB" b="1" dirty="0"/>
          </a:p>
        </p:txBody>
      </p:sp>
      <p:sp>
        <p:nvSpPr>
          <p:cNvPr id="5" name="Rectangle 2">
            <a:extLst>
              <a:ext uri="{FF2B5EF4-FFF2-40B4-BE49-F238E27FC236}">
                <a16:creationId xmlns:a16="http://schemas.microsoft.com/office/drawing/2014/main" id="{6FB16C25-BE7F-2378-6B5D-8F9E0754E057}"/>
              </a:ext>
            </a:extLst>
          </p:cNvPr>
          <p:cNvSpPr>
            <a:spLocks noGrp="1" noChangeArrowheads="1"/>
          </p:cNvSpPr>
          <p:nvPr>
            <p:ph idx="1"/>
          </p:nvPr>
        </p:nvSpPr>
        <p:spPr bwMode="auto">
          <a:xfrm>
            <a:off x="685801" y="2142067"/>
            <a:ext cx="9221770" cy="36491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85000" lnSpcReduction="20000"/>
          </a:bodyPr>
          <a:lstStyle/>
          <a:p>
            <a:r>
              <a:rPr lang="en-GB" dirty="0"/>
              <a:t>XSS occurs when:</a:t>
            </a:r>
          </a:p>
          <a:p>
            <a:pPr lvl="1"/>
            <a:r>
              <a:rPr lang="en-GB" dirty="0"/>
              <a:t>User input is </a:t>
            </a:r>
            <a:r>
              <a:rPr lang="en-GB" b="1" dirty="0"/>
              <a:t>trusted</a:t>
            </a:r>
            <a:endParaRPr lang="en-GB" dirty="0"/>
          </a:p>
          <a:p>
            <a:pPr lvl="1"/>
            <a:r>
              <a:rPr lang="en-GB" dirty="0"/>
              <a:t>Data is </a:t>
            </a:r>
            <a:r>
              <a:rPr lang="en-GB" b="1" dirty="0"/>
              <a:t>rendered without encoding</a:t>
            </a:r>
            <a:endParaRPr lang="en-GB" dirty="0"/>
          </a:p>
          <a:p>
            <a:pPr lvl="1"/>
            <a:r>
              <a:rPr lang="en-GB" dirty="0"/>
              <a:t>JavaScript interacts with </a:t>
            </a:r>
            <a:r>
              <a:rPr lang="en-GB" b="1" dirty="0"/>
              <a:t>unsafe DOM APIs</a:t>
            </a:r>
          </a:p>
          <a:p>
            <a:pPr marL="0" indent="0">
              <a:buNone/>
            </a:pPr>
            <a:endParaRPr lang="en-GB" b="1" dirty="0"/>
          </a:p>
          <a:p>
            <a:pPr marL="0" indent="0">
              <a:buNone/>
            </a:pPr>
            <a:r>
              <a:rPr lang="en-GB" b="1" dirty="0"/>
              <a:t>Vulnerable Code Example</a:t>
            </a:r>
          </a:p>
          <a:p>
            <a:r>
              <a:rPr lang="en-GB" dirty="0"/>
              <a:t>PHP Example:</a:t>
            </a:r>
          </a:p>
          <a:p>
            <a:pPr lvl="1"/>
            <a:r>
              <a:rPr lang="en-GB" dirty="0"/>
              <a:t>$q = $_GET['q'];</a:t>
            </a:r>
            <a:br>
              <a:rPr lang="en-GB" dirty="0"/>
            </a:br>
            <a:r>
              <a:rPr lang="en-GB" dirty="0"/>
              <a:t>echo "&lt;div&gt;$q&lt;/div&gt;";</a:t>
            </a:r>
          </a:p>
          <a:p>
            <a:r>
              <a:rPr lang="en-GB" dirty="0"/>
              <a:t>If input is:</a:t>
            </a:r>
          </a:p>
          <a:p>
            <a:pPr lvl="1"/>
            <a:r>
              <a:rPr lang="en-GB" dirty="0"/>
              <a:t>&lt;script&gt;alert(1)&lt;/script&gt;</a:t>
            </a:r>
          </a:p>
          <a:p>
            <a:r>
              <a:rPr lang="en-GB" dirty="0"/>
              <a:t>The browser executes it.</a:t>
            </a:r>
          </a:p>
          <a:p>
            <a:endParaRPr lang="en-GB" dirty="0"/>
          </a:p>
        </p:txBody>
      </p:sp>
    </p:spTree>
    <p:extLst>
      <p:ext uri="{BB962C8B-B14F-4D97-AF65-F5344CB8AC3E}">
        <p14:creationId xmlns:p14="http://schemas.microsoft.com/office/powerpoint/2010/main" val="11569148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840BDD5-27B2-72E8-7211-0AB947F5D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917F0-939C-C172-13CB-2F5D0C557CE2}"/>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XSS (Cross-Site Scripting)</a:t>
            </a:r>
            <a:endParaRPr lang="en-GB" b="1" dirty="0"/>
          </a:p>
        </p:txBody>
      </p:sp>
      <p:sp>
        <p:nvSpPr>
          <p:cNvPr id="5" name="Rectangle 2">
            <a:extLst>
              <a:ext uri="{FF2B5EF4-FFF2-40B4-BE49-F238E27FC236}">
                <a16:creationId xmlns:a16="http://schemas.microsoft.com/office/drawing/2014/main" id="{F0900B7F-B5E1-2EBA-74C8-0ABBA7B1FF92}"/>
              </a:ext>
            </a:extLst>
          </p:cNvPr>
          <p:cNvSpPr>
            <a:spLocks noGrp="1" noChangeArrowheads="1"/>
          </p:cNvSpPr>
          <p:nvPr>
            <p:ph idx="1"/>
          </p:nvPr>
        </p:nvSpPr>
        <p:spPr bwMode="auto">
          <a:xfrm>
            <a:off x="685801" y="2065867"/>
            <a:ext cx="9785349" cy="4768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62500" lnSpcReduction="20000"/>
          </a:bodyPr>
          <a:lstStyle/>
          <a:p>
            <a:pPr marL="0" indent="0">
              <a:buNone/>
            </a:pPr>
            <a:r>
              <a:rPr lang="en-GB" sz="1900" b="1" dirty="0"/>
              <a:t>Real Impact of XSS</a:t>
            </a:r>
          </a:p>
          <a:p>
            <a:r>
              <a:rPr lang="en-GB" sz="1900" dirty="0"/>
              <a:t>It can lead to:</a:t>
            </a:r>
          </a:p>
          <a:p>
            <a:pPr lvl="1"/>
            <a:r>
              <a:rPr lang="en-GB" sz="1900" dirty="0"/>
              <a:t>Session hijacking (stealing cookies/tokens)</a:t>
            </a:r>
          </a:p>
          <a:p>
            <a:pPr lvl="1"/>
            <a:r>
              <a:rPr lang="en-GB" sz="1900" dirty="0"/>
              <a:t>Account takeover</a:t>
            </a:r>
          </a:p>
          <a:p>
            <a:pPr lvl="1"/>
            <a:r>
              <a:rPr lang="en-GB" sz="1900" dirty="0"/>
              <a:t>Data exfiltration</a:t>
            </a:r>
          </a:p>
          <a:p>
            <a:pPr lvl="1"/>
            <a:r>
              <a:rPr lang="en-GB" sz="1900" dirty="0"/>
              <a:t>Performing actions as the user</a:t>
            </a:r>
          </a:p>
          <a:p>
            <a:pPr lvl="1"/>
            <a:r>
              <a:rPr lang="en-GB" sz="1900" dirty="0"/>
              <a:t>UI manipulation (phishing)</a:t>
            </a:r>
          </a:p>
          <a:p>
            <a:pPr marL="0" indent="0">
              <a:buNone/>
            </a:pPr>
            <a:r>
              <a:rPr lang="en-US" sz="1900" b="1" dirty="0"/>
              <a:t>Types of XSS</a:t>
            </a:r>
          </a:p>
          <a:p>
            <a:r>
              <a:rPr lang="en-US" sz="1900" b="1" dirty="0"/>
              <a:t>Reflected XSS</a:t>
            </a:r>
          </a:p>
          <a:p>
            <a:pPr lvl="1"/>
            <a:r>
              <a:rPr lang="en-US" sz="1900" dirty="0"/>
              <a:t>Input reflected immediately</a:t>
            </a:r>
          </a:p>
          <a:p>
            <a:pPr lvl="1"/>
            <a:r>
              <a:rPr lang="en-US" sz="1900" dirty="0"/>
              <a:t>Example: URL parameters</a:t>
            </a:r>
          </a:p>
          <a:p>
            <a:r>
              <a:rPr lang="en-US" sz="1900" b="1" dirty="0"/>
              <a:t>Stored XSS</a:t>
            </a:r>
          </a:p>
          <a:p>
            <a:pPr lvl="1"/>
            <a:r>
              <a:rPr lang="en-US" sz="1900" dirty="0"/>
              <a:t>Payload stored in database</a:t>
            </a:r>
          </a:p>
          <a:p>
            <a:pPr lvl="1"/>
            <a:r>
              <a:rPr lang="en-US" sz="1900" dirty="0"/>
              <a:t>Affects multiple users</a:t>
            </a:r>
          </a:p>
          <a:p>
            <a:r>
              <a:rPr lang="en-US" sz="1900" b="1" dirty="0"/>
              <a:t>DOM-Based XSS</a:t>
            </a:r>
          </a:p>
          <a:p>
            <a:pPr lvl="1"/>
            <a:r>
              <a:rPr lang="en-US" sz="1900" dirty="0"/>
              <a:t>Happens in frontend JavaScript</a:t>
            </a:r>
          </a:p>
          <a:p>
            <a:pPr lvl="1"/>
            <a:r>
              <a:rPr lang="en-US" sz="1900" dirty="0"/>
              <a:t>No server involvement</a:t>
            </a:r>
          </a:p>
          <a:p>
            <a:endParaRPr lang="en-GB" dirty="0"/>
          </a:p>
        </p:txBody>
      </p:sp>
    </p:spTree>
    <p:extLst>
      <p:ext uri="{BB962C8B-B14F-4D97-AF65-F5344CB8AC3E}">
        <p14:creationId xmlns:p14="http://schemas.microsoft.com/office/powerpoint/2010/main" val="3157981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EED0C0E-512D-6239-EA1D-0AA090DF4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A70736-C1ED-C61F-6D76-89714B2C729E}"/>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XSS (Cross-Site Scripting)</a:t>
            </a:r>
            <a:endParaRPr lang="en-GB" b="1" dirty="0"/>
          </a:p>
        </p:txBody>
      </p:sp>
      <p:sp>
        <p:nvSpPr>
          <p:cNvPr id="5" name="Rectangle 2">
            <a:extLst>
              <a:ext uri="{FF2B5EF4-FFF2-40B4-BE49-F238E27FC236}">
                <a16:creationId xmlns:a16="http://schemas.microsoft.com/office/drawing/2014/main" id="{B6C6DB48-7F64-862E-D26B-3EC17D80BAE9}"/>
              </a:ext>
            </a:extLst>
          </p:cNvPr>
          <p:cNvSpPr>
            <a:spLocks noGrp="1" noChangeArrowheads="1"/>
          </p:cNvSpPr>
          <p:nvPr>
            <p:ph idx="1"/>
          </p:nvPr>
        </p:nvSpPr>
        <p:spPr bwMode="auto">
          <a:xfrm>
            <a:off x="685801" y="2065867"/>
            <a:ext cx="9785349" cy="4768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GB" sz="1200" b="1" dirty="0"/>
              <a:t>Reflected XSS Example</a:t>
            </a:r>
          </a:p>
          <a:p>
            <a:r>
              <a:rPr lang="en-GB" sz="1200" dirty="0"/>
              <a:t>URL:</a:t>
            </a:r>
          </a:p>
          <a:p>
            <a:pPr marL="457200" lvl="1" indent="0">
              <a:buNone/>
            </a:pPr>
            <a:r>
              <a:rPr lang="en-GB" sz="1200" dirty="0"/>
              <a:t>/</a:t>
            </a:r>
            <a:r>
              <a:rPr lang="en-GB" sz="1200" dirty="0" err="1"/>
              <a:t>search?q</a:t>
            </a:r>
            <a:r>
              <a:rPr lang="en-GB" sz="1200" dirty="0"/>
              <a:t>=&lt;script&gt;alert(1)&lt;/script&gt;</a:t>
            </a:r>
          </a:p>
          <a:p>
            <a:r>
              <a:rPr lang="en-GB" sz="1200" dirty="0"/>
              <a:t>Backend reflects input:</a:t>
            </a:r>
          </a:p>
          <a:p>
            <a:pPr marL="457200" lvl="1" indent="0">
              <a:buNone/>
            </a:pPr>
            <a:r>
              <a:rPr lang="en-GB" sz="1200" dirty="0"/>
              <a:t>echo "Result: " . $_GET['q'];</a:t>
            </a:r>
          </a:p>
          <a:p>
            <a:r>
              <a:rPr lang="en-GB" sz="1200" dirty="0"/>
              <a:t>Script executes when user opens link</a:t>
            </a:r>
          </a:p>
          <a:p>
            <a:pPr marL="0" indent="0">
              <a:buNone/>
            </a:pPr>
            <a:endParaRPr lang="en-GB" sz="1200" dirty="0"/>
          </a:p>
          <a:p>
            <a:pPr marL="0" indent="0">
              <a:buNone/>
            </a:pPr>
            <a:r>
              <a:rPr lang="en-GB" sz="1200" b="1" dirty="0"/>
              <a:t>Stored XSS Example</a:t>
            </a:r>
          </a:p>
          <a:p>
            <a:r>
              <a:rPr lang="en-GB" sz="1200" dirty="0"/>
              <a:t>User submits:</a:t>
            </a:r>
          </a:p>
          <a:p>
            <a:pPr marL="457200" lvl="1" indent="0">
              <a:buNone/>
            </a:pPr>
            <a:r>
              <a:rPr lang="en-GB" sz="1200" dirty="0"/>
              <a:t>&lt;script&gt;alert(</a:t>
            </a:r>
            <a:r>
              <a:rPr lang="en-GB" sz="1200" dirty="0" err="1"/>
              <a:t>document.cookie</a:t>
            </a:r>
            <a:r>
              <a:rPr lang="en-GB" sz="1200" dirty="0"/>
              <a:t>)&lt;/script&gt;</a:t>
            </a:r>
          </a:p>
          <a:p>
            <a:r>
              <a:rPr lang="en-GB" sz="1200" dirty="0"/>
              <a:t>Stored in DB → displayed to others:</a:t>
            </a:r>
          </a:p>
          <a:p>
            <a:pPr marL="457200" lvl="1" indent="0">
              <a:buNone/>
            </a:pPr>
            <a:r>
              <a:rPr lang="en-GB" sz="1200" dirty="0"/>
              <a:t>echo $row['message'];</a:t>
            </a:r>
          </a:p>
          <a:p>
            <a:r>
              <a:rPr lang="en-GB" sz="1200" dirty="0"/>
              <a:t>Executes for every viewer (high impact)</a:t>
            </a:r>
          </a:p>
          <a:p>
            <a:endParaRPr lang="en-GB" dirty="0"/>
          </a:p>
        </p:txBody>
      </p:sp>
    </p:spTree>
    <p:extLst>
      <p:ext uri="{BB962C8B-B14F-4D97-AF65-F5344CB8AC3E}">
        <p14:creationId xmlns:p14="http://schemas.microsoft.com/office/powerpoint/2010/main" val="17343635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9767B6F-3CAE-C784-D5E3-2283A77B9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69DDF-8072-4630-D976-FDEE1AB29723}"/>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XSS (Cross-Site Scripting)</a:t>
            </a:r>
            <a:endParaRPr lang="en-GB" b="1" dirty="0"/>
          </a:p>
        </p:txBody>
      </p:sp>
      <p:sp>
        <p:nvSpPr>
          <p:cNvPr id="5" name="Rectangle 2">
            <a:extLst>
              <a:ext uri="{FF2B5EF4-FFF2-40B4-BE49-F238E27FC236}">
                <a16:creationId xmlns:a16="http://schemas.microsoft.com/office/drawing/2014/main" id="{917D2225-A3EF-4EA3-53AC-259A42AD6F61}"/>
              </a:ext>
            </a:extLst>
          </p:cNvPr>
          <p:cNvSpPr>
            <a:spLocks noGrp="1" noChangeArrowheads="1"/>
          </p:cNvSpPr>
          <p:nvPr>
            <p:ph idx="1"/>
          </p:nvPr>
        </p:nvSpPr>
        <p:spPr bwMode="auto">
          <a:xfrm>
            <a:off x="685801" y="2133601"/>
            <a:ext cx="10928349" cy="48196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US" sz="1200" b="1" dirty="0"/>
              <a:t>DOM-Based XSS </a:t>
            </a:r>
          </a:p>
          <a:p>
            <a:r>
              <a:rPr lang="en-US" sz="1200" dirty="0"/>
              <a:t>Example:</a:t>
            </a:r>
          </a:p>
          <a:p>
            <a:pPr marL="457200" lvl="1" indent="0">
              <a:buNone/>
            </a:pPr>
            <a:r>
              <a:rPr lang="en-US" sz="1200" dirty="0" err="1"/>
              <a:t>document.getElementById</a:t>
            </a:r>
            <a:r>
              <a:rPr lang="en-US" sz="1200" dirty="0"/>
              <a:t>("output").</a:t>
            </a:r>
            <a:r>
              <a:rPr lang="en-US" sz="1200" dirty="0" err="1"/>
              <a:t>innerHTML</a:t>
            </a:r>
            <a:r>
              <a:rPr lang="en-US" sz="1200" dirty="0"/>
              <a:t> = </a:t>
            </a:r>
            <a:r>
              <a:rPr lang="en-US" sz="1200" dirty="0" err="1"/>
              <a:t>location.hash</a:t>
            </a:r>
            <a:r>
              <a:rPr lang="en-US" sz="1200" dirty="0"/>
              <a:t>;</a:t>
            </a:r>
          </a:p>
          <a:p>
            <a:r>
              <a:rPr lang="en-US" sz="1200" dirty="0"/>
              <a:t>Payload:</a:t>
            </a:r>
          </a:p>
          <a:p>
            <a:pPr marL="457200" lvl="1" indent="0">
              <a:buNone/>
            </a:pPr>
            <a:r>
              <a:rPr lang="en-US" sz="1200" dirty="0"/>
              <a:t>&lt;script&gt;alert(1)&lt;/script&gt;</a:t>
            </a:r>
          </a:p>
          <a:p>
            <a:r>
              <a:rPr lang="en-US" sz="1200" dirty="0"/>
              <a:t>Executed in browser without backend involvement</a:t>
            </a:r>
          </a:p>
          <a:p>
            <a:pPr marL="0" indent="0">
              <a:buNone/>
            </a:pPr>
            <a:endParaRPr lang="en-US" sz="1200" dirty="0"/>
          </a:p>
          <a:p>
            <a:pPr marL="0" indent="0">
              <a:buNone/>
            </a:pPr>
            <a:r>
              <a:rPr lang="en-US" sz="1200" b="1" dirty="0"/>
              <a:t>Dangerous Functions (Frontend)</a:t>
            </a:r>
          </a:p>
          <a:p>
            <a:r>
              <a:rPr lang="en-US" sz="1200" dirty="0"/>
              <a:t>Avoid unsafe usage of:</a:t>
            </a:r>
          </a:p>
          <a:p>
            <a:pPr lvl="1"/>
            <a:r>
              <a:rPr lang="en-US" sz="1200" dirty="0" err="1"/>
              <a:t>innerHTML</a:t>
            </a:r>
            <a:endParaRPr lang="en-US" sz="1200" dirty="0"/>
          </a:p>
          <a:p>
            <a:pPr lvl="1"/>
            <a:r>
              <a:rPr lang="en-US" sz="1200" dirty="0"/>
              <a:t>eval()</a:t>
            </a:r>
          </a:p>
          <a:p>
            <a:pPr lvl="1"/>
            <a:r>
              <a:rPr lang="en-US" sz="1200" dirty="0" err="1"/>
              <a:t>document.write</a:t>
            </a:r>
            <a:r>
              <a:rPr lang="en-US" sz="1200" dirty="0"/>
              <a:t>()</a:t>
            </a:r>
          </a:p>
          <a:p>
            <a:pPr lvl="1"/>
            <a:r>
              <a:rPr lang="en-US" sz="1200" dirty="0" err="1"/>
              <a:t>setTimeout</a:t>
            </a:r>
            <a:r>
              <a:rPr lang="en-US" sz="1200" dirty="0"/>
              <a:t>(string)</a:t>
            </a:r>
          </a:p>
          <a:p>
            <a:pPr lvl="1"/>
            <a:r>
              <a:rPr lang="en-US" sz="1200" dirty="0" err="1"/>
              <a:t>setInterval</a:t>
            </a:r>
            <a:r>
              <a:rPr lang="en-US" sz="1200" dirty="0"/>
              <a:t>(string)</a:t>
            </a:r>
          </a:p>
          <a:p>
            <a:r>
              <a:rPr lang="en-US" sz="1200" dirty="0"/>
              <a:t>These can turn </a:t>
            </a:r>
            <a:r>
              <a:rPr lang="en-US" sz="1200" b="1" dirty="0"/>
              <a:t>data into executable code</a:t>
            </a:r>
            <a:endParaRPr lang="en-US" sz="1200" dirty="0"/>
          </a:p>
          <a:p>
            <a:endParaRPr lang="en-GB" dirty="0"/>
          </a:p>
        </p:txBody>
      </p:sp>
    </p:spTree>
    <p:extLst>
      <p:ext uri="{BB962C8B-B14F-4D97-AF65-F5344CB8AC3E}">
        <p14:creationId xmlns:p14="http://schemas.microsoft.com/office/powerpoint/2010/main" val="3647371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4D15F00F-D7BD-9DA1-B4B7-60624DB2E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4E1E1-42FB-F6FC-910A-FC11FD4A35D7}"/>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XSS (Cross-Site Scripting)</a:t>
            </a:r>
            <a:endParaRPr lang="en-GB" b="1" dirty="0"/>
          </a:p>
        </p:txBody>
      </p:sp>
      <p:sp>
        <p:nvSpPr>
          <p:cNvPr id="5" name="Rectangle 2">
            <a:extLst>
              <a:ext uri="{FF2B5EF4-FFF2-40B4-BE49-F238E27FC236}">
                <a16:creationId xmlns:a16="http://schemas.microsoft.com/office/drawing/2014/main" id="{6CFB3555-C348-5BFF-8C1C-5498569083F3}"/>
              </a:ext>
            </a:extLst>
          </p:cNvPr>
          <p:cNvSpPr>
            <a:spLocks noGrp="1" noChangeArrowheads="1"/>
          </p:cNvSpPr>
          <p:nvPr>
            <p:ph idx="1"/>
          </p:nvPr>
        </p:nvSpPr>
        <p:spPr bwMode="auto">
          <a:xfrm>
            <a:off x="685801" y="2362199"/>
            <a:ext cx="9734550" cy="233891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GB" sz="1200" b="1" dirty="0"/>
              <a:t>Secure Coding Principle</a:t>
            </a:r>
          </a:p>
          <a:p>
            <a:r>
              <a:rPr lang="en-GB" sz="1200" dirty="0"/>
              <a:t>Never trust user input — especially in the browser</a:t>
            </a:r>
          </a:p>
          <a:p>
            <a:r>
              <a:rPr lang="en-GB" sz="1200" dirty="0"/>
              <a:t>Golden rule:</a:t>
            </a:r>
          </a:p>
          <a:p>
            <a:pPr lvl="1"/>
            <a:r>
              <a:rPr lang="en-GB" sz="1200" dirty="0"/>
              <a:t>Escape/encode output based on context</a:t>
            </a:r>
          </a:p>
          <a:p>
            <a:r>
              <a:rPr lang="en-GB" sz="1200" dirty="0"/>
              <a:t>NOT:</a:t>
            </a:r>
          </a:p>
          <a:p>
            <a:pPr lvl="1"/>
            <a:r>
              <a:rPr lang="en-GB" sz="1200" dirty="0"/>
              <a:t>"Remove bad characters"</a:t>
            </a:r>
          </a:p>
          <a:p>
            <a:endParaRPr lang="en-GB" dirty="0"/>
          </a:p>
        </p:txBody>
      </p:sp>
    </p:spTree>
    <p:extLst>
      <p:ext uri="{BB962C8B-B14F-4D97-AF65-F5344CB8AC3E}">
        <p14:creationId xmlns:p14="http://schemas.microsoft.com/office/powerpoint/2010/main" val="3802571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4B852D5B-64D3-CA22-F454-CB62DEB99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F5713-0B2E-75BF-3A7E-7F5F852FD0CB}"/>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XSS (Cross-Site Scripting)</a:t>
            </a:r>
            <a:endParaRPr lang="en-GB" b="1" dirty="0"/>
          </a:p>
        </p:txBody>
      </p:sp>
      <p:sp>
        <p:nvSpPr>
          <p:cNvPr id="5" name="Rectangle 2">
            <a:extLst>
              <a:ext uri="{FF2B5EF4-FFF2-40B4-BE49-F238E27FC236}">
                <a16:creationId xmlns:a16="http://schemas.microsoft.com/office/drawing/2014/main" id="{32E1D93F-D512-0329-A77C-DB4173C355F7}"/>
              </a:ext>
            </a:extLst>
          </p:cNvPr>
          <p:cNvSpPr>
            <a:spLocks noGrp="1" noChangeArrowheads="1"/>
          </p:cNvSpPr>
          <p:nvPr>
            <p:ph idx="1"/>
          </p:nvPr>
        </p:nvSpPr>
        <p:spPr bwMode="auto">
          <a:xfrm>
            <a:off x="685800" y="2362199"/>
            <a:ext cx="10629899" cy="436245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US" sz="1200" b="1" dirty="0"/>
              <a:t>Output Encoding (Main Defense)</a:t>
            </a:r>
          </a:p>
          <a:p>
            <a:r>
              <a:rPr lang="en-US" sz="1200" dirty="0"/>
              <a:t>Fix the vulnerable PHP example:</a:t>
            </a:r>
          </a:p>
          <a:p>
            <a:pPr marL="457200" lvl="1" indent="0">
              <a:buNone/>
            </a:pPr>
            <a:r>
              <a:rPr lang="en-US" sz="1200" dirty="0"/>
              <a:t>echo </a:t>
            </a:r>
            <a:r>
              <a:rPr lang="en-US" sz="1200" dirty="0" err="1"/>
              <a:t>htmlspecialchars</a:t>
            </a:r>
            <a:r>
              <a:rPr lang="en-US" sz="1200" dirty="0"/>
              <a:t>($q);</a:t>
            </a:r>
          </a:p>
          <a:p>
            <a:r>
              <a:rPr lang="en-US" sz="1200" dirty="0"/>
              <a:t>This converts:</a:t>
            </a:r>
          </a:p>
          <a:p>
            <a:pPr marL="457200" lvl="1" indent="0">
              <a:buNone/>
            </a:pPr>
            <a:r>
              <a:rPr lang="en-US" sz="1200" dirty="0"/>
              <a:t>&lt;script&gt;</a:t>
            </a:r>
          </a:p>
          <a:p>
            <a:r>
              <a:rPr lang="en-US" sz="1200" dirty="0"/>
              <a:t>into:</a:t>
            </a:r>
          </a:p>
          <a:p>
            <a:pPr marL="457200" lvl="1" indent="0">
              <a:buNone/>
            </a:pPr>
            <a:r>
              <a:rPr lang="en-US" sz="1200" dirty="0"/>
              <a:t>&amp;</a:t>
            </a:r>
            <a:r>
              <a:rPr lang="en-US" sz="1200" dirty="0" err="1"/>
              <a:t>lt;script&amp;gt</a:t>
            </a:r>
            <a:r>
              <a:rPr lang="en-US" sz="1200" dirty="0"/>
              <a:t>;</a:t>
            </a:r>
          </a:p>
          <a:p>
            <a:r>
              <a:rPr lang="en-US" sz="1200" dirty="0"/>
              <a:t>Rendered as text, not executed</a:t>
            </a:r>
          </a:p>
          <a:p>
            <a:endParaRPr lang="en-US" sz="1200" dirty="0"/>
          </a:p>
          <a:p>
            <a:pPr marL="0" indent="0">
              <a:buNone/>
            </a:pPr>
            <a:r>
              <a:rPr lang="en-US" sz="1200" b="1" dirty="0"/>
              <a:t>Safe DOM Handling</a:t>
            </a:r>
          </a:p>
          <a:p>
            <a:r>
              <a:rPr lang="en-US" sz="1200" dirty="0"/>
              <a:t>Dangerous:</a:t>
            </a:r>
          </a:p>
          <a:p>
            <a:pPr marL="457200" lvl="1" indent="0">
              <a:buNone/>
            </a:pPr>
            <a:r>
              <a:rPr lang="en-US" sz="1200" dirty="0" err="1"/>
              <a:t>element.innerHTML</a:t>
            </a:r>
            <a:r>
              <a:rPr lang="en-US" sz="1200" dirty="0"/>
              <a:t> = </a:t>
            </a:r>
            <a:r>
              <a:rPr lang="en-US" sz="1200" dirty="0" err="1"/>
              <a:t>userInput</a:t>
            </a:r>
            <a:r>
              <a:rPr lang="en-US" sz="1200" dirty="0"/>
              <a:t>;</a:t>
            </a:r>
          </a:p>
          <a:p>
            <a:r>
              <a:rPr lang="en-US" sz="1200" dirty="0"/>
              <a:t>Safe:</a:t>
            </a:r>
          </a:p>
          <a:p>
            <a:pPr marL="457200" lvl="1" indent="0">
              <a:buNone/>
            </a:pPr>
            <a:r>
              <a:rPr lang="en-US" sz="1200" dirty="0" err="1"/>
              <a:t>element.textContent</a:t>
            </a:r>
            <a:r>
              <a:rPr lang="en-US" sz="1200" dirty="0"/>
              <a:t> = </a:t>
            </a:r>
            <a:r>
              <a:rPr lang="en-US" sz="1200" dirty="0" err="1"/>
              <a:t>userInput</a:t>
            </a:r>
            <a:r>
              <a:rPr lang="en-US" sz="1200" dirty="0"/>
              <a:t>;</a:t>
            </a:r>
          </a:p>
          <a:p>
            <a:endParaRPr lang="en-US" sz="1200" dirty="0"/>
          </a:p>
        </p:txBody>
      </p:sp>
    </p:spTree>
    <p:extLst>
      <p:ext uri="{BB962C8B-B14F-4D97-AF65-F5344CB8AC3E}">
        <p14:creationId xmlns:p14="http://schemas.microsoft.com/office/powerpoint/2010/main" val="9548665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EA2C661D-4D2C-EBE9-1924-594ABAF8F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FC685-10F3-F250-2623-815BA306D568}"/>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XSS (Cross-Site Scripting)</a:t>
            </a:r>
            <a:endParaRPr lang="en-GB" b="1" dirty="0"/>
          </a:p>
        </p:txBody>
      </p:sp>
      <p:sp>
        <p:nvSpPr>
          <p:cNvPr id="5" name="Rectangle 2">
            <a:extLst>
              <a:ext uri="{FF2B5EF4-FFF2-40B4-BE49-F238E27FC236}">
                <a16:creationId xmlns:a16="http://schemas.microsoft.com/office/drawing/2014/main" id="{9FC1A6BE-BBD6-26DB-319E-DFF539B16A66}"/>
              </a:ext>
            </a:extLst>
          </p:cNvPr>
          <p:cNvSpPr>
            <a:spLocks noGrp="1" noChangeArrowheads="1"/>
          </p:cNvSpPr>
          <p:nvPr>
            <p:ph idx="1"/>
          </p:nvPr>
        </p:nvSpPr>
        <p:spPr bwMode="auto">
          <a:xfrm>
            <a:off x="685800" y="2362199"/>
            <a:ext cx="10629899" cy="436245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US" sz="1200" b="1" dirty="0"/>
              <a:t>Content Security Policy (CSP)</a:t>
            </a:r>
          </a:p>
          <a:p>
            <a:r>
              <a:rPr lang="en-US" sz="1200" dirty="0"/>
              <a:t>CSP helps mitigate XSS:</a:t>
            </a:r>
          </a:p>
          <a:p>
            <a:pPr lvl="1"/>
            <a:r>
              <a:rPr lang="en-US" sz="1200" dirty="0"/>
              <a:t>Content-Security-Policy: script-</a:t>
            </a:r>
            <a:r>
              <a:rPr lang="en-US" sz="1200" dirty="0" err="1"/>
              <a:t>src</a:t>
            </a:r>
            <a:r>
              <a:rPr lang="en-US" sz="1200" dirty="0"/>
              <a:t> 'self'</a:t>
            </a:r>
          </a:p>
          <a:p>
            <a:r>
              <a:rPr lang="en-US" sz="1200" dirty="0"/>
              <a:t>Benefits:</a:t>
            </a:r>
          </a:p>
          <a:p>
            <a:pPr lvl="1"/>
            <a:r>
              <a:rPr lang="en-US" sz="1200" dirty="0"/>
              <a:t>Blocks inline scripts</a:t>
            </a:r>
          </a:p>
          <a:p>
            <a:pPr lvl="1"/>
            <a:r>
              <a:rPr lang="en-US" sz="1200" dirty="0"/>
              <a:t>Prevents loading malicious scripts</a:t>
            </a:r>
          </a:p>
          <a:p>
            <a:pPr lvl="1"/>
            <a:r>
              <a:rPr lang="en-US" sz="1200" dirty="0"/>
              <a:t>Reduces impact of XSS</a:t>
            </a:r>
          </a:p>
          <a:p>
            <a:pPr marL="0" indent="0">
              <a:buNone/>
            </a:pPr>
            <a:r>
              <a:rPr lang="en-US" sz="1200" b="1" dirty="0"/>
              <a:t>Additional Mitigations</a:t>
            </a:r>
          </a:p>
          <a:p>
            <a:r>
              <a:rPr lang="en-US" sz="1200" dirty="0"/>
              <a:t>Input validation (whitelist)</a:t>
            </a:r>
          </a:p>
          <a:p>
            <a:r>
              <a:rPr lang="en-US" sz="1200" dirty="0" err="1"/>
              <a:t>HttpOnly</a:t>
            </a:r>
            <a:r>
              <a:rPr lang="en-US" sz="1200" dirty="0"/>
              <a:t> cookies (protect session)</a:t>
            </a:r>
          </a:p>
          <a:p>
            <a:r>
              <a:rPr lang="en-US" sz="1200" dirty="0"/>
              <a:t>Secure frameworks (auto-escaping)</a:t>
            </a:r>
          </a:p>
          <a:p>
            <a:r>
              <a:rPr lang="en-US" sz="1200" dirty="0"/>
              <a:t>Avoid inline JavaScript</a:t>
            </a:r>
          </a:p>
          <a:p>
            <a:r>
              <a:rPr lang="en-US" sz="1200" dirty="0"/>
              <a:t>Use modern frontend frameworks safely</a:t>
            </a:r>
          </a:p>
          <a:p>
            <a:endParaRPr lang="en-US" sz="1200" dirty="0"/>
          </a:p>
        </p:txBody>
      </p:sp>
    </p:spTree>
    <p:extLst>
      <p:ext uri="{BB962C8B-B14F-4D97-AF65-F5344CB8AC3E}">
        <p14:creationId xmlns:p14="http://schemas.microsoft.com/office/powerpoint/2010/main" val="16608291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FB6F53D-8812-3F2E-0D41-BA5A894CE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88ECD7-225D-5562-E7F0-F9784F845DAF}"/>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XSS (Cross-Site Scripting)</a:t>
            </a:r>
            <a:endParaRPr lang="en-GB" b="1" dirty="0"/>
          </a:p>
        </p:txBody>
      </p:sp>
      <p:sp>
        <p:nvSpPr>
          <p:cNvPr id="5" name="Rectangle 2">
            <a:extLst>
              <a:ext uri="{FF2B5EF4-FFF2-40B4-BE49-F238E27FC236}">
                <a16:creationId xmlns:a16="http://schemas.microsoft.com/office/drawing/2014/main" id="{D48DE7D3-1DAA-9C45-CA9E-EC7485543856}"/>
              </a:ext>
            </a:extLst>
          </p:cNvPr>
          <p:cNvSpPr>
            <a:spLocks noGrp="1" noChangeArrowheads="1"/>
          </p:cNvSpPr>
          <p:nvPr>
            <p:ph idx="1"/>
          </p:nvPr>
        </p:nvSpPr>
        <p:spPr bwMode="auto">
          <a:xfrm>
            <a:off x="685800" y="2362199"/>
            <a:ext cx="10629899" cy="436245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GB" sz="1200" b="1" dirty="0"/>
              <a:t>Framework Protection</a:t>
            </a:r>
          </a:p>
          <a:p>
            <a:pPr lvl="1"/>
            <a:r>
              <a:rPr lang="en-GB" sz="1000" dirty="0"/>
              <a:t>Modern frameworks reduce XSS risk:</a:t>
            </a:r>
          </a:p>
          <a:p>
            <a:pPr lvl="1"/>
            <a:r>
              <a:rPr lang="en-GB" sz="1000" dirty="0"/>
              <a:t>React (auto-escapes JSX)</a:t>
            </a:r>
          </a:p>
          <a:p>
            <a:pPr lvl="1"/>
            <a:r>
              <a:rPr lang="en-GB" sz="1000" dirty="0"/>
              <a:t>Angular (built-in sanitization)</a:t>
            </a:r>
          </a:p>
          <a:p>
            <a:pPr lvl="1"/>
            <a:r>
              <a:rPr lang="en-GB" sz="1000" dirty="0"/>
              <a:t>Vue.js</a:t>
            </a:r>
          </a:p>
          <a:p>
            <a:endParaRPr lang="en-GB" sz="1200" dirty="0"/>
          </a:p>
          <a:p>
            <a:pPr marL="0" indent="0">
              <a:buNone/>
            </a:pPr>
            <a:r>
              <a:rPr lang="en-US" sz="1200" b="1" dirty="0"/>
              <a:t>Secure Development Checklist</a:t>
            </a:r>
          </a:p>
          <a:p>
            <a:pPr lvl="1"/>
            <a:r>
              <a:rPr lang="en-US" sz="1000" dirty="0"/>
              <a:t>Encode output</a:t>
            </a:r>
          </a:p>
          <a:p>
            <a:pPr lvl="1"/>
            <a:r>
              <a:rPr lang="en-US" sz="1000" dirty="0"/>
              <a:t>Avoid </a:t>
            </a:r>
            <a:r>
              <a:rPr lang="en-US" sz="1000" dirty="0" err="1"/>
              <a:t>innerHTML</a:t>
            </a:r>
            <a:endParaRPr lang="en-US" sz="1000" dirty="0"/>
          </a:p>
          <a:p>
            <a:pPr lvl="1"/>
            <a:r>
              <a:rPr lang="en-US" sz="1000" dirty="0"/>
              <a:t>Use safe APIs (</a:t>
            </a:r>
            <a:r>
              <a:rPr lang="en-US" sz="1000" dirty="0" err="1"/>
              <a:t>textContent</a:t>
            </a:r>
            <a:r>
              <a:rPr lang="en-US" sz="1000" dirty="0"/>
              <a:t>)</a:t>
            </a:r>
          </a:p>
          <a:p>
            <a:pPr lvl="1"/>
            <a:r>
              <a:rPr lang="en-US" sz="1000" dirty="0"/>
              <a:t>Implement CSP</a:t>
            </a:r>
          </a:p>
          <a:p>
            <a:pPr lvl="1"/>
            <a:r>
              <a:rPr lang="en-US" sz="1000" dirty="0"/>
              <a:t>Validate input</a:t>
            </a:r>
          </a:p>
          <a:p>
            <a:pPr lvl="1"/>
            <a:r>
              <a:rPr lang="en-US" sz="1000" dirty="0"/>
              <a:t>Protect cookies (</a:t>
            </a:r>
            <a:r>
              <a:rPr lang="en-US" sz="1000" dirty="0" err="1"/>
              <a:t>HttpOnly</a:t>
            </a:r>
            <a:r>
              <a:rPr lang="en-US" sz="1000" dirty="0"/>
              <a:t>, Secure)</a:t>
            </a:r>
          </a:p>
          <a:p>
            <a:endParaRPr lang="en-GB" sz="1200" dirty="0"/>
          </a:p>
        </p:txBody>
      </p:sp>
    </p:spTree>
    <p:extLst>
      <p:ext uri="{BB962C8B-B14F-4D97-AF65-F5344CB8AC3E}">
        <p14:creationId xmlns:p14="http://schemas.microsoft.com/office/powerpoint/2010/main" val="1671324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AD15401-481E-36CD-3360-E20DBCA9F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D17CC-C81D-432B-8923-DEE0EC9A2081}"/>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Business Logic Vulnerabilities</a:t>
            </a:r>
            <a:endParaRPr lang="en-GB" b="1" dirty="0"/>
          </a:p>
        </p:txBody>
      </p:sp>
      <p:sp>
        <p:nvSpPr>
          <p:cNvPr id="5" name="Rectangle 2">
            <a:extLst>
              <a:ext uri="{FF2B5EF4-FFF2-40B4-BE49-F238E27FC236}">
                <a16:creationId xmlns:a16="http://schemas.microsoft.com/office/drawing/2014/main" id="{4B91C2C9-CFE9-7FB4-DC91-8AF8E45C787C}"/>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b="1" dirty="0"/>
              <a:t>Business Logic</a:t>
            </a:r>
            <a:endParaRPr lang="en-GB" dirty="0"/>
          </a:p>
          <a:p>
            <a:pPr lvl="1"/>
            <a:r>
              <a:rPr lang="en-GB" dirty="0"/>
              <a:t>Rules that define how the application behaves </a:t>
            </a:r>
          </a:p>
          <a:p>
            <a:pPr lvl="1"/>
            <a:r>
              <a:rPr lang="en-GB" dirty="0"/>
              <a:t>Examples: </a:t>
            </a:r>
          </a:p>
          <a:p>
            <a:pPr lvl="2"/>
            <a:r>
              <a:rPr lang="en-GB" dirty="0"/>
              <a:t>Checkout flow </a:t>
            </a:r>
          </a:p>
          <a:p>
            <a:pPr lvl="2"/>
            <a:r>
              <a:rPr lang="en-GB" dirty="0"/>
              <a:t>Authentication steps </a:t>
            </a:r>
          </a:p>
          <a:p>
            <a:pPr lvl="2"/>
            <a:r>
              <a:rPr lang="en-GB" dirty="0"/>
              <a:t>Payment validation </a:t>
            </a:r>
          </a:p>
          <a:p>
            <a:r>
              <a:rPr lang="en-GB" b="1" dirty="0"/>
              <a:t>Business Logic Vulnerability</a:t>
            </a:r>
            <a:endParaRPr lang="en-GB" dirty="0"/>
          </a:p>
          <a:p>
            <a:pPr lvl="1"/>
            <a:r>
              <a:rPr lang="en-GB" dirty="0"/>
              <a:t>Flaw in </a:t>
            </a:r>
            <a:r>
              <a:rPr lang="en-GB" b="1" dirty="0"/>
              <a:t>design or workflow</a:t>
            </a:r>
            <a:r>
              <a:rPr lang="en-GB" dirty="0"/>
              <a:t>, not code syntax </a:t>
            </a:r>
          </a:p>
          <a:p>
            <a:pPr lvl="1"/>
            <a:r>
              <a:rPr lang="en-GB" dirty="0"/>
              <a:t>Allows attacker to: </a:t>
            </a:r>
          </a:p>
          <a:p>
            <a:pPr lvl="2"/>
            <a:r>
              <a:rPr lang="en-GB" dirty="0"/>
              <a:t>Abuse legitimate features </a:t>
            </a:r>
          </a:p>
          <a:p>
            <a:pPr lvl="2"/>
            <a:r>
              <a:rPr lang="en-GB" dirty="0"/>
              <a:t>Achieve unintended outcomes </a:t>
            </a:r>
          </a:p>
          <a:p>
            <a:r>
              <a:rPr lang="en-GB" i="1" dirty="0"/>
              <a:t>“The system works as coded… but not as intended”</a:t>
            </a:r>
            <a:endParaRPr lang="en-GB" dirty="0"/>
          </a:p>
          <a:p>
            <a:pPr marL="0" indent="0">
              <a:buNone/>
            </a:pPr>
            <a:endParaRPr lang="en-GB" sz="1200" dirty="0"/>
          </a:p>
        </p:txBody>
      </p:sp>
    </p:spTree>
    <p:extLst>
      <p:ext uri="{BB962C8B-B14F-4D97-AF65-F5344CB8AC3E}">
        <p14:creationId xmlns:p14="http://schemas.microsoft.com/office/powerpoint/2010/main" val="12272246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37C000F-A8CC-ECAE-63CE-4196C3D51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6CD90-86CA-3E97-5F6B-C693FFD5F5B6}"/>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Business Logic Vulnerabilities</a:t>
            </a:r>
            <a:endParaRPr lang="en-GB" b="1" dirty="0"/>
          </a:p>
        </p:txBody>
      </p:sp>
      <p:sp>
        <p:nvSpPr>
          <p:cNvPr id="5" name="Rectangle 2">
            <a:extLst>
              <a:ext uri="{FF2B5EF4-FFF2-40B4-BE49-F238E27FC236}">
                <a16:creationId xmlns:a16="http://schemas.microsoft.com/office/drawing/2014/main" id="{5655BB51-6177-07AF-E5EF-0056D44137B2}"/>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b="1" dirty="0"/>
              <a:t>Why It’s Critical</a:t>
            </a:r>
          </a:p>
          <a:p>
            <a:pPr lvl="1"/>
            <a:r>
              <a:rPr lang="en-US" dirty="0"/>
              <a:t>Not detectable by scanners easily </a:t>
            </a:r>
          </a:p>
          <a:p>
            <a:pPr lvl="1"/>
            <a:r>
              <a:rPr lang="en-US" dirty="0"/>
              <a:t>Requires </a:t>
            </a:r>
            <a:r>
              <a:rPr lang="en-US" b="1" dirty="0"/>
              <a:t>human reasoning</a:t>
            </a:r>
            <a:r>
              <a:rPr lang="en-US" dirty="0"/>
              <a:t> </a:t>
            </a:r>
          </a:p>
          <a:p>
            <a:pPr lvl="1"/>
            <a:r>
              <a:rPr lang="en-US" dirty="0"/>
              <a:t>Often missed in testing </a:t>
            </a:r>
          </a:p>
          <a:p>
            <a:r>
              <a:rPr lang="en-US" b="1" dirty="0"/>
              <a:t>Impact depends on functionality:</a:t>
            </a:r>
            <a:endParaRPr lang="en-US" dirty="0"/>
          </a:p>
          <a:p>
            <a:pPr lvl="1"/>
            <a:r>
              <a:rPr lang="en-US" dirty="0"/>
              <a:t>Auth logic → Account takeover </a:t>
            </a:r>
          </a:p>
          <a:p>
            <a:pPr lvl="1"/>
            <a:r>
              <a:rPr lang="en-US" dirty="0"/>
              <a:t>Payment logic → Financial loss </a:t>
            </a:r>
          </a:p>
          <a:p>
            <a:pPr lvl="1"/>
            <a:r>
              <a:rPr lang="en-US" dirty="0"/>
              <a:t>Role logic → Privilege escalation </a:t>
            </a:r>
          </a:p>
          <a:p>
            <a:r>
              <a:rPr lang="en-US" dirty="0"/>
              <a:t>Real impact:</a:t>
            </a:r>
          </a:p>
          <a:p>
            <a:pPr lvl="1"/>
            <a:r>
              <a:rPr lang="en-US" dirty="0"/>
              <a:t>Free purchases </a:t>
            </a:r>
          </a:p>
          <a:p>
            <a:pPr lvl="1"/>
            <a:r>
              <a:rPr lang="en-US" dirty="0"/>
              <a:t>Infinite money bugs </a:t>
            </a:r>
          </a:p>
          <a:p>
            <a:pPr lvl="1"/>
            <a:r>
              <a:rPr lang="en-US" dirty="0"/>
              <a:t>Bypass security controls</a:t>
            </a:r>
          </a:p>
          <a:p>
            <a:pPr marL="0" indent="0">
              <a:buNone/>
            </a:pPr>
            <a:endParaRPr lang="en-GB" sz="1200" dirty="0"/>
          </a:p>
        </p:txBody>
      </p:sp>
    </p:spTree>
    <p:extLst>
      <p:ext uri="{BB962C8B-B14F-4D97-AF65-F5344CB8AC3E}">
        <p14:creationId xmlns:p14="http://schemas.microsoft.com/office/powerpoint/2010/main" val="1973375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46CD9EF-F73D-0081-1673-D7D38C917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8B97A-52D0-25C5-0491-E18BC4D29C62}"/>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Business Logic Vulnerabilities</a:t>
            </a:r>
            <a:endParaRPr lang="en-GB" b="1" dirty="0"/>
          </a:p>
        </p:txBody>
      </p:sp>
      <p:sp>
        <p:nvSpPr>
          <p:cNvPr id="5" name="Rectangle 2">
            <a:extLst>
              <a:ext uri="{FF2B5EF4-FFF2-40B4-BE49-F238E27FC236}">
                <a16:creationId xmlns:a16="http://schemas.microsoft.com/office/drawing/2014/main" id="{0E2319E4-3BEF-BD70-C23D-F2202FB80239}"/>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b="1" dirty="0"/>
              <a:t>Root Cause (Core Problem)</a:t>
            </a:r>
          </a:p>
          <a:p>
            <a:r>
              <a:rPr lang="en-US" dirty="0"/>
              <a:t>Developers assume:</a:t>
            </a:r>
          </a:p>
          <a:p>
            <a:pPr lvl="1"/>
            <a:r>
              <a:rPr lang="en-US" dirty="0"/>
              <a:t>Users follow UI flow </a:t>
            </a:r>
          </a:p>
          <a:p>
            <a:pPr lvl="1"/>
            <a:r>
              <a:rPr lang="en-US" dirty="0"/>
              <a:t>Input is always valid </a:t>
            </a:r>
          </a:p>
          <a:p>
            <a:pPr lvl="1"/>
            <a:r>
              <a:rPr lang="en-US" dirty="0"/>
              <a:t>Steps happen in order </a:t>
            </a:r>
          </a:p>
          <a:p>
            <a:pPr lvl="1"/>
            <a:r>
              <a:rPr lang="en-US" dirty="0"/>
              <a:t>Client-side validation is enough </a:t>
            </a:r>
          </a:p>
          <a:p>
            <a:r>
              <a:rPr lang="en-US" dirty="0"/>
              <a:t>Reality:</a:t>
            </a:r>
          </a:p>
          <a:p>
            <a:pPr lvl="1"/>
            <a:r>
              <a:rPr lang="en-US" dirty="0"/>
              <a:t>Attackers modify requests (Burp) </a:t>
            </a:r>
          </a:p>
          <a:p>
            <a:pPr lvl="1"/>
            <a:r>
              <a:rPr lang="en-US" dirty="0"/>
              <a:t>Skip steps </a:t>
            </a:r>
          </a:p>
          <a:p>
            <a:pPr lvl="1"/>
            <a:r>
              <a:rPr lang="en-US" dirty="0"/>
              <a:t>Send invalid/unexpected input</a:t>
            </a:r>
          </a:p>
          <a:p>
            <a:pPr marL="0" indent="0">
              <a:buNone/>
            </a:pPr>
            <a:endParaRPr lang="en-GB" sz="1200" dirty="0"/>
          </a:p>
        </p:txBody>
      </p:sp>
    </p:spTree>
    <p:extLst>
      <p:ext uri="{BB962C8B-B14F-4D97-AF65-F5344CB8AC3E}">
        <p14:creationId xmlns:p14="http://schemas.microsoft.com/office/powerpoint/2010/main" val="1317516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ED39FF3-4F6F-64AE-49D9-8F816BB522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492A8-6709-64D3-7100-9A3843BD558A}"/>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Business Logic Vulnerabilities</a:t>
            </a:r>
            <a:endParaRPr lang="en-GB" b="1" dirty="0"/>
          </a:p>
        </p:txBody>
      </p:sp>
      <p:sp>
        <p:nvSpPr>
          <p:cNvPr id="5" name="Rectangle 2">
            <a:extLst>
              <a:ext uri="{FF2B5EF4-FFF2-40B4-BE49-F238E27FC236}">
                <a16:creationId xmlns:a16="http://schemas.microsoft.com/office/drawing/2014/main" id="{9764F64A-B0CD-070E-4D34-A133605E0BC7}"/>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b="1" dirty="0"/>
              <a:t>Common Patterns of Logic Flaws</a:t>
            </a:r>
          </a:p>
          <a:p>
            <a:pPr lvl="1"/>
            <a:r>
              <a:rPr lang="en-US" dirty="0"/>
              <a:t>Trusting client-side controls </a:t>
            </a:r>
          </a:p>
          <a:p>
            <a:pPr lvl="1"/>
            <a:r>
              <a:rPr lang="en-US" dirty="0"/>
              <a:t>Missing server-side validation </a:t>
            </a:r>
          </a:p>
          <a:p>
            <a:pPr lvl="1"/>
            <a:r>
              <a:rPr lang="en-US" dirty="0"/>
              <a:t>Ignoring edge cases (negative, large values) </a:t>
            </a:r>
          </a:p>
          <a:p>
            <a:pPr lvl="1"/>
            <a:r>
              <a:rPr lang="en-US" dirty="0"/>
              <a:t>No workflow/state validation </a:t>
            </a:r>
          </a:p>
          <a:p>
            <a:pPr lvl="1"/>
            <a:r>
              <a:rPr lang="en-US" dirty="0"/>
              <a:t>Inconsistent validation across endpoints </a:t>
            </a:r>
          </a:p>
          <a:p>
            <a:pPr lvl="1"/>
            <a:r>
              <a:rPr lang="en-US" dirty="0"/>
              <a:t>Complex, undocumented logic </a:t>
            </a:r>
          </a:p>
          <a:p>
            <a:r>
              <a:rPr lang="en-US" dirty="0"/>
              <a:t>These are </a:t>
            </a:r>
            <a:r>
              <a:rPr lang="en-US" b="1" dirty="0"/>
              <a:t>design weaknesses</a:t>
            </a:r>
            <a:r>
              <a:rPr lang="en-US" dirty="0"/>
              <a:t>, not coding mistakes</a:t>
            </a:r>
          </a:p>
          <a:p>
            <a:pPr marL="0" indent="0">
              <a:buNone/>
            </a:pPr>
            <a:endParaRPr lang="en-GB" sz="1200" dirty="0"/>
          </a:p>
        </p:txBody>
      </p:sp>
    </p:spTree>
    <p:extLst>
      <p:ext uri="{BB962C8B-B14F-4D97-AF65-F5344CB8AC3E}">
        <p14:creationId xmlns:p14="http://schemas.microsoft.com/office/powerpoint/2010/main" val="24978901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30BCB1E-8BDB-71CD-80E5-8649DA6C0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1D632-22B0-8DB0-76AE-AC425ECA2001}"/>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Business Logic Vulnerabilities</a:t>
            </a:r>
            <a:endParaRPr lang="en-GB" b="1" dirty="0"/>
          </a:p>
        </p:txBody>
      </p:sp>
      <p:sp>
        <p:nvSpPr>
          <p:cNvPr id="5" name="Rectangle 2">
            <a:extLst>
              <a:ext uri="{FF2B5EF4-FFF2-40B4-BE49-F238E27FC236}">
                <a16:creationId xmlns:a16="http://schemas.microsoft.com/office/drawing/2014/main" id="{13067F65-62C4-9F7A-C198-4E87462E8F5B}"/>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b="1" dirty="0"/>
              <a:t>Real Example (Financial Logic Flaw)</a:t>
            </a:r>
          </a:p>
          <a:p>
            <a:pPr marL="457200" lvl="1" indent="0">
              <a:buNone/>
            </a:pPr>
            <a:r>
              <a:rPr lang="en-GB" dirty="0"/>
              <a:t>$amount = $_POST['amount'];</a:t>
            </a:r>
            <a:br>
              <a:rPr lang="en-GB" dirty="0"/>
            </a:br>
            <a:r>
              <a:rPr lang="en-GB" dirty="0"/>
              <a:t>if ($amount &lt;= $balance) {</a:t>
            </a:r>
            <a:br>
              <a:rPr lang="en-GB" dirty="0"/>
            </a:br>
            <a:r>
              <a:rPr lang="en-GB" dirty="0"/>
              <a:t>    transfer($amount);</a:t>
            </a:r>
            <a:br>
              <a:rPr lang="en-GB" dirty="0"/>
            </a:br>
            <a:r>
              <a:rPr lang="en-GB" dirty="0"/>
              <a:t>}</a:t>
            </a:r>
          </a:p>
          <a:p>
            <a:r>
              <a:rPr lang="en-GB" b="1" dirty="0"/>
              <a:t>Issue:</a:t>
            </a:r>
          </a:p>
          <a:p>
            <a:r>
              <a:rPr lang="en-GB" dirty="0"/>
              <a:t>No validation for negative values</a:t>
            </a:r>
          </a:p>
          <a:p>
            <a:r>
              <a:rPr lang="en-GB" b="1" dirty="0"/>
              <a:t>Attack:</a:t>
            </a:r>
          </a:p>
          <a:p>
            <a:pPr marL="457200" lvl="1" indent="0">
              <a:buNone/>
            </a:pPr>
            <a:r>
              <a:rPr lang="en-GB" dirty="0"/>
              <a:t>amount = -1000</a:t>
            </a:r>
          </a:p>
          <a:p>
            <a:r>
              <a:rPr lang="en-GB" b="1" dirty="0"/>
              <a:t>Impact:</a:t>
            </a:r>
          </a:p>
          <a:p>
            <a:pPr marL="457200" lvl="1" indent="0">
              <a:buNone/>
            </a:pPr>
            <a:r>
              <a:rPr lang="en-GB" dirty="0"/>
              <a:t>Condition passes (-1000 &lt;= balance) </a:t>
            </a:r>
          </a:p>
          <a:p>
            <a:r>
              <a:rPr lang="en-GB" dirty="0"/>
              <a:t>Money transferred in reverse</a:t>
            </a:r>
          </a:p>
          <a:p>
            <a:pPr marL="0" indent="0">
              <a:buNone/>
            </a:pPr>
            <a:endParaRPr lang="en-GB" sz="1200" dirty="0"/>
          </a:p>
        </p:txBody>
      </p:sp>
    </p:spTree>
    <p:extLst>
      <p:ext uri="{BB962C8B-B14F-4D97-AF65-F5344CB8AC3E}">
        <p14:creationId xmlns:p14="http://schemas.microsoft.com/office/powerpoint/2010/main" val="6958028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4CD95607-044D-365C-4C4A-07E24379C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09619-5BC1-E6EA-ABBF-316C2BC5CE06}"/>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Business Logic Vulnerabilities</a:t>
            </a:r>
            <a:endParaRPr lang="en-GB" b="1" dirty="0"/>
          </a:p>
        </p:txBody>
      </p:sp>
      <p:sp>
        <p:nvSpPr>
          <p:cNvPr id="5" name="Rectangle 2">
            <a:extLst>
              <a:ext uri="{FF2B5EF4-FFF2-40B4-BE49-F238E27FC236}">
                <a16:creationId xmlns:a16="http://schemas.microsoft.com/office/drawing/2014/main" id="{B93E34B4-DD22-18EC-8827-2FB1CE74DCE6}"/>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b="1" dirty="0"/>
              <a:t>Real Example (Business Abuse)</a:t>
            </a:r>
          </a:p>
          <a:p>
            <a:r>
              <a:rPr lang="en-GB" b="1" dirty="0"/>
              <a:t>Scenario: Discount Logic</a:t>
            </a:r>
            <a:endParaRPr lang="en-GB" dirty="0"/>
          </a:p>
          <a:p>
            <a:pPr lvl="1"/>
            <a:r>
              <a:rPr lang="en-GB" dirty="0"/>
              <a:t>10% discount if order &gt; $1000 </a:t>
            </a:r>
          </a:p>
          <a:p>
            <a:r>
              <a:rPr lang="en-GB" b="1" dirty="0"/>
              <a:t>Attack:</a:t>
            </a:r>
          </a:p>
          <a:p>
            <a:pPr lvl="1"/>
            <a:r>
              <a:rPr lang="en-GB" dirty="0"/>
              <a:t>Add items → reach $1000 </a:t>
            </a:r>
          </a:p>
          <a:p>
            <a:pPr lvl="1"/>
            <a:r>
              <a:rPr lang="en-GB" dirty="0"/>
              <a:t>Apply discount </a:t>
            </a:r>
          </a:p>
          <a:p>
            <a:pPr lvl="1"/>
            <a:r>
              <a:rPr lang="en-GB" dirty="0"/>
              <a:t>Remove items </a:t>
            </a:r>
          </a:p>
          <a:p>
            <a:r>
              <a:rPr lang="en-GB" b="1" dirty="0"/>
              <a:t>Result:</a:t>
            </a:r>
          </a:p>
          <a:p>
            <a:pPr lvl="1"/>
            <a:r>
              <a:rPr lang="en-GB" dirty="0"/>
              <a:t>Discount still applied</a:t>
            </a:r>
          </a:p>
          <a:p>
            <a:pPr marL="0" indent="0">
              <a:buNone/>
            </a:pPr>
            <a:endParaRPr lang="en-GB" sz="1200" dirty="0"/>
          </a:p>
        </p:txBody>
      </p:sp>
    </p:spTree>
    <p:extLst>
      <p:ext uri="{BB962C8B-B14F-4D97-AF65-F5344CB8AC3E}">
        <p14:creationId xmlns:p14="http://schemas.microsoft.com/office/powerpoint/2010/main" val="7087315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E95C5056-BF61-85FA-7DFD-10F79E294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F60E7-574D-B7DE-F35A-1C34B4C7A9F9}"/>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Business Logic Vulnerabilities</a:t>
            </a:r>
            <a:endParaRPr lang="en-GB" b="1" dirty="0"/>
          </a:p>
        </p:txBody>
      </p:sp>
      <p:sp>
        <p:nvSpPr>
          <p:cNvPr id="5" name="Rectangle 2">
            <a:extLst>
              <a:ext uri="{FF2B5EF4-FFF2-40B4-BE49-F238E27FC236}">
                <a16:creationId xmlns:a16="http://schemas.microsoft.com/office/drawing/2014/main" id="{0085DC25-C4C6-9B11-22AF-72327D08A5A1}"/>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b="1" dirty="0"/>
              <a:t>How Attackers Think (Testing Mindset)</a:t>
            </a:r>
          </a:p>
          <a:p>
            <a:r>
              <a:rPr lang="en-GB" dirty="0"/>
              <a:t>Attackers:</a:t>
            </a:r>
          </a:p>
          <a:p>
            <a:pPr lvl="1"/>
            <a:r>
              <a:rPr lang="en-GB" dirty="0"/>
              <a:t>Modify requests (Burp Proxy) </a:t>
            </a:r>
          </a:p>
          <a:p>
            <a:pPr lvl="1"/>
            <a:r>
              <a:rPr lang="en-GB" dirty="0"/>
              <a:t>Replay requests </a:t>
            </a:r>
          </a:p>
          <a:p>
            <a:pPr lvl="1"/>
            <a:r>
              <a:rPr lang="en-GB" dirty="0"/>
              <a:t>Skip steps </a:t>
            </a:r>
          </a:p>
          <a:p>
            <a:r>
              <a:rPr lang="en-GB" dirty="0"/>
              <a:t>Send: </a:t>
            </a:r>
          </a:p>
          <a:p>
            <a:pPr lvl="1"/>
            <a:r>
              <a:rPr lang="en-GB" dirty="0"/>
              <a:t>Negative values </a:t>
            </a:r>
          </a:p>
          <a:p>
            <a:pPr lvl="1"/>
            <a:r>
              <a:rPr lang="en-GB" dirty="0"/>
              <a:t>Huge numbers </a:t>
            </a:r>
          </a:p>
          <a:p>
            <a:pPr lvl="1"/>
            <a:r>
              <a:rPr lang="en-GB" dirty="0"/>
              <a:t>Missing parameters</a:t>
            </a:r>
          </a:p>
          <a:p>
            <a:pPr marL="0" indent="0">
              <a:buNone/>
            </a:pPr>
            <a:endParaRPr lang="en-GB" sz="1200" dirty="0"/>
          </a:p>
        </p:txBody>
      </p:sp>
    </p:spTree>
    <p:extLst>
      <p:ext uri="{BB962C8B-B14F-4D97-AF65-F5344CB8AC3E}">
        <p14:creationId xmlns:p14="http://schemas.microsoft.com/office/powerpoint/2010/main" val="10536559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F672932-E924-41F8-893E-5DF356856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9F487-0C17-B89F-5B56-AA93C795DB5D}"/>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Business Logic Vulnerabilities</a:t>
            </a:r>
            <a:endParaRPr lang="en-GB" b="1" dirty="0"/>
          </a:p>
        </p:txBody>
      </p:sp>
      <p:sp>
        <p:nvSpPr>
          <p:cNvPr id="5" name="Rectangle 2">
            <a:extLst>
              <a:ext uri="{FF2B5EF4-FFF2-40B4-BE49-F238E27FC236}">
                <a16:creationId xmlns:a16="http://schemas.microsoft.com/office/drawing/2014/main" id="{2CD559AD-C985-A49B-5E9E-A6038C3CD494}"/>
              </a:ext>
            </a:extLst>
          </p:cNvPr>
          <p:cNvSpPr>
            <a:spLocks noGrp="1" noChangeArrowheads="1"/>
          </p:cNvSpPr>
          <p:nvPr>
            <p:ph idx="1"/>
          </p:nvPr>
        </p:nvSpPr>
        <p:spPr bwMode="auto">
          <a:xfrm>
            <a:off x="685800" y="1873251"/>
            <a:ext cx="4756151"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sz="1200" b="1" dirty="0"/>
              <a:t>Secure Development &amp; Mitigation</a:t>
            </a:r>
          </a:p>
          <a:p>
            <a:r>
              <a:rPr lang="en-US" sz="1200" b="1" dirty="0"/>
              <a:t>Never Trust Client Input</a:t>
            </a:r>
          </a:p>
          <a:p>
            <a:pPr lvl="1"/>
            <a:r>
              <a:rPr lang="en-US" sz="1200" dirty="0"/>
              <a:t>Validate EVERYTHING server-side </a:t>
            </a:r>
          </a:p>
          <a:p>
            <a:r>
              <a:rPr lang="en-US" sz="1200" b="1" dirty="0"/>
              <a:t>Enforce Workflow (State Machine)</a:t>
            </a:r>
          </a:p>
          <a:p>
            <a:pPr lvl="1"/>
            <a:r>
              <a:rPr lang="en-US" sz="1200" dirty="0"/>
              <a:t>Validate: </a:t>
            </a:r>
          </a:p>
          <a:p>
            <a:pPr lvl="2"/>
            <a:r>
              <a:rPr lang="en-US" sz="1200" dirty="0"/>
              <a:t>Step order </a:t>
            </a:r>
          </a:p>
          <a:p>
            <a:pPr lvl="2"/>
            <a:r>
              <a:rPr lang="en-US" sz="1200" dirty="0"/>
              <a:t>Current state </a:t>
            </a:r>
          </a:p>
          <a:p>
            <a:r>
              <a:rPr lang="en-US" sz="1200" b="1" dirty="0"/>
              <a:t>Strict Input Validation</a:t>
            </a:r>
          </a:p>
          <a:p>
            <a:pPr lvl="1"/>
            <a:r>
              <a:rPr lang="en-US" sz="1200" dirty="0"/>
              <a:t>Type, range, format </a:t>
            </a:r>
          </a:p>
          <a:p>
            <a:pPr lvl="1"/>
            <a:r>
              <a:rPr lang="en-US" sz="1200" dirty="0"/>
              <a:t>Business rules (not just syntax) </a:t>
            </a:r>
          </a:p>
          <a:p>
            <a:pPr marL="0" indent="0">
              <a:buNone/>
            </a:pPr>
            <a:endParaRPr lang="en-GB" sz="500" dirty="0"/>
          </a:p>
        </p:txBody>
      </p:sp>
      <p:sp>
        <p:nvSpPr>
          <p:cNvPr id="3" name="Rectangle 2">
            <a:extLst>
              <a:ext uri="{FF2B5EF4-FFF2-40B4-BE49-F238E27FC236}">
                <a16:creationId xmlns:a16="http://schemas.microsoft.com/office/drawing/2014/main" id="{7A8481F5-8E17-685D-F2B3-EF344B4633D4}"/>
              </a:ext>
            </a:extLst>
          </p:cNvPr>
          <p:cNvSpPr txBox="1">
            <a:spLocks noChangeArrowheads="1"/>
          </p:cNvSpPr>
          <p:nvPr/>
        </p:nvSpPr>
        <p:spPr bwMode="auto">
          <a:xfrm>
            <a:off x="6750050" y="1969559"/>
            <a:ext cx="42925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1200" b="1" dirty="0"/>
              <a:t>Validate Every Request Independently</a:t>
            </a:r>
          </a:p>
          <a:p>
            <a:pPr lvl="1"/>
            <a:r>
              <a:rPr lang="en-US" sz="1200" dirty="0"/>
              <a:t>Do not rely on previous steps </a:t>
            </a:r>
          </a:p>
          <a:p>
            <a:r>
              <a:rPr lang="en-US" sz="1200" b="1" dirty="0"/>
              <a:t>Handle Edge Cases</a:t>
            </a:r>
          </a:p>
          <a:p>
            <a:pPr lvl="1"/>
            <a:r>
              <a:rPr lang="en-US" sz="1200" dirty="0"/>
              <a:t>Negative values </a:t>
            </a:r>
          </a:p>
          <a:p>
            <a:pPr lvl="1"/>
            <a:r>
              <a:rPr lang="en-US" sz="1200" dirty="0"/>
              <a:t>Missing parameters </a:t>
            </a:r>
          </a:p>
          <a:p>
            <a:pPr lvl="1"/>
            <a:r>
              <a:rPr lang="en-US" sz="1200" dirty="0"/>
              <a:t>Unexpected sequences </a:t>
            </a:r>
          </a:p>
          <a:p>
            <a:r>
              <a:rPr lang="en-US" sz="1200" b="1" dirty="0"/>
              <a:t>Keep Logic Simple &amp; Documented</a:t>
            </a:r>
          </a:p>
          <a:p>
            <a:pPr lvl="1"/>
            <a:r>
              <a:rPr lang="en-US" sz="1200" dirty="0"/>
              <a:t>Complex logic = hidden vulnerabilities</a:t>
            </a:r>
          </a:p>
          <a:p>
            <a:pPr marL="0" indent="0">
              <a:buFont typeface="Arial"/>
              <a:buNone/>
            </a:pPr>
            <a:endParaRPr lang="en-GB" sz="1200" dirty="0"/>
          </a:p>
        </p:txBody>
      </p:sp>
    </p:spTree>
    <p:extLst>
      <p:ext uri="{BB962C8B-B14F-4D97-AF65-F5344CB8AC3E}">
        <p14:creationId xmlns:p14="http://schemas.microsoft.com/office/powerpoint/2010/main" val="22659959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BB70440-2E7F-5965-1AB8-52528F17A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09253-A6B3-EADC-83C9-DA1955BA2613}"/>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Business Logic Vulnerabilities</a:t>
            </a:r>
            <a:endParaRPr lang="en-GB" b="1" dirty="0"/>
          </a:p>
        </p:txBody>
      </p:sp>
      <p:sp>
        <p:nvSpPr>
          <p:cNvPr id="5" name="Rectangle 2">
            <a:extLst>
              <a:ext uri="{FF2B5EF4-FFF2-40B4-BE49-F238E27FC236}">
                <a16:creationId xmlns:a16="http://schemas.microsoft.com/office/drawing/2014/main" id="{C09D1D2B-C472-B97F-EFC1-DC50F1A5C1A0}"/>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b="1" dirty="0"/>
              <a:t>How Attackers Think (Testing Mindset)</a:t>
            </a:r>
          </a:p>
          <a:p>
            <a:r>
              <a:rPr lang="en-GB" dirty="0"/>
              <a:t>Attackers:</a:t>
            </a:r>
          </a:p>
          <a:p>
            <a:pPr lvl="1"/>
            <a:r>
              <a:rPr lang="en-GB" dirty="0"/>
              <a:t>Modify requests (Burp Proxy) </a:t>
            </a:r>
          </a:p>
          <a:p>
            <a:pPr lvl="1"/>
            <a:r>
              <a:rPr lang="en-GB" dirty="0"/>
              <a:t>Replay requests </a:t>
            </a:r>
          </a:p>
          <a:p>
            <a:pPr lvl="1"/>
            <a:r>
              <a:rPr lang="en-GB" dirty="0"/>
              <a:t>Skip steps </a:t>
            </a:r>
          </a:p>
          <a:p>
            <a:r>
              <a:rPr lang="en-GB" dirty="0"/>
              <a:t>Send: </a:t>
            </a:r>
          </a:p>
          <a:p>
            <a:pPr lvl="1"/>
            <a:r>
              <a:rPr lang="en-GB" dirty="0"/>
              <a:t>Negative values </a:t>
            </a:r>
          </a:p>
          <a:p>
            <a:pPr lvl="1"/>
            <a:r>
              <a:rPr lang="en-GB" dirty="0"/>
              <a:t>Huge numbers </a:t>
            </a:r>
          </a:p>
          <a:p>
            <a:pPr lvl="1"/>
            <a:r>
              <a:rPr lang="en-GB" dirty="0"/>
              <a:t>Missing parameters</a:t>
            </a:r>
          </a:p>
          <a:p>
            <a:pPr marL="0" indent="0">
              <a:buNone/>
            </a:pPr>
            <a:endParaRPr lang="en-GB" sz="1200" dirty="0"/>
          </a:p>
        </p:txBody>
      </p:sp>
    </p:spTree>
    <p:extLst>
      <p:ext uri="{BB962C8B-B14F-4D97-AF65-F5344CB8AC3E}">
        <p14:creationId xmlns:p14="http://schemas.microsoft.com/office/powerpoint/2010/main" val="10922494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9A16AAA-3CAA-E95A-0C40-972E6194C5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29A43-AAD0-EFF9-85C7-C2F3E33AFC39}"/>
              </a:ext>
            </a:extLst>
          </p:cNvPr>
          <p:cNvSpPr>
            <a:spLocks noGrp="1"/>
          </p:cNvSpPr>
          <p:nvPr>
            <p:ph type="title"/>
          </p:nvPr>
        </p:nvSpPr>
        <p:spPr>
          <a:xfrm>
            <a:off x="825909" y="808055"/>
            <a:ext cx="3979205" cy="1453363"/>
          </a:xfrm>
        </p:spPr>
        <p:txBody>
          <a:bodyPr>
            <a:normAutofit/>
          </a:bodyPr>
          <a:lstStyle/>
          <a:p>
            <a:pPr>
              <a:lnSpc>
                <a:spcPct val="90000"/>
              </a:lnSpc>
            </a:pPr>
            <a:r>
              <a:rPr lang="en-GB" sz="3300"/>
              <a:t>OWASP Top 10: </a:t>
            </a:r>
            <a:r>
              <a:rPr lang="en-US" sz="3300"/>
              <a:t>Race Condition Vulnerabilities</a:t>
            </a:r>
            <a:endParaRPr lang="en-GB" sz="3300" b="1"/>
          </a:p>
        </p:txBody>
      </p:sp>
      <p:sp>
        <p:nvSpPr>
          <p:cNvPr id="5" name="Rectangle 2">
            <a:extLst>
              <a:ext uri="{FF2B5EF4-FFF2-40B4-BE49-F238E27FC236}">
                <a16:creationId xmlns:a16="http://schemas.microsoft.com/office/drawing/2014/main" id="{C1477775-3991-F6BD-2924-D01C3D8814BE}"/>
              </a:ext>
            </a:extLst>
          </p:cNvPr>
          <p:cNvSpPr>
            <a:spLocks noGrp="1" noChangeArrowheads="1"/>
          </p:cNvSpPr>
          <p:nvPr>
            <p:ph idx="1"/>
          </p:nvPr>
        </p:nvSpPr>
        <p:spPr bwMode="auto">
          <a:xfrm>
            <a:off x="802178" y="2261420"/>
            <a:ext cx="4002936" cy="363793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a:lnSpc>
                <a:spcPct val="90000"/>
              </a:lnSpc>
            </a:pPr>
            <a:r>
              <a:rPr lang="en-GB" sz="1400"/>
              <a:t>A </a:t>
            </a:r>
            <a:r>
              <a:rPr lang="en-GB" sz="1400" b="1"/>
              <a:t>Race Condition</a:t>
            </a:r>
            <a:r>
              <a:rPr lang="en-GB" sz="1400"/>
              <a:t> occurs when:</a:t>
            </a:r>
          </a:p>
          <a:p>
            <a:pPr lvl="1">
              <a:lnSpc>
                <a:spcPct val="90000"/>
              </a:lnSpc>
            </a:pPr>
            <a:r>
              <a:rPr lang="en-GB" sz="1400"/>
              <a:t>Multiple threads/processes access </a:t>
            </a:r>
            <a:r>
              <a:rPr lang="en-GB" sz="1400" b="1"/>
              <a:t>shared resource</a:t>
            </a:r>
            <a:r>
              <a:rPr lang="en-GB" sz="1400"/>
              <a:t> </a:t>
            </a:r>
          </a:p>
          <a:p>
            <a:pPr lvl="1">
              <a:lnSpc>
                <a:spcPct val="90000"/>
              </a:lnSpc>
            </a:pPr>
            <a:r>
              <a:rPr lang="en-GB" sz="1400"/>
              <a:t>Execution order is </a:t>
            </a:r>
            <a:r>
              <a:rPr lang="en-GB" sz="1400" b="1"/>
              <a:t>uncontrolled</a:t>
            </a:r>
            <a:r>
              <a:rPr lang="en-GB" sz="1400"/>
              <a:t> </a:t>
            </a:r>
          </a:p>
          <a:p>
            <a:pPr lvl="1">
              <a:lnSpc>
                <a:spcPct val="90000"/>
              </a:lnSpc>
            </a:pPr>
            <a:r>
              <a:rPr lang="en-GB" sz="1400"/>
              <a:t>Final result depends on </a:t>
            </a:r>
            <a:r>
              <a:rPr lang="en-GB" sz="1400" b="1"/>
              <a:t>timing</a:t>
            </a:r>
            <a:r>
              <a:rPr lang="en-GB" sz="1400"/>
              <a:t> </a:t>
            </a:r>
          </a:p>
          <a:p>
            <a:pPr>
              <a:lnSpc>
                <a:spcPct val="90000"/>
              </a:lnSpc>
            </a:pPr>
            <a:r>
              <a:rPr lang="en-GB" sz="1400" i="1"/>
              <a:t>“Who executes first changes the result”</a:t>
            </a:r>
            <a:endParaRPr lang="en-GB" sz="1400"/>
          </a:p>
          <a:p>
            <a:pPr>
              <a:lnSpc>
                <a:spcPct val="90000"/>
              </a:lnSpc>
            </a:pPr>
            <a:r>
              <a:rPr lang="en-GB" sz="1400" b="1"/>
              <a:t>Example (Real Scenario)</a:t>
            </a:r>
          </a:p>
          <a:p>
            <a:pPr lvl="1">
              <a:lnSpc>
                <a:spcPct val="90000"/>
              </a:lnSpc>
            </a:pPr>
            <a:r>
              <a:rPr lang="en-GB" sz="1400"/>
              <a:t>Promo code: </a:t>
            </a:r>
            <a:r>
              <a:rPr lang="en-GB" sz="1400" b="1"/>
              <a:t>$20 (single-use)</a:t>
            </a:r>
            <a:r>
              <a:rPr lang="en-GB" sz="1400"/>
              <a:t> </a:t>
            </a:r>
          </a:p>
          <a:p>
            <a:pPr lvl="1">
              <a:lnSpc>
                <a:spcPct val="90000"/>
              </a:lnSpc>
            </a:pPr>
            <a:r>
              <a:rPr lang="en-GB" sz="1400"/>
              <a:t>Attacker sends </a:t>
            </a:r>
            <a:r>
              <a:rPr lang="en-GB" sz="1400" b="1"/>
              <a:t>multiple requests simultaneously</a:t>
            </a:r>
            <a:r>
              <a:rPr lang="en-GB" sz="1400"/>
              <a:t> </a:t>
            </a:r>
          </a:p>
          <a:p>
            <a:pPr lvl="1">
              <a:lnSpc>
                <a:spcPct val="90000"/>
              </a:lnSpc>
            </a:pPr>
            <a:r>
              <a:rPr lang="en-GB" sz="1400"/>
              <a:t>Code used </a:t>
            </a:r>
            <a:r>
              <a:rPr lang="en-GB" sz="1400" b="1"/>
              <a:t>multiple times</a:t>
            </a:r>
            <a:r>
              <a:rPr lang="en-GB" sz="1400"/>
              <a:t> </a:t>
            </a:r>
          </a:p>
          <a:p>
            <a:pPr>
              <a:lnSpc>
                <a:spcPct val="90000"/>
              </a:lnSpc>
            </a:pPr>
            <a:r>
              <a:rPr lang="en-GB" sz="1400"/>
              <a:t>Result: </a:t>
            </a:r>
            <a:r>
              <a:rPr lang="en-GB" sz="1400" b="1"/>
              <a:t>Business loss</a:t>
            </a:r>
            <a:endParaRPr lang="en-GB" sz="1400"/>
          </a:p>
          <a:p>
            <a:pPr marL="0" indent="0">
              <a:lnSpc>
                <a:spcPct val="90000"/>
              </a:lnSpc>
              <a:buNone/>
            </a:pPr>
            <a:endParaRPr lang="en-GB" sz="1400"/>
          </a:p>
        </p:txBody>
      </p:sp>
      <p:pic>
        <p:nvPicPr>
          <p:cNvPr id="6" name="Picture 5">
            <a:extLst>
              <a:ext uri="{FF2B5EF4-FFF2-40B4-BE49-F238E27FC236}">
                <a16:creationId xmlns:a16="http://schemas.microsoft.com/office/drawing/2014/main" id="{3DE2D3D0-DF90-6109-6C4B-3DB1E99BBDA0}"/>
              </a:ext>
            </a:extLst>
          </p:cNvPr>
          <p:cNvPicPr>
            <a:picLocks noChangeAspect="1"/>
          </p:cNvPicPr>
          <p:nvPr/>
        </p:nvPicPr>
        <p:blipFill>
          <a:blip r:embed="rId3"/>
          <a:stretch>
            <a:fillRect/>
          </a:stretch>
        </p:blipFill>
        <p:spPr>
          <a:xfrm>
            <a:off x="5289752" y="2060190"/>
            <a:ext cx="6095593" cy="2575388"/>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3" name="AutoShape 2">
            <a:extLst>
              <a:ext uri="{FF2B5EF4-FFF2-40B4-BE49-F238E27FC236}">
                <a16:creationId xmlns:a16="http://schemas.microsoft.com/office/drawing/2014/main" id="{7A5B465B-FF6A-9A3F-A7C1-58D4A60C5F74}"/>
              </a:ext>
            </a:extLst>
          </p:cNvPr>
          <p:cNvSpPr>
            <a:spLocks noChangeAspect="1" noChangeArrowheads="1"/>
          </p:cNvSpPr>
          <p:nvPr/>
        </p:nvSpPr>
        <p:spPr bwMode="auto">
          <a:xfrm>
            <a:off x="595313" y="1104900"/>
            <a:ext cx="11001375" cy="4648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9488914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56FAFB52-6C91-FB3B-34D9-36667A1AD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DBF2A-2F52-4A54-081E-B657CA7A3570}"/>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Race Condition Vulnerabilities</a:t>
            </a:r>
            <a:endParaRPr lang="en-GB" b="1" dirty="0"/>
          </a:p>
        </p:txBody>
      </p:sp>
      <p:sp>
        <p:nvSpPr>
          <p:cNvPr id="5" name="Rectangle 2">
            <a:extLst>
              <a:ext uri="{FF2B5EF4-FFF2-40B4-BE49-F238E27FC236}">
                <a16:creationId xmlns:a16="http://schemas.microsoft.com/office/drawing/2014/main" id="{F4B3F3AB-B521-A53B-AB79-3D5FC0CC5AC7}"/>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b="1" dirty="0"/>
              <a:t>Timing + Shared State</a:t>
            </a:r>
          </a:p>
          <a:p>
            <a:r>
              <a:rPr lang="en-GB" dirty="0"/>
              <a:t>Occurs when:</a:t>
            </a:r>
          </a:p>
          <a:p>
            <a:pPr lvl="1"/>
            <a:r>
              <a:rPr lang="en-GB" dirty="0"/>
              <a:t>Operations must happen in </a:t>
            </a:r>
            <a:r>
              <a:rPr lang="en-GB" b="1" dirty="0"/>
              <a:t>specific order</a:t>
            </a:r>
            <a:r>
              <a:rPr lang="en-GB" dirty="0"/>
              <a:t> </a:t>
            </a:r>
          </a:p>
          <a:p>
            <a:pPr lvl="1"/>
            <a:r>
              <a:rPr lang="en-GB" dirty="0"/>
              <a:t>But system does NOT enforce it </a:t>
            </a:r>
          </a:p>
          <a:p>
            <a:r>
              <a:rPr lang="en-GB" b="1" dirty="0"/>
              <a:t>Key Concepts:</a:t>
            </a:r>
          </a:p>
          <a:p>
            <a:pPr lvl="1"/>
            <a:r>
              <a:rPr lang="en-GB" b="1" dirty="0"/>
              <a:t>Critical Section</a:t>
            </a:r>
            <a:r>
              <a:rPr lang="en-GB" dirty="0"/>
              <a:t> → shared sensitive code/data </a:t>
            </a:r>
          </a:p>
          <a:p>
            <a:pPr lvl="1"/>
            <a:r>
              <a:rPr lang="en-GB" b="1" dirty="0"/>
              <a:t>Concurrency</a:t>
            </a:r>
            <a:r>
              <a:rPr lang="en-GB" dirty="0"/>
              <a:t> → multiple executions in parallel </a:t>
            </a:r>
          </a:p>
          <a:p>
            <a:pPr lvl="1"/>
            <a:r>
              <a:rPr lang="en-GB" b="1" dirty="0"/>
              <a:t>Synchronization missing</a:t>
            </a:r>
            <a:r>
              <a:rPr lang="en-GB" dirty="0"/>
              <a:t> → vulnerability</a:t>
            </a:r>
          </a:p>
          <a:p>
            <a:pPr marL="0" indent="0">
              <a:buNone/>
            </a:pPr>
            <a:endParaRPr lang="en-GB" sz="1200" dirty="0"/>
          </a:p>
        </p:txBody>
      </p:sp>
    </p:spTree>
    <p:extLst>
      <p:ext uri="{BB962C8B-B14F-4D97-AF65-F5344CB8AC3E}">
        <p14:creationId xmlns:p14="http://schemas.microsoft.com/office/powerpoint/2010/main" val="6934310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31E1A65-E7AA-8C88-ABD3-CB9B101B2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9005B-68C9-735B-745E-FBD1D27C24EC}"/>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Race Condition Vulnerabilities</a:t>
            </a:r>
            <a:endParaRPr lang="en-GB" b="1" dirty="0"/>
          </a:p>
        </p:txBody>
      </p:sp>
      <p:sp>
        <p:nvSpPr>
          <p:cNvPr id="5" name="Rectangle 2">
            <a:extLst>
              <a:ext uri="{FF2B5EF4-FFF2-40B4-BE49-F238E27FC236}">
                <a16:creationId xmlns:a16="http://schemas.microsoft.com/office/drawing/2014/main" id="{5C3A55B5-A0DE-7B7C-0F64-8995DA8E381F}"/>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GB" b="1" dirty="0"/>
              <a:t>Types of Race Conditions</a:t>
            </a:r>
          </a:p>
          <a:p>
            <a:r>
              <a:rPr lang="en-GB" b="1" dirty="0"/>
              <a:t>Data Race</a:t>
            </a:r>
          </a:p>
          <a:p>
            <a:pPr lvl="1"/>
            <a:r>
              <a:rPr lang="en-GB" dirty="0"/>
              <a:t>Multiple threads modify same data </a:t>
            </a:r>
          </a:p>
          <a:p>
            <a:pPr lvl="1"/>
            <a:r>
              <a:rPr lang="en-GB" dirty="0"/>
              <a:t>Result = unpredictable </a:t>
            </a:r>
          </a:p>
          <a:p>
            <a:r>
              <a:rPr lang="en-GB" b="1" dirty="0"/>
              <a:t>TOCTOU (Time-of-Check → Time-of-Use)</a:t>
            </a:r>
          </a:p>
          <a:p>
            <a:pPr lvl="1"/>
            <a:r>
              <a:rPr lang="en-GB" dirty="0"/>
              <a:t>Check happens → state changes → action executed </a:t>
            </a:r>
          </a:p>
          <a:p>
            <a:pPr lvl="1"/>
            <a:r>
              <a:rPr lang="en-GB" dirty="0"/>
              <a:t>Leads to bypass </a:t>
            </a:r>
          </a:p>
          <a:p>
            <a:r>
              <a:rPr lang="en-GB" b="1" dirty="0"/>
              <a:t>File/System Race</a:t>
            </a:r>
          </a:p>
          <a:p>
            <a:pPr lvl="1"/>
            <a:r>
              <a:rPr lang="en-GB" dirty="0"/>
              <a:t>Concurrent file operations </a:t>
            </a:r>
          </a:p>
          <a:p>
            <a:r>
              <a:rPr lang="en-GB" b="1" dirty="0"/>
              <a:t>Memory Race</a:t>
            </a:r>
          </a:p>
          <a:p>
            <a:pPr lvl="1"/>
            <a:r>
              <a:rPr lang="en-GB" dirty="0"/>
              <a:t>Shared variable updated without control</a:t>
            </a:r>
          </a:p>
          <a:p>
            <a:pPr marL="0" indent="0">
              <a:buNone/>
            </a:pPr>
            <a:endParaRPr lang="en-GB" sz="1200" dirty="0"/>
          </a:p>
        </p:txBody>
      </p:sp>
    </p:spTree>
    <p:extLst>
      <p:ext uri="{BB962C8B-B14F-4D97-AF65-F5344CB8AC3E}">
        <p14:creationId xmlns:p14="http://schemas.microsoft.com/office/powerpoint/2010/main" val="21913485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CBD1C1B-94EB-44A2-D3C5-C0CCBBF9CC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9686A-E96C-5F51-6E04-19D8A8221386}"/>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Race Condition Vulnerabilities</a:t>
            </a:r>
            <a:endParaRPr lang="en-GB" b="1" dirty="0"/>
          </a:p>
        </p:txBody>
      </p:sp>
      <p:sp>
        <p:nvSpPr>
          <p:cNvPr id="5" name="Rectangle 2">
            <a:extLst>
              <a:ext uri="{FF2B5EF4-FFF2-40B4-BE49-F238E27FC236}">
                <a16:creationId xmlns:a16="http://schemas.microsoft.com/office/drawing/2014/main" id="{BBCABD0D-8925-BB87-D2E7-34B1FA5DA8CE}"/>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GB" b="1" dirty="0"/>
              <a:t>Types of Race Conditions</a:t>
            </a:r>
          </a:p>
          <a:p>
            <a:r>
              <a:rPr lang="en-GB" b="1" dirty="0"/>
              <a:t>Why Developers Miss It</a:t>
            </a:r>
          </a:p>
          <a:p>
            <a:pPr lvl="1"/>
            <a:r>
              <a:rPr lang="en-GB" dirty="0"/>
              <a:t>Works fine in normal testing </a:t>
            </a:r>
          </a:p>
          <a:p>
            <a:pPr lvl="1"/>
            <a:r>
              <a:rPr lang="en-GB" dirty="0"/>
              <a:t>Requires </a:t>
            </a:r>
            <a:r>
              <a:rPr lang="en-GB" b="1" dirty="0"/>
              <a:t>parallel execution</a:t>
            </a:r>
            <a:r>
              <a:rPr lang="en-GB" dirty="0"/>
              <a:t> </a:t>
            </a:r>
          </a:p>
          <a:p>
            <a:pPr lvl="1"/>
            <a:r>
              <a:rPr lang="en-GB" dirty="0"/>
              <a:t>Hard to reproduce manually </a:t>
            </a:r>
          </a:p>
          <a:p>
            <a:r>
              <a:rPr lang="en-GB" b="1" dirty="0"/>
              <a:t>Common Mistakes:</a:t>
            </a:r>
          </a:p>
          <a:p>
            <a:pPr lvl="1"/>
            <a:r>
              <a:rPr lang="en-GB" dirty="0"/>
              <a:t>No locking mechanism </a:t>
            </a:r>
          </a:p>
          <a:p>
            <a:pPr lvl="1"/>
            <a:r>
              <a:rPr lang="en-GB" dirty="0"/>
              <a:t>Non-atomic operations </a:t>
            </a:r>
          </a:p>
          <a:p>
            <a:pPr lvl="1"/>
            <a:r>
              <a:rPr lang="en-GB" dirty="0"/>
              <a:t>Assuming single request at a time </a:t>
            </a:r>
          </a:p>
          <a:p>
            <a:pPr lvl="1"/>
            <a:r>
              <a:rPr lang="en-GB" dirty="0"/>
              <a:t>Ignoring concurrency in design</a:t>
            </a:r>
          </a:p>
          <a:p>
            <a:pPr marL="0" indent="0">
              <a:buNone/>
            </a:pPr>
            <a:endParaRPr lang="en-GB" sz="1200" dirty="0"/>
          </a:p>
        </p:txBody>
      </p:sp>
    </p:spTree>
    <p:extLst>
      <p:ext uri="{BB962C8B-B14F-4D97-AF65-F5344CB8AC3E}">
        <p14:creationId xmlns:p14="http://schemas.microsoft.com/office/powerpoint/2010/main" val="39748825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CC8D4E7-9285-A061-9531-A1BD5EA8AF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09799-A2B1-EBF5-28DB-683BBF565B3C}"/>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Race Condition Vulnerabilities</a:t>
            </a:r>
            <a:endParaRPr lang="en-GB" b="1" dirty="0"/>
          </a:p>
        </p:txBody>
      </p:sp>
      <p:sp>
        <p:nvSpPr>
          <p:cNvPr id="5" name="Rectangle 2">
            <a:extLst>
              <a:ext uri="{FF2B5EF4-FFF2-40B4-BE49-F238E27FC236}">
                <a16:creationId xmlns:a16="http://schemas.microsoft.com/office/drawing/2014/main" id="{ED2F51A3-34F5-77D1-6D29-0CFA167BB713}"/>
              </a:ext>
            </a:extLst>
          </p:cNvPr>
          <p:cNvSpPr>
            <a:spLocks noGrp="1" noChangeArrowheads="1"/>
          </p:cNvSpPr>
          <p:nvPr>
            <p:ph idx="1"/>
          </p:nvPr>
        </p:nvSpPr>
        <p:spPr bwMode="auto">
          <a:xfrm>
            <a:off x="685800" y="1873251"/>
            <a:ext cx="52196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sz="1400" b="1" dirty="0"/>
              <a:t>Mitigation </a:t>
            </a:r>
          </a:p>
          <a:p>
            <a:r>
              <a:rPr lang="en-US" sz="1400" b="1" dirty="0"/>
              <a:t>Use Locks (Mutex)</a:t>
            </a:r>
          </a:p>
          <a:p>
            <a:pPr lvl="1"/>
            <a:r>
              <a:rPr lang="en-US" sz="1200" dirty="0"/>
              <a:t>with lock:</a:t>
            </a:r>
            <a:br>
              <a:rPr lang="en-US" sz="1200" dirty="0"/>
            </a:br>
            <a:r>
              <a:rPr lang="en-US" sz="1200" dirty="0"/>
              <a:t>    </a:t>
            </a:r>
            <a:r>
              <a:rPr lang="en-US" sz="1200" dirty="0" err="1"/>
              <a:t>critical_section</a:t>
            </a:r>
            <a:r>
              <a:rPr lang="en-US" sz="1200" dirty="0"/>
              <a:t>()</a:t>
            </a:r>
          </a:p>
          <a:p>
            <a:pPr lvl="1"/>
            <a:r>
              <a:rPr lang="en-US" sz="1200" dirty="0"/>
              <a:t>Only one thread executes</a:t>
            </a:r>
          </a:p>
          <a:p>
            <a:r>
              <a:rPr lang="en-US" sz="1400" b="1" dirty="0"/>
              <a:t>Atomic Operations</a:t>
            </a:r>
          </a:p>
          <a:p>
            <a:pPr lvl="1"/>
            <a:r>
              <a:rPr lang="en-US" sz="1200" dirty="0"/>
              <a:t>Ensure operation is </a:t>
            </a:r>
            <a:r>
              <a:rPr lang="en-US" sz="1200" b="1" dirty="0"/>
              <a:t>indivisible</a:t>
            </a:r>
            <a:r>
              <a:rPr lang="en-US" sz="1200" dirty="0"/>
              <a:t> </a:t>
            </a:r>
          </a:p>
          <a:p>
            <a:pPr lvl="1"/>
            <a:r>
              <a:rPr lang="en-US" sz="1200" dirty="0"/>
              <a:t>Example: </a:t>
            </a:r>
          </a:p>
          <a:p>
            <a:pPr lvl="2"/>
            <a:r>
              <a:rPr lang="en-US" sz="1000" dirty="0"/>
              <a:t>DB transactions </a:t>
            </a:r>
          </a:p>
          <a:p>
            <a:pPr lvl="2"/>
            <a:r>
              <a:rPr lang="en-US" sz="1000" dirty="0"/>
              <a:t>atomic counters </a:t>
            </a:r>
            <a:endParaRPr lang="en-US" sz="1200" dirty="0"/>
          </a:p>
          <a:p>
            <a:r>
              <a:rPr lang="en-US" sz="1400" b="1" dirty="0"/>
              <a:t>Enforce Transaction Integrity</a:t>
            </a:r>
          </a:p>
          <a:p>
            <a:pPr lvl="1"/>
            <a:r>
              <a:rPr lang="en-US" sz="1200" dirty="0"/>
              <a:t>Use: </a:t>
            </a:r>
          </a:p>
          <a:p>
            <a:pPr lvl="2"/>
            <a:r>
              <a:rPr lang="en-US" sz="1000" dirty="0"/>
              <a:t>Database locks </a:t>
            </a:r>
          </a:p>
          <a:p>
            <a:pPr lvl="2"/>
            <a:r>
              <a:rPr lang="en-US" sz="1000" dirty="0"/>
              <a:t>Transactions (ACID) </a:t>
            </a:r>
            <a:endParaRPr lang="en-US" sz="1200" dirty="0"/>
          </a:p>
        </p:txBody>
      </p:sp>
      <p:sp>
        <p:nvSpPr>
          <p:cNvPr id="3" name="Rectangle 2">
            <a:extLst>
              <a:ext uri="{FF2B5EF4-FFF2-40B4-BE49-F238E27FC236}">
                <a16:creationId xmlns:a16="http://schemas.microsoft.com/office/drawing/2014/main" id="{B7C62C5F-7E44-42EA-6919-EB2C5797850A}"/>
              </a:ext>
            </a:extLst>
          </p:cNvPr>
          <p:cNvSpPr txBox="1">
            <a:spLocks noChangeArrowheads="1"/>
          </p:cNvSpPr>
          <p:nvPr/>
        </p:nvSpPr>
        <p:spPr bwMode="auto">
          <a:xfrm>
            <a:off x="6629400" y="2015067"/>
            <a:ext cx="52196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1200" b="1" dirty="0"/>
              <a:t>Avoid TOCTOU</a:t>
            </a:r>
          </a:p>
          <a:p>
            <a:r>
              <a:rPr lang="en-US" sz="1200" dirty="0"/>
              <a:t>Bad:</a:t>
            </a:r>
          </a:p>
          <a:p>
            <a:pPr lvl="1"/>
            <a:r>
              <a:rPr lang="en-US" sz="1200" dirty="0"/>
              <a:t>Check → Wait → Use</a:t>
            </a:r>
          </a:p>
          <a:p>
            <a:r>
              <a:rPr lang="en-US" sz="1200" dirty="0"/>
              <a:t>Good:</a:t>
            </a:r>
          </a:p>
          <a:p>
            <a:pPr lvl="1"/>
            <a:r>
              <a:rPr lang="en-US" sz="1200" dirty="0"/>
              <a:t>Check + Use (Atomic)</a:t>
            </a:r>
          </a:p>
          <a:p>
            <a:r>
              <a:rPr lang="en-US" sz="1200" b="1" dirty="0"/>
              <a:t>Idempotency (Web Apps)</a:t>
            </a:r>
          </a:p>
          <a:p>
            <a:pPr lvl="1"/>
            <a:r>
              <a:rPr lang="en-US" sz="1200" dirty="0"/>
              <a:t>Same request = same result </a:t>
            </a:r>
          </a:p>
          <a:p>
            <a:pPr lvl="1"/>
            <a:r>
              <a:rPr lang="en-US" sz="1200" dirty="0"/>
              <a:t>Prevent duplicate processing </a:t>
            </a:r>
          </a:p>
          <a:p>
            <a:r>
              <a:rPr lang="en-US" sz="1200" b="1" dirty="0"/>
              <a:t>Rate Limiting &amp; Queuing</a:t>
            </a:r>
          </a:p>
          <a:p>
            <a:pPr lvl="1"/>
            <a:r>
              <a:rPr lang="en-US" sz="1200" dirty="0"/>
              <a:t>Prevent parallel abuse </a:t>
            </a:r>
          </a:p>
          <a:p>
            <a:pPr marL="0" indent="0">
              <a:buFont typeface="Arial"/>
              <a:buNone/>
            </a:pPr>
            <a:endParaRPr lang="en-GB" sz="1100" dirty="0"/>
          </a:p>
        </p:txBody>
      </p:sp>
    </p:spTree>
    <p:extLst>
      <p:ext uri="{BB962C8B-B14F-4D97-AF65-F5344CB8AC3E}">
        <p14:creationId xmlns:p14="http://schemas.microsoft.com/office/powerpoint/2010/main" val="37272207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EE56E5A1-2C34-F13C-9C78-63C37214A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C9C1AA-667F-6238-EE71-E188A33D2BE7}"/>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ABBB7663-7D78-21E6-3DA5-51707D5E9610}"/>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a:extLst>
              <a:ext uri="{FF2B5EF4-FFF2-40B4-BE49-F238E27FC236}">
                <a16:creationId xmlns:a16="http://schemas.microsoft.com/office/drawing/2014/main" id="{1F42C24A-6A20-EAEF-857C-918422E95F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2478" y="3200400"/>
            <a:ext cx="4821586" cy="2768191"/>
          </a:xfrm>
          <a:prstGeom prst="rect">
            <a:avLst/>
          </a:prstGeom>
        </p:spPr>
      </p:pic>
      <p:sp>
        <p:nvSpPr>
          <p:cNvPr id="16" name="TextBox 15">
            <a:extLst>
              <a:ext uri="{FF2B5EF4-FFF2-40B4-BE49-F238E27FC236}">
                <a16:creationId xmlns:a16="http://schemas.microsoft.com/office/drawing/2014/main" id="{20CE7675-23A6-5FA2-ADB9-DCC9E2BB7EB6}"/>
              </a:ext>
            </a:extLst>
          </p:cNvPr>
          <p:cNvSpPr txBox="1"/>
          <p:nvPr/>
        </p:nvSpPr>
        <p:spPr>
          <a:xfrm>
            <a:off x="685800" y="2065867"/>
            <a:ext cx="6106160" cy="4708981"/>
          </a:xfrm>
          <a:prstGeom prst="rect">
            <a:avLst/>
          </a:prstGeom>
          <a:noFill/>
        </p:spPr>
        <p:txBody>
          <a:bodyPr wrap="square">
            <a:spAutoFit/>
          </a:bodyPr>
          <a:lstStyle/>
          <a:p>
            <a:pPr>
              <a:buNone/>
            </a:pPr>
            <a:r>
              <a:rPr lang="en-GB" sz="1200" dirty="0"/>
              <a:t>A JWT consists of three main components:</a:t>
            </a:r>
          </a:p>
          <a:p>
            <a:pPr>
              <a:buFont typeface="Arial" panose="020B0604020202020204" pitchFamily="34" charset="0"/>
              <a:buChar char="•"/>
            </a:pPr>
            <a:r>
              <a:rPr lang="en-GB" sz="1200" b="1" dirty="0"/>
              <a:t>Header</a:t>
            </a:r>
            <a:endParaRPr lang="en-GB" sz="1200" dirty="0"/>
          </a:p>
          <a:p>
            <a:pPr>
              <a:buFont typeface="Arial" panose="020B0604020202020204" pitchFamily="34" charset="0"/>
              <a:buChar char="•"/>
            </a:pPr>
            <a:r>
              <a:rPr lang="en-GB" sz="1200" b="1" dirty="0"/>
              <a:t>Payload</a:t>
            </a:r>
            <a:endParaRPr lang="en-GB" sz="1200" dirty="0"/>
          </a:p>
          <a:p>
            <a:pPr>
              <a:buFont typeface="Arial" panose="020B0604020202020204" pitchFamily="34" charset="0"/>
              <a:buChar char="•"/>
            </a:pPr>
            <a:r>
              <a:rPr lang="en-GB" sz="1200" b="1" dirty="0"/>
              <a:t>Signature</a:t>
            </a:r>
            <a:endParaRPr lang="en-GB" sz="1200" dirty="0"/>
          </a:p>
          <a:p>
            <a:pPr>
              <a:buNone/>
            </a:pPr>
            <a:r>
              <a:rPr lang="en-GB" sz="1200" dirty="0"/>
              <a:t>These three components are combined and separated by dots (.) to form the JWT.</a:t>
            </a:r>
          </a:p>
          <a:p>
            <a:pPr>
              <a:buNone/>
            </a:pPr>
            <a:endParaRPr lang="en-GB" sz="1200" dirty="0"/>
          </a:p>
          <a:p>
            <a:pPr>
              <a:buNone/>
            </a:pPr>
            <a:r>
              <a:rPr lang="en-GB" sz="1200" b="1" dirty="0"/>
              <a:t>Header:</a:t>
            </a:r>
            <a:r>
              <a:rPr lang="en-GB" sz="1200" dirty="0"/>
              <a:t> The header specifies the type of token and the signing algorithm used. It usually contains a JSON object like this:</a:t>
            </a:r>
          </a:p>
          <a:p>
            <a:pPr>
              <a:buNone/>
            </a:pPr>
            <a:r>
              <a:rPr lang="en-GB" sz="1200" dirty="0">
                <a:latin typeface="Courier New" panose="02070309020205020404" pitchFamily="49" charset="0"/>
              </a:rPr>
              <a:t>{</a:t>
            </a:r>
          </a:p>
          <a:p>
            <a:pPr>
              <a:buNone/>
            </a:pPr>
            <a:r>
              <a:rPr lang="en-GB" sz="1200" dirty="0">
                <a:latin typeface="Courier New" panose="02070309020205020404" pitchFamily="49" charset="0"/>
              </a:rPr>
              <a:t>  "</a:t>
            </a:r>
            <a:r>
              <a:rPr lang="en-GB" sz="1200" dirty="0" err="1">
                <a:latin typeface="Courier New" panose="02070309020205020404" pitchFamily="49" charset="0"/>
              </a:rPr>
              <a:t>alg</a:t>
            </a:r>
            <a:r>
              <a:rPr lang="en-GB" sz="1200" dirty="0">
                <a:latin typeface="Courier New" panose="02070309020205020404" pitchFamily="49" charset="0"/>
              </a:rPr>
              <a:t>": "HS256",</a:t>
            </a:r>
          </a:p>
          <a:p>
            <a:pPr>
              <a:buNone/>
            </a:pPr>
            <a:r>
              <a:rPr lang="en-GB" sz="1200" dirty="0">
                <a:latin typeface="Courier New" panose="02070309020205020404" pitchFamily="49" charset="0"/>
              </a:rPr>
              <a:t>    "</a:t>
            </a:r>
            <a:r>
              <a:rPr lang="en-GB" sz="1200" dirty="0" err="1">
                <a:latin typeface="Courier New" panose="02070309020205020404" pitchFamily="49" charset="0"/>
              </a:rPr>
              <a:t>typ</a:t>
            </a:r>
            <a:r>
              <a:rPr lang="en-GB" sz="1200" dirty="0">
                <a:latin typeface="Courier New" panose="02070309020205020404" pitchFamily="49" charset="0"/>
              </a:rPr>
              <a:t>": "JWT"</a:t>
            </a:r>
          </a:p>
          <a:p>
            <a:pPr>
              <a:buNone/>
            </a:pPr>
            <a:endParaRPr lang="en-GB" sz="1200" dirty="0">
              <a:latin typeface="Courier New" panose="02070309020205020404" pitchFamily="49" charset="0"/>
            </a:endParaRPr>
          </a:p>
          <a:p>
            <a:pPr>
              <a:buNone/>
            </a:pPr>
            <a:r>
              <a:rPr lang="en-GB" sz="1200" dirty="0">
                <a:latin typeface="Courier New" panose="02070309020205020404" pitchFamily="49" charset="0"/>
              </a:rPr>
              <a:t>}</a:t>
            </a:r>
          </a:p>
          <a:p>
            <a:pPr>
              <a:buNone/>
            </a:pPr>
            <a:endParaRPr lang="en-GB" sz="1200" dirty="0">
              <a:latin typeface="Courier New" panose="02070309020205020404" pitchFamily="49" charset="0"/>
            </a:endParaRPr>
          </a:p>
          <a:p>
            <a:r>
              <a:rPr lang="en-GB" sz="1200" b="1" dirty="0"/>
              <a:t>Payload:</a:t>
            </a:r>
            <a:r>
              <a:rPr lang="en-GB" sz="1200" dirty="0"/>
              <a:t> The payload contains the data to be carried inside the token. This data can include information such as user ID and the token's expiration date.</a:t>
            </a:r>
          </a:p>
          <a:p>
            <a:r>
              <a:rPr lang="en-GB" sz="1200" dirty="0"/>
              <a:t>{</a:t>
            </a:r>
          </a:p>
          <a:p>
            <a:r>
              <a:rPr lang="en-GB" sz="1200" dirty="0"/>
              <a:t>  "sub": "1234567890",</a:t>
            </a:r>
          </a:p>
          <a:p>
            <a:r>
              <a:rPr lang="en-GB" sz="1200" dirty="0"/>
              <a:t>  "name": "John Doe",</a:t>
            </a:r>
          </a:p>
          <a:p>
            <a:r>
              <a:rPr lang="en-GB" sz="1200" dirty="0"/>
              <a:t>    "</a:t>
            </a:r>
            <a:r>
              <a:rPr lang="en-GB" sz="1200" dirty="0" err="1"/>
              <a:t>iat</a:t>
            </a:r>
            <a:r>
              <a:rPr lang="en-GB" sz="1200" dirty="0"/>
              <a:t>": 1516239022</a:t>
            </a:r>
          </a:p>
          <a:p>
            <a:r>
              <a:rPr lang="en-GB" sz="1200" dirty="0"/>
              <a:t>}</a:t>
            </a:r>
          </a:p>
          <a:p>
            <a:endParaRPr lang="en-GB" sz="1200" dirty="0"/>
          </a:p>
          <a:p>
            <a:r>
              <a:rPr lang="en-GB" sz="1200" b="1" dirty="0"/>
              <a:t>Signature:</a:t>
            </a:r>
            <a:r>
              <a:rPr lang="en-GB" sz="1200" dirty="0"/>
              <a:t> The signature is created by combining and signing the header and payload. The signature helps verify that the JWT has not been tampered with and is trustworthy.</a:t>
            </a:r>
          </a:p>
          <a:p>
            <a:pPr>
              <a:buNone/>
            </a:pPr>
            <a:endParaRPr lang="en-GB" sz="1200" dirty="0">
              <a:latin typeface="Courier New" panose="02070309020205020404" pitchFamily="49" charset="0"/>
            </a:endParaRPr>
          </a:p>
        </p:txBody>
      </p:sp>
    </p:spTree>
    <p:extLst>
      <p:ext uri="{BB962C8B-B14F-4D97-AF65-F5344CB8AC3E}">
        <p14:creationId xmlns:p14="http://schemas.microsoft.com/office/powerpoint/2010/main" val="42706231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D0495623-1301-280D-092B-BD9FA9DD1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3AEB4-D33C-6A9F-0E60-A650F40A5E04}"/>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A1F5A19F-41F5-5D91-FD35-24FB885EA1FC}"/>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2D01A77E-73F8-6288-D2C2-2AFAD1CDC3D7}"/>
              </a:ext>
            </a:extLst>
          </p:cNvPr>
          <p:cNvSpPr txBox="1"/>
          <p:nvPr/>
        </p:nvSpPr>
        <p:spPr>
          <a:xfrm>
            <a:off x="685800" y="2065867"/>
            <a:ext cx="7080250" cy="2708434"/>
          </a:xfrm>
          <a:prstGeom prst="rect">
            <a:avLst/>
          </a:prstGeom>
          <a:noFill/>
        </p:spPr>
        <p:txBody>
          <a:bodyPr wrap="square">
            <a:spAutoFit/>
          </a:bodyPr>
          <a:lstStyle/>
          <a:p>
            <a:r>
              <a:rPr lang="en-GB" sz="1400" b="1" dirty="0"/>
              <a:t>Working Principle of JWTs</a:t>
            </a:r>
          </a:p>
          <a:p>
            <a:endParaRPr lang="en-GB" sz="1200" b="1" dirty="0"/>
          </a:p>
          <a:p>
            <a:r>
              <a:rPr lang="en-GB" sz="1200" dirty="0"/>
              <a:t>JWTs work based on a creation and validation mechanism.</a:t>
            </a:r>
          </a:p>
          <a:p>
            <a:endParaRPr lang="en-GB" sz="1200" b="1" dirty="0"/>
          </a:p>
          <a:p>
            <a:r>
              <a:rPr lang="en-GB" sz="1200" b="1" dirty="0"/>
              <a:t>Token Creation and Signing</a:t>
            </a:r>
          </a:p>
          <a:p>
            <a:endParaRPr lang="en-GB" sz="1200" b="1" dirty="0"/>
          </a:p>
          <a:p>
            <a:pPr marL="171450" indent="-171450">
              <a:buFont typeface="Arial" panose="020B0604020202020204" pitchFamily="34" charset="0"/>
              <a:buChar char="•"/>
            </a:pPr>
            <a:r>
              <a:rPr lang="en-GB" sz="1200" dirty="0"/>
              <a:t>When a JWT is created, the header and payload are defined in JSON format and encoded using base64URL encoding. These two components are then combined and signed using a specified algorithm. The signature is used to verify the integrity and origin of the token.</a:t>
            </a:r>
          </a:p>
          <a:p>
            <a:endParaRPr lang="en-GB" sz="1200" b="1" dirty="0"/>
          </a:p>
          <a:p>
            <a:r>
              <a:rPr lang="en-GB" sz="1200" b="1" dirty="0"/>
              <a:t>Token Decoding and Validation</a:t>
            </a:r>
          </a:p>
          <a:p>
            <a:endParaRPr lang="en-GB" sz="1200" b="1" dirty="0"/>
          </a:p>
          <a:p>
            <a:pPr marL="171450" indent="-171450">
              <a:buFont typeface="Arial" panose="020B0604020202020204" pitchFamily="34" charset="0"/>
              <a:buChar char="•"/>
            </a:pPr>
            <a:r>
              <a:rPr lang="en-GB" sz="1200" dirty="0"/>
              <a:t>When a JWT is received, the header and payload are decoded using base64URL encoding, and the signature is verified. This validation confirms that the token has not been tampered with and is trustworthy.</a:t>
            </a:r>
          </a:p>
        </p:txBody>
      </p:sp>
    </p:spTree>
    <p:extLst>
      <p:ext uri="{BB962C8B-B14F-4D97-AF65-F5344CB8AC3E}">
        <p14:creationId xmlns:p14="http://schemas.microsoft.com/office/powerpoint/2010/main" val="32685245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22ADBD3-0773-7444-54D6-0814E20C32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56200-B764-AAE8-0104-B5F63002DF10}"/>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CF0B9AD3-C785-D944-841E-3881C016E1D8}"/>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6629FF33-0F8E-AEF4-A117-9E76A1519E4F}"/>
              </a:ext>
            </a:extLst>
          </p:cNvPr>
          <p:cNvSpPr txBox="1"/>
          <p:nvPr/>
        </p:nvSpPr>
        <p:spPr>
          <a:xfrm>
            <a:off x="685800" y="2065867"/>
            <a:ext cx="7689850" cy="3385542"/>
          </a:xfrm>
          <a:prstGeom prst="rect">
            <a:avLst/>
          </a:prstGeom>
          <a:noFill/>
        </p:spPr>
        <p:txBody>
          <a:bodyPr wrap="square">
            <a:spAutoFit/>
          </a:bodyPr>
          <a:lstStyle/>
          <a:p>
            <a:r>
              <a:rPr lang="en-GB" b="1" dirty="0"/>
              <a:t>Common Use Cases</a:t>
            </a:r>
          </a:p>
          <a:p>
            <a:endParaRPr lang="en-GB" sz="1400" b="1" dirty="0"/>
          </a:p>
          <a:p>
            <a:r>
              <a:rPr lang="en-GB" sz="1400" dirty="0"/>
              <a:t>JWTs are used in a variety of scenarios.</a:t>
            </a:r>
          </a:p>
          <a:p>
            <a:endParaRPr lang="en-GB" sz="1400" b="1" dirty="0"/>
          </a:p>
          <a:p>
            <a:r>
              <a:rPr lang="en-GB" sz="1400" b="1" dirty="0"/>
              <a:t>Authentication and Authorization</a:t>
            </a:r>
          </a:p>
          <a:p>
            <a:endParaRPr lang="en-GB" sz="1400" b="1" dirty="0"/>
          </a:p>
          <a:p>
            <a:pPr marL="285750" indent="-285750">
              <a:buFont typeface="Arial" panose="020B0604020202020204" pitchFamily="34" charset="0"/>
              <a:buChar char="•"/>
            </a:pPr>
            <a:r>
              <a:rPr lang="en-GB" sz="1400" dirty="0"/>
              <a:t>JWTs are widely used in user authentication and authorization processes. When a user logs in, a JWT is created that carries this user's specific authorization information. This token is sent to the server with each request, and the server verifies the token to check the user's permissions.</a:t>
            </a:r>
          </a:p>
          <a:p>
            <a:endParaRPr lang="en-GB" sz="1400" b="1" dirty="0"/>
          </a:p>
          <a:p>
            <a:r>
              <a:rPr lang="en-GB" sz="1400" b="1" dirty="0"/>
              <a:t>Information Sharing</a:t>
            </a:r>
          </a:p>
          <a:p>
            <a:endParaRPr lang="en-GB" sz="1400" b="1" dirty="0"/>
          </a:p>
          <a:p>
            <a:pPr marL="285750" indent="-285750">
              <a:buFont typeface="Arial" panose="020B0604020202020204" pitchFamily="34" charset="0"/>
              <a:buChar char="•"/>
            </a:pPr>
            <a:r>
              <a:rPr lang="en-GB" sz="1400" dirty="0"/>
              <a:t>JWTs are also used to securely share information between different services. For example, in a microservices architecture, one service can securely pass user information to another service via JWT.</a:t>
            </a:r>
          </a:p>
        </p:txBody>
      </p:sp>
    </p:spTree>
    <p:extLst>
      <p:ext uri="{BB962C8B-B14F-4D97-AF65-F5344CB8AC3E}">
        <p14:creationId xmlns:p14="http://schemas.microsoft.com/office/powerpoint/2010/main" val="19927662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3C8F7596-BB14-D987-0FC9-D001E603A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CF008-F88D-E874-8470-916F0E9FE48C}"/>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914C6F11-4A46-C5EC-80DB-BF882E07CD95}"/>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54F77154-27C6-F66B-5E1F-F71D68084743}"/>
              </a:ext>
            </a:extLst>
          </p:cNvPr>
          <p:cNvSpPr txBox="1"/>
          <p:nvPr/>
        </p:nvSpPr>
        <p:spPr>
          <a:xfrm>
            <a:off x="685800" y="2065866"/>
            <a:ext cx="11118850" cy="4154984"/>
          </a:xfrm>
          <a:prstGeom prst="rect">
            <a:avLst/>
          </a:prstGeom>
          <a:noFill/>
        </p:spPr>
        <p:txBody>
          <a:bodyPr wrap="square">
            <a:spAutoFit/>
          </a:bodyPr>
          <a:lstStyle/>
          <a:p>
            <a:r>
              <a:rPr lang="en-GB" b="1" dirty="0"/>
              <a:t>common security vulnerabilities found in JWTs.</a:t>
            </a:r>
          </a:p>
          <a:p>
            <a:endParaRPr lang="en-GB" b="1" dirty="0"/>
          </a:p>
          <a:p>
            <a:r>
              <a:rPr lang="en-GB" sz="1400" b="1" dirty="0"/>
              <a:t>Signature Verification Attacks</a:t>
            </a:r>
          </a:p>
          <a:p>
            <a:pPr marL="285750" indent="-285750">
              <a:buFont typeface="Arial" panose="020B0604020202020204" pitchFamily="34" charset="0"/>
              <a:buChar char="•"/>
            </a:pPr>
            <a:r>
              <a:rPr lang="en-GB" sz="1400" dirty="0"/>
              <a:t>The signature verification processes of JWTs are crucial for ensuring their security. Signature verification vulnerabilities can compromise the integrity and trustworthiness of JWTs. These attacks include bypassing signatures using the </a:t>
            </a:r>
            <a:r>
              <a:rPr lang="en-GB" dirty="0"/>
              <a:t>none</a:t>
            </a:r>
            <a:r>
              <a:rPr lang="en-GB" sz="1400" dirty="0"/>
              <a:t> algorithm and weak signature verification processes.</a:t>
            </a:r>
          </a:p>
          <a:p>
            <a:endParaRPr lang="en-GB" sz="1400" dirty="0"/>
          </a:p>
          <a:p>
            <a:r>
              <a:rPr lang="en-GB" sz="1400" b="1" dirty="0"/>
              <a:t>Capture of Signature Keys</a:t>
            </a:r>
          </a:p>
          <a:p>
            <a:pPr marL="285750" indent="-285750">
              <a:buFont typeface="Arial" panose="020B0604020202020204" pitchFamily="34" charset="0"/>
              <a:buChar char="•"/>
            </a:pPr>
            <a:r>
              <a:rPr lang="en-GB" sz="1400" dirty="0"/>
              <a:t>Weak signature keys can lead to JWTs being easily cracked and manipulated. Such attacks involve capturing weak keys through brute force attacks and exploiting misconfigured keys.</a:t>
            </a:r>
          </a:p>
          <a:p>
            <a:endParaRPr lang="en-GB" sz="1400" dirty="0"/>
          </a:p>
          <a:p>
            <a:r>
              <a:rPr lang="en-GB" sz="1400" b="1" dirty="0"/>
              <a:t>Algorithm Confusion</a:t>
            </a:r>
          </a:p>
          <a:p>
            <a:pPr marL="285750" indent="-285750">
              <a:buFont typeface="Arial" panose="020B0604020202020204" pitchFamily="34" charset="0"/>
              <a:buChar char="•"/>
            </a:pPr>
            <a:r>
              <a:rPr lang="en-GB" sz="1400" dirty="0"/>
              <a:t>Confusion in the algorithm header of JWTs can be used to bypass signature verification processes. Algorithm confusion attacks are carried out by altering the algorithm information in the header part of the JWT.</a:t>
            </a:r>
          </a:p>
          <a:p>
            <a:endParaRPr lang="en-GB" sz="1400" dirty="0"/>
          </a:p>
          <a:p>
            <a:r>
              <a:rPr lang="en-GB" sz="1400" b="1" dirty="0"/>
              <a:t>Kid Parameter Vulnerabilities</a:t>
            </a:r>
          </a:p>
          <a:p>
            <a:pPr marL="285750" indent="-285750">
              <a:buFont typeface="Arial" panose="020B0604020202020204" pitchFamily="34" charset="0"/>
              <a:buChar char="•"/>
            </a:pPr>
            <a:r>
              <a:rPr lang="en-GB" sz="1400" dirty="0"/>
              <a:t>JWT signatures can be bypassed by injecting the kid parameter and using other techniques. These attacks are carried out by exploiting the kid parameter in the JWT header.</a:t>
            </a:r>
          </a:p>
        </p:txBody>
      </p:sp>
    </p:spTree>
    <p:extLst>
      <p:ext uri="{BB962C8B-B14F-4D97-AF65-F5344CB8AC3E}">
        <p14:creationId xmlns:p14="http://schemas.microsoft.com/office/powerpoint/2010/main" val="9344756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493513AD-99BD-F4A5-141B-C1C179526A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2B530-783E-FD40-FA6C-1564BA251ADF}"/>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938A36E0-1863-C563-E2BA-CAF6FDA8E6BC}"/>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CC8D4283-67B3-C353-2F4D-95209E51C895}"/>
              </a:ext>
            </a:extLst>
          </p:cNvPr>
          <p:cNvSpPr txBox="1"/>
          <p:nvPr/>
        </p:nvSpPr>
        <p:spPr>
          <a:xfrm>
            <a:off x="685800" y="2065866"/>
            <a:ext cx="11118850" cy="3416320"/>
          </a:xfrm>
          <a:prstGeom prst="rect">
            <a:avLst/>
          </a:prstGeom>
          <a:noFill/>
        </p:spPr>
        <p:txBody>
          <a:bodyPr wrap="square">
            <a:spAutoFit/>
          </a:bodyPr>
          <a:lstStyle/>
          <a:p>
            <a:r>
              <a:rPr lang="en-GB" sz="1200" b="1" dirty="0"/>
              <a:t>Signature Verification Attack</a:t>
            </a:r>
          </a:p>
          <a:p>
            <a:endParaRPr lang="en-GB" sz="1200" b="1" dirty="0"/>
          </a:p>
          <a:p>
            <a:r>
              <a:rPr lang="en-GB" sz="1200" dirty="0"/>
              <a:t>The signature of a JWT (JSON Web Token) is a critical component to ensure the integrity and authenticity of the token. However, if misconfigured or if weak security measures are taken, JWT signatures can be manipulated by attackers.</a:t>
            </a:r>
          </a:p>
          <a:p>
            <a:endParaRPr lang="en-GB" sz="1200" dirty="0"/>
          </a:p>
          <a:p>
            <a:r>
              <a:rPr lang="en-GB" sz="1200" b="1" dirty="0"/>
              <a:t>How Signatures Protect JWT Integrity</a:t>
            </a:r>
          </a:p>
          <a:p>
            <a:endParaRPr lang="en-GB" sz="1200" b="1" dirty="0"/>
          </a:p>
          <a:p>
            <a:pPr marL="171450" indent="-171450">
              <a:buFont typeface="Arial" panose="020B0604020202020204" pitchFamily="34" charset="0"/>
              <a:buChar char="•"/>
            </a:pPr>
            <a:r>
              <a:rPr lang="en-GB" sz="1200" dirty="0"/>
              <a:t>The integrity of JWTs is ensured by combining the header and payload sections and protecting them with a signature. The signature is created using a specific algorithm and is used to verify that the JWT has not been tampered with.</a:t>
            </a:r>
          </a:p>
          <a:p>
            <a:endParaRPr lang="en-GB" sz="1200" dirty="0"/>
          </a:p>
          <a:p>
            <a:r>
              <a:rPr lang="en-GB" sz="1200" b="1" dirty="0"/>
              <a:t>The process of creating a signature:</a:t>
            </a:r>
          </a:p>
          <a:p>
            <a:endParaRPr lang="en-GB" sz="1200" b="1" dirty="0"/>
          </a:p>
          <a:p>
            <a:pPr marL="171450" indent="-171450">
              <a:buFont typeface="Arial" panose="020B0604020202020204" pitchFamily="34" charset="0"/>
              <a:buChar char="•"/>
            </a:pPr>
            <a:r>
              <a:rPr lang="en-GB" sz="1200" dirty="0"/>
              <a:t>The header and payload sections are encoded in Base64URL format.</a:t>
            </a:r>
          </a:p>
          <a:p>
            <a:pPr marL="171450" indent="-171450">
              <a:buFont typeface="Arial" panose="020B0604020202020204" pitchFamily="34" charset="0"/>
              <a:buChar char="•"/>
            </a:pPr>
            <a:r>
              <a:rPr lang="en-GB" sz="1200" dirty="0"/>
              <a:t>These two sections are combined into a </a:t>
            </a:r>
            <a:r>
              <a:rPr lang="en-GB" sz="1200" dirty="0" err="1"/>
              <a:t>header.payload</a:t>
            </a:r>
            <a:r>
              <a:rPr lang="en-GB" sz="1200" dirty="0"/>
              <a:t> format.</a:t>
            </a:r>
          </a:p>
          <a:p>
            <a:pPr marL="171450" indent="-171450">
              <a:buFont typeface="Arial" panose="020B0604020202020204" pitchFamily="34" charset="0"/>
              <a:buChar char="•"/>
            </a:pPr>
            <a:r>
              <a:rPr lang="en-GB" sz="1200" dirty="0"/>
              <a:t>This combined data is signed using a specific signing algorithm (e.g., HMAC, RSA).</a:t>
            </a:r>
          </a:p>
          <a:p>
            <a:pPr marL="171450" indent="-171450">
              <a:buFont typeface="Arial" panose="020B0604020202020204" pitchFamily="34" charset="0"/>
              <a:buChar char="•"/>
            </a:pPr>
            <a:r>
              <a:rPr lang="en-GB" sz="1200" dirty="0"/>
              <a:t>The generated signature is appended to the JWT, forming the final token in  </a:t>
            </a:r>
            <a:r>
              <a:rPr lang="en-GB" sz="1200" dirty="0" err="1"/>
              <a:t>header.payload.signature</a:t>
            </a:r>
            <a:r>
              <a:rPr lang="en-GB" sz="1200" dirty="0"/>
              <a:t> format.</a:t>
            </a:r>
          </a:p>
          <a:p>
            <a:pPr marL="171450" indent="-171450">
              <a:buFont typeface="Arial" panose="020B0604020202020204" pitchFamily="34" charset="0"/>
              <a:buChar char="•"/>
            </a:pPr>
            <a:endParaRPr lang="en-GB" sz="1200" dirty="0"/>
          </a:p>
          <a:p>
            <a:endParaRPr lang="en-GB" sz="1200" dirty="0"/>
          </a:p>
        </p:txBody>
      </p:sp>
    </p:spTree>
    <p:extLst>
      <p:ext uri="{BB962C8B-B14F-4D97-AF65-F5344CB8AC3E}">
        <p14:creationId xmlns:p14="http://schemas.microsoft.com/office/powerpoint/2010/main" val="21807463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B869BD2-14F0-8BBE-5DD4-5F5C78C22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5A3D8-AD6A-FF6F-A0EC-95590C503A31}"/>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52AB95CB-D993-CC64-F47E-8543986D85F5}"/>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27B45736-371A-91EE-B99A-B7720FBB5F1C}"/>
              </a:ext>
            </a:extLst>
          </p:cNvPr>
          <p:cNvSpPr txBox="1"/>
          <p:nvPr/>
        </p:nvSpPr>
        <p:spPr>
          <a:xfrm>
            <a:off x="685800" y="2065866"/>
            <a:ext cx="11277600" cy="1938992"/>
          </a:xfrm>
          <a:prstGeom prst="rect">
            <a:avLst/>
          </a:prstGeom>
          <a:noFill/>
        </p:spPr>
        <p:txBody>
          <a:bodyPr wrap="square">
            <a:spAutoFit/>
          </a:bodyPr>
          <a:lstStyle/>
          <a:p>
            <a:r>
              <a:rPr lang="en-GB" sz="1200" b="1" dirty="0"/>
              <a:t>Common Algorithms (e.g., HMAC, RSA)</a:t>
            </a:r>
          </a:p>
          <a:p>
            <a:endParaRPr lang="en-GB" sz="1200" b="1" dirty="0"/>
          </a:p>
          <a:p>
            <a:r>
              <a:rPr lang="en-GB" sz="1200" dirty="0"/>
              <a:t>Two commonly used algorithms for creating JWT signatures are:</a:t>
            </a:r>
          </a:p>
          <a:p>
            <a:endParaRPr lang="en-GB" sz="1200" dirty="0"/>
          </a:p>
          <a:p>
            <a:pPr marL="171450" indent="-171450">
              <a:buFont typeface="Arial" panose="020B0604020202020204" pitchFamily="34" charset="0"/>
              <a:buChar char="•"/>
            </a:pPr>
            <a:r>
              <a:rPr lang="en-GB" sz="1200" b="1" dirty="0"/>
              <a:t>HMAC (Hash-based Message Authentication Code):</a:t>
            </a:r>
            <a:r>
              <a:rPr lang="en-GB" sz="1200" dirty="0"/>
              <a:t> HMAC is a symmetric algorithm and uses the same secret key (private key) for both signing and verification.</a:t>
            </a:r>
          </a:p>
          <a:p>
            <a:endParaRPr lang="en-GB" sz="1200" dirty="0"/>
          </a:p>
          <a:p>
            <a:pPr marL="171450" indent="-171450">
              <a:buFont typeface="Arial" panose="020B0604020202020204" pitchFamily="34" charset="0"/>
              <a:buChar char="•"/>
            </a:pPr>
            <a:r>
              <a:rPr lang="en-GB" sz="1200" b="1" dirty="0"/>
              <a:t>RSA (Rivest-Shamir-Adleman):</a:t>
            </a:r>
            <a:r>
              <a:rPr lang="en-GB" sz="1200" dirty="0"/>
              <a:t> RSA is an asymmetric algorithm and uses different keys for signing and verification. The private key is used for signing, while the public key is used for verification.</a:t>
            </a:r>
          </a:p>
          <a:p>
            <a:endParaRPr lang="en-GB" sz="1200" dirty="0"/>
          </a:p>
          <a:p>
            <a:endParaRPr lang="en-GB" sz="1200" dirty="0"/>
          </a:p>
        </p:txBody>
      </p:sp>
    </p:spTree>
    <p:extLst>
      <p:ext uri="{BB962C8B-B14F-4D97-AF65-F5344CB8AC3E}">
        <p14:creationId xmlns:p14="http://schemas.microsoft.com/office/powerpoint/2010/main" val="32472797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D03A5517-97B1-1BD8-7E4B-47F16277A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A08D5-D761-5ADF-5B2B-E3A0B2710BB0}"/>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B8604BC4-3A88-E171-D0B0-373C48A865B3}"/>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C48B4EC0-E204-DE15-0F3D-178715ABAD9D}"/>
              </a:ext>
            </a:extLst>
          </p:cNvPr>
          <p:cNvSpPr txBox="1"/>
          <p:nvPr/>
        </p:nvSpPr>
        <p:spPr>
          <a:xfrm>
            <a:off x="685800" y="2065866"/>
            <a:ext cx="11277600" cy="4970591"/>
          </a:xfrm>
          <a:prstGeom prst="rect">
            <a:avLst/>
          </a:prstGeom>
          <a:noFill/>
        </p:spPr>
        <p:txBody>
          <a:bodyPr wrap="square">
            <a:spAutoFit/>
          </a:bodyPr>
          <a:lstStyle/>
          <a:p>
            <a:r>
              <a:rPr lang="en-GB" sz="1200" b="1" dirty="0"/>
              <a:t>None Algorithm Attack</a:t>
            </a:r>
          </a:p>
          <a:p>
            <a:r>
              <a:rPr lang="en-GB" sz="1200" dirty="0"/>
              <a:t>One of the simplest attacks encountered in JWT verification processes is the none algorithm attack. In this attack, the signature part of the JWT is completely bypassed.</a:t>
            </a:r>
          </a:p>
          <a:p>
            <a:endParaRPr lang="en-GB" sz="1200" dirty="0"/>
          </a:p>
          <a:p>
            <a:r>
              <a:rPr lang="en-US" sz="1100" b="1" dirty="0"/>
              <a:t>Steps of the Attack</a:t>
            </a:r>
          </a:p>
          <a:p>
            <a:endParaRPr lang="en-US" sz="1100" b="1" dirty="0"/>
          </a:p>
          <a:p>
            <a:r>
              <a:rPr lang="en-US" sz="1100" dirty="0"/>
              <a:t>The algorithm information in the JWT header is changed to none .</a:t>
            </a:r>
          </a:p>
          <a:p>
            <a:endParaRPr lang="en-US" sz="1100" dirty="0"/>
          </a:p>
          <a:p>
            <a:pPr lvl="1"/>
            <a:r>
              <a:rPr lang="en-US" sz="1000" dirty="0"/>
              <a:t>{</a:t>
            </a:r>
          </a:p>
          <a:p>
            <a:pPr lvl="1"/>
            <a:r>
              <a:rPr lang="en-US" sz="1000" dirty="0"/>
              <a:t>  "</a:t>
            </a:r>
            <a:r>
              <a:rPr lang="en-US" sz="1000" dirty="0" err="1"/>
              <a:t>alg</a:t>
            </a:r>
            <a:r>
              <a:rPr lang="en-US" sz="1000" dirty="0"/>
              <a:t>": "none",</a:t>
            </a:r>
          </a:p>
          <a:p>
            <a:pPr lvl="1"/>
            <a:r>
              <a:rPr lang="en-US" sz="1000" dirty="0"/>
              <a:t>    "</a:t>
            </a:r>
            <a:r>
              <a:rPr lang="en-US" sz="1000" dirty="0" err="1"/>
              <a:t>typ</a:t>
            </a:r>
            <a:r>
              <a:rPr lang="en-US" sz="1000" dirty="0"/>
              <a:t>": "JWT"</a:t>
            </a:r>
          </a:p>
          <a:p>
            <a:pPr lvl="1"/>
            <a:endParaRPr lang="en-US" sz="1000" dirty="0"/>
          </a:p>
          <a:p>
            <a:pPr lvl="1"/>
            <a:r>
              <a:rPr lang="en-US" sz="1000" dirty="0"/>
              <a:t>}</a:t>
            </a:r>
          </a:p>
          <a:p>
            <a:pPr lvl="1"/>
            <a:endParaRPr lang="en-US" sz="1000" dirty="0"/>
          </a:p>
          <a:p>
            <a:r>
              <a:rPr lang="en-US" sz="1100" dirty="0"/>
              <a:t>The signature part of the JWT is completely removed, transforming the token into the following format:</a:t>
            </a:r>
          </a:p>
          <a:p>
            <a:endParaRPr lang="en-US" sz="1100" dirty="0"/>
          </a:p>
          <a:p>
            <a:pPr lvl="1"/>
            <a:r>
              <a:rPr lang="en-US" sz="1100" dirty="0"/>
              <a:t>eyJhbGciOiJub25lIn0.eyJzdWIiOiIxMjM0NTY3ODkwIn0.</a:t>
            </a:r>
          </a:p>
          <a:p>
            <a:endParaRPr lang="en-US" sz="1100" dirty="0"/>
          </a:p>
          <a:p>
            <a:r>
              <a:rPr lang="en-US" sz="1100" dirty="0"/>
              <a:t>If the server accepts the none algorithm during signature verification, the token is considered valid without any signature.</a:t>
            </a:r>
          </a:p>
          <a:p>
            <a:endParaRPr lang="en-US" sz="1100" dirty="0"/>
          </a:p>
          <a:p>
            <a:r>
              <a:rPr lang="en-US" sz="1100" b="1" dirty="0"/>
              <a:t>Attack Example</a:t>
            </a:r>
          </a:p>
          <a:p>
            <a:endParaRPr lang="en-US" sz="1100" b="1" dirty="0"/>
          </a:p>
          <a:p>
            <a:r>
              <a:rPr lang="en-US" sz="1100" dirty="0"/>
              <a:t>Original JWT:</a:t>
            </a:r>
          </a:p>
          <a:p>
            <a:endParaRPr lang="en-US" sz="1100" dirty="0"/>
          </a:p>
          <a:p>
            <a:pPr lvl="1"/>
            <a:r>
              <a:rPr lang="en-US" sz="1100" dirty="0"/>
              <a:t>eyJhbGciOiJIUzI1NiIsInR5cCI6IkpXVCJ9.eyJzdWIiOiIxMjM0NTY3ODkwIn0.dBjftJeZ4CVP-mB92K27uhbUJU1p1r_wW1gFWFOEjXk</a:t>
            </a:r>
          </a:p>
          <a:p>
            <a:endParaRPr lang="en-US" sz="1100" dirty="0"/>
          </a:p>
          <a:p>
            <a:r>
              <a:rPr lang="en-US" sz="1100" dirty="0"/>
              <a:t>Modified JWT (algorithm changed to none and signature removed):</a:t>
            </a:r>
          </a:p>
          <a:p>
            <a:endParaRPr lang="en-US" sz="1100" dirty="0"/>
          </a:p>
          <a:p>
            <a:pPr lvl="1"/>
            <a:r>
              <a:rPr lang="en-US" sz="1100" dirty="0"/>
              <a:t>eyJhbGciOiJub25lIn0.eyJzdWIiOiIxMjM0NTY3ODkwIn0. </a:t>
            </a:r>
          </a:p>
          <a:p>
            <a:endParaRPr lang="en-GB" sz="1200" dirty="0"/>
          </a:p>
        </p:txBody>
      </p:sp>
    </p:spTree>
    <p:extLst>
      <p:ext uri="{BB962C8B-B14F-4D97-AF65-F5344CB8AC3E}">
        <p14:creationId xmlns:p14="http://schemas.microsoft.com/office/powerpoint/2010/main" val="14847551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183373F8-159C-BA22-EE81-74B2748435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F8B332-F338-3B9F-56CC-54E6C57B8C92}"/>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A139BFF3-30B1-86AB-5953-F06F13109F58}"/>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FB0BD332-649E-911B-3CDD-F0FF1FC3D4E2}"/>
              </a:ext>
            </a:extLst>
          </p:cNvPr>
          <p:cNvSpPr txBox="1"/>
          <p:nvPr/>
        </p:nvSpPr>
        <p:spPr>
          <a:xfrm>
            <a:off x="685800" y="1938866"/>
            <a:ext cx="11277600" cy="4939814"/>
          </a:xfrm>
          <a:prstGeom prst="rect">
            <a:avLst/>
          </a:prstGeom>
          <a:noFill/>
        </p:spPr>
        <p:txBody>
          <a:bodyPr wrap="square">
            <a:spAutoFit/>
          </a:bodyPr>
          <a:lstStyle/>
          <a:p>
            <a:r>
              <a:rPr lang="en-GB" sz="1050" b="1" dirty="0"/>
              <a:t>Capturing the Signature Key</a:t>
            </a:r>
          </a:p>
          <a:p>
            <a:endParaRPr lang="en-GB" sz="1050" b="1" dirty="0"/>
          </a:p>
          <a:p>
            <a:r>
              <a:rPr lang="en-GB" sz="1050" b="1" dirty="0"/>
              <a:t>Identifying Weak Keys</a:t>
            </a:r>
          </a:p>
          <a:p>
            <a:endParaRPr lang="en-GB" sz="1050" b="1" dirty="0"/>
          </a:p>
          <a:p>
            <a:r>
              <a:rPr lang="en-GB" sz="1050" b="1" dirty="0"/>
              <a:t>Common Patterns and Weaknesses</a:t>
            </a:r>
          </a:p>
          <a:p>
            <a:endParaRPr lang="en-GB" sz="1050" b="1" dirty="0"/>
          </a:p>
          <a:p>
            <a:r>
              <a:rPr lang="en-GB" sz="1050" dirty="0"/>
              <a:t>Signature keys can be easily guessed by attackers if they are not complex and strong enough. Weak keys generally appear in the following forms:</a:t>
            </a:r>
          </a:p>
          <a:p>
            <a:endParaRPr lang="en-GB" sz="1050" dirty="0"/>
          </a:p>
          <a:p>
            <a:pPr marL="171450" indent="-171450">
              <a:buFont typeface="Arial" panose="020B0604020202020204" pitchFamily="34" charset="0"/>
              <a:buChar char="•"/>
            </a:pPr>
            <a:r>
              <a:rPr lang="en-GB" sz="1050" b="1" dirty="0"/>
              <a:t>Simple and Short Keys:</a:t>
            </a:r>
            <a:r>
              <a:rPr lang="en-GB" sz="1050" dirty="0"/>
              <a:t> Examples include common passwords like "password," "123456," or "secret."</a:t>
            </a:r>
          </a:p>
          <a:p>
            <a:pPr marL="171450" indent="-171450">
              <a:buFont typeface="Arial" panose="020B0604020202020204" pitchFamily="34" charset="0"/>
              <a:buChar char="•"/>
            </a:pPr>
            <a:r>
              <a:rPr lang="en-GB" sz="1050" b="1" dirty="0"/>
              <a:t>Personal Information:</a:t>
            </a:r>
            <a:r>
              <a:rPr lang="en-GB" sz="1050" dirty="0"/>
              <a:t> Keys derived from users' names, birthdates, or other personal information.</a:t>
            </a:r>
          </a:p>
          <a:p>
            <a:pPr marL="171450" indent="-171450">
              <a:buFont typeface="Arial" panose="020B0604020202020204" pitchFamily="34" charset="0"/>
              <a:buChar char="•"/>
            </a:pPr>
            <a:r>
              <a:rPr lang="en-GB" sz="1050" b="1" dirty="0"/>
              <a:t>Previously Compromised Keys:</a:t>
            </a:r>
            <a:r>
              <a:rPr lang="en-GB" sz="1050" dirty="0"/>
              <a:t> Keys that were leaked in previous security breaches and are reused.</a:t>
            </a:r>
          </a:p>
          <a:p>
            <a:endParaRPr lang="en-GB" sz="1050" b="1" dirty="0"/>
          </a:p>
          <a:p>
            <a:r>
              <a:rPr lang="en-GB" sz="1050" b="1" dirty="0"/>
              <a:t>Attackers use various tools and techniques to identify weak keys:</a:t>
            </a:r>
          </a:p>
          <a:p>
            <a:endParaRPr lang="en-GB" sz="1050" b="1" dirty="0"/>
          </a:p>
          <a:p>
            <a:pPr marL="171450" indent="-171450">
              <a:buFont typeface="Arial" panose="020B0604020202020204" pitchFamily="34" charset="0"/>
              <a:buChar char="•"/>
            </a:pPr>
            <a:r>
              <a:rPr lang="en-GB" sz="1050" b="1" dirty="0"/>
              <a:t>Dictionary Attacks:</a:t>
            </a:r>
            <a:r>
              <a:rPr lang="en-GB" sz="1050" dirty="0"/>
              <a:t> Guessing keys using predefined lists of common passwords.</a:t>
            </a:r>
          </a:p>
          <a:p>
            <a:pPr marL="171450" indent="-171450">
              <a:buFont typeface="Arial" panose="020B0604020202020204" pitchFamily="34" charset="0"/>
              <a:buChar char="•"/>
            </a:pPr>
            <a:r>
              <a:rPr lang="en-GB" sz="1050" b="1" dirty="0"/>
              <a:t>Brute Force Attacks:</a:t>
            </a:r>
            <a:r>
              <a:rPr lang="en-GB" sz="1050" dirty="0"/>
              <a:t> Cracking keys by trying all possible combinations.</a:t>
            </a:r>
          </a:p>
          <a:p>
            <a:endParaRPr lang="en-GB" sz="1050" dirty="0"/>
          </a:p>
          <a:p>
            <a:r>
              <a:rPr lang="en-GB" sz="1050" b="1" dirty="0"/>
              <a:t>Dictionary and Brute Force Attacks</a:t>
            </a:r>
          </a:p>
          <a:p>
            <a:r>
              <a:rPr lang="en-GB" sz="1050" dirty="0"/>
              <a:t>Attackers can use dictionary and brute force attacks to crack weak keys. These attacks try various combinations to test whether a particular key is correct.</a:t>
            </a:r>
          </a:p>
          <a:p>
            <a:endParaRPr lang="en-GB" sz="1050" dirty="0"/>
          </a:p>
          <a:p>
            <a:r>
              <a:rPr lang="en-GB" sz="1050" b="1" dirty="0"/>
              <a:t>Dictionary Attacks</a:t>
            </a:r>
          </a:p>
          <a:p>
            <a:r>
              <a:rPr lang="en-GB" sz="1050" dirty="0"/>
              <a:t>In dictionary attacks, attackers try to guess signature keys using a list of commonly used passwords. This method is highly effective in scenarios where simple and common passwords are used.</a:t>
            </a:r>
          </a:p>
          <a:p>
            <a:endParaRPr lang="en-GB" sz="1050" b="1" dirty="0"/>
          </a:p>
          <a:p>
            <a:r>
              <a:rPr lang="en-GB" sz="1050" b="1" dirty="0"/>
              <a:t>Example Attack Scenario</a:t>
            </a:r>
            <a:endParaRPr lang="en-GB" sz="1050" dirty="0"/>
          </a:p>
          <a:p>
            <a:endParaRPr lang="en-GB" sz="1050" dirty="0"/>
          </a:p>
          <a:p>
            <a:r>
              <a:rPr lang="en-GB" sz="1050" dirty="0"/>
              <a:t>Sample JWT:</a:t>
            </a:r>
          </a:p>
          <a:p>
            <a:pPr lvl="1"/>
            <a:r>
              <a:rPr lang="en-GB" sz="1050" dirty="0"/>
              <a:t>eyJhbGciOiJIUzI1NiIsInR5cCI6IkpXVCJ9.eyJzdWIiOiIxMjM0NTY3ODkwIn0.dBjftJeZ4CVP-mB92K27uhbUJU1p1r_wW1gFWFOEjXk</a:t>
            </a:r>
          </a:p>
          <a:p>
            <a:pPr lvl="1"/>
            <a:endParaRPr lang="en-GB" sz="1050" dirty="0"/>
          </a:p>
          <a:p>
            <a:r>
              <a:rPr lang="en-GB" sz="1050" dirty="0"/>
              <a:t>Dictionary Create a dictionary file, dictionary.txt , containing common passwords. You can also use password lists available on the internet.</a:t>
            </a:r>
          </a:p>
        </p:txBody>
      </p:sp>
    </p:spTree>
    <p:extLst>
      <p:ext uri="{BB962C8B-B14F-4D97-AF65-F5344CB8AC3E}">
        <p14:creationId xmlns:p14="http://schemas.microsoft.com/office/powerpoint/2010/main" val="10361403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F21F7243-3BCE-2A56-FBA9-DA88F77AA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1D683-EFDB-6B84-E555-DDCBCE3D402F}"/>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E8554A10-755E-621F-ECFA-3FFECA2B214C}"/>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B37955BB-D74D-4B5B-F968-E046AF8251FD}"/>
              </a:ext>
            </a:extLst>
          </p:cNvPr>
          <p:cNvSpPr txBox="1"/>
          <p:nvPr/>
        </p:nvSpPr>
        <p:spPr>
          <a:xfrm>
            <a:off x="685800" y="1938866"/>
            <a:ext cx="11277600" cy="4678204"/>
          </a:xfrm>
          <a:prstGeom prst="rect">
            <a:avLst/>
          </a:prstGeom>
          <a:noFill/>
        </p:spPr>
        <p:txBody>
          <a:bodyPr wrap="square">
            <a:spAutoFit/>
          </a:bodyPr>
          <a:lstStyle/>
          <a:p>
            <a:r>
              <a:rPr lang="en-GB" sz="1400" b="1" dirty="0"/>
              <a:t>Algorithm Confusion</a:t>
            </a:r>
          </a:p>
          <a:p>
            <a:endParaRPr lang="en-GB" sz="1200" b="1" dirty="0"/>
          </a:p>
          <a:p>
            <a:r>
              <a:rPr lang="en-GB" sz="1100" dirty="0"/>
              <a:t>Algorithm confusion attacks occur when an attacker tricks the server into verifying a JWT’s signature using a different algorithm than the website developers intended. If not handled correctly, this allows attackers to create valid JWTs without knowing the server's secret signing key.</a:t>
            </a:r>
          </a:p>
          <a:p>
            <a:endParaRPr lang="en-GB" sz="1100" dirty="0"/>
          </a:p>
          <a:p>
            <a:r>
              <a:rPr lang="en-GB" sz="1100" b="1" dirty="0"/>
              <a:t>Symmetric vs. Asymmetric Algorithms</a:t>
            </a:r>
          </a:p>
          <a:p>
            <a:r>
              <a:rPr lang="en-GB" sz="1100" dirty="0"/>
              <a:t>JWTs can be signed using different algorithms:</a:t>
            </a:r>
          </a:p>
          <a:p>
            <a:endParaRPr lang="en-GB" sz="1100" dirty="0"/>
          </a:p>
          <a:p>
            <a:pPr marL="171450" indent="-171450">
              <a:buFont typeface="Arial" panose="020B0604020202020204" pitchFamily="34" charset="0"/>
              <a:buChar char="•"/>
            </a:pPr>
            <a:r>
              <a:rPr lang="en-GB" sz="1100" b="1" dirty="0"/>
              <a:t>Symmetric Algorithms (e.g., HS256):</a:t>
            </a:r>
            <a:r>
              <a:rPr lang="en-GB" sz="1100" dirty="0"/>
              <a:t> Use the same key for both signing and verification. This key must be kept secret like a password.</a:t>
            </a:r>
          </a:p>
          <a:p>
            <a:pPr marL="171450" indent="-171450">
              <a:buFont typeface="Arial" panose="020B0604020202020204" pitchFamily="34" charset="0"/>
              <a:buChar char="•"/>
            </a:pPr>
            <a:r>
              <a:rPr lang="en-GB" sz="1100" b="1" dirty="0"/>
              <a:t>Asymmetric Algorithms (e.g., RS256):</a:t>
            </a:r>
            <a:r>
              <a:rPr lang="en-GB" sz="1100" dirty="0"/>
              <a:t> Use different keys for signing and verification. A private key signs the token, and a public key verifies it. The public key can be shared, while the private key must be kept secret.</a:t>
            </a:r>
          </a:p>
          <a:p>
            <a:endParaRPr lang="en-GB" sz="1100" dirty="0"/>
          </a:p>
          <a:p>
            <a:r>
              <a:rPr lang="en-GB" sz="1100" b="1" dirty="0"/>
              <a:t>How Algorithm Confusion Vulnerabilities Arise</a:t>
            </a:r>
          </a:p>
          <a:p>
            <a:r>
              <a:rPr lang="en-GB" sz="1100" dirty="0"/>
              <a:t>Algorithm confusion vulnerabilities arise from incorrect implementations of JWT libraries. Many libraries choose the algorithm based on the </a:t>
            </a:r>
            <a:r>
              <a:rPr lang="en-GB" sz="1100" dirty="0" err="1"/>
              <a:t>alg</a:t>
            </a:r>
            <a:r>
              <a:rPr lang="en-GB" sz="1100" dirty="0"/>
              <a:t> parameter in the JWT header. This can create issues if developers assume that a specific algorithm will always be used.</a:t>
            </a:r>
          </a:p>
          <a:p>
            <a:endParaRPr lang="en-GB" sz="1100" dirty="0"/>
          </a:p>
          <a:p>
            <a:r>
              <a:rPr lang="en-GB" sz="1100" dirty="0"/>
              <a:t>For example, in the simplified code snippet below, the signature verification is done for both RS256 and HS256 algorithms:</a:t>
            </a:r>
          </a:p>
          <a:p>
            <a:endParaRPr lang="en-GB" sz="1100" dirty="0"/>
          </a:p>
          <a:p>
            <a:pPr lvl="1"/>
            <a:r>
              <a:rPr lang="en-GB" sz="1050" dirty="0"/>
              <a:t>def verify(token, </a:t>
            </a:r>
            <a:r>
              <a:rPr lang="en-GB" sz="1050" dirty="0" err="1"/>
              <a:t>secretOrPublicKey</a:t>
            </a:r>
            <a:r>
              <a:rPr lang="en-GB" sz="1050" dirty="0"/>
              <a:t>):</a:t>
            </a:r>
          </a:p>
          <a:p>
            <a:pPr lvl="1"/>
            <a:r>
              <a:rPr lang="en-GB" sz="1050" dirty="0"/>
              <a:t>    algorithm = </a:t>
            </a:r>
            <a:r>
              <a:rPr lang="en-GB" sz="1050" dirty="0" err="1"/>
              <a:t>token.getAlgHeader</a:t>
            </a:r>
            <a:r>
              <a:rPr lang="en-GB" sz="1050" dirty="0"/>
              <a:t>()</a:t>
            </a:r>
          </a:p>
          <a:p>
            <a:pPr lvl="1"/>
            <a:r>
              <a:rPr lang="en-GB" sz="1050" dirty="0"/>
              <a:t>    if algorithm == "RS256":</a:t>
            </a:r>
          </a:p>
          <a:p>
            <a:pPr lvl="1"/>
            <a:r>
              <a:rPr lang="en-GB" sz="1050" dirty="0"/>
              <a:t>        # Use the provided key as an RSA public key</a:t>
            </a:r>
          </a:p>
          <a:p>
            <a:pPr lvl="1"/>
            <a:r>
              <a:rPr lang="en-GB" sz="1050" dirty="0"/>
              <a:t>    </a:t>
            </a:r>
            <a:r>
              <a:rPr lang="en-GB" sz="1050" dirty="0" err="1"/>
              <a:t>elif</a:t>
            </a:r>
            <a:r>
              <a:rPr lang="en-GB" sz="1050" dirty="0"/>
              <a:t> algorithm == "HS256":</a:t>
            </a:r>
          </a:p>
          <a:p>
            <a:pPr lvl="1"/>
            <a:r>
              <a:rPr lang="en-GB" sz="1050" dirty="0"/>
              <a:t>                # Use the provided key as an HMAC secret key</a:t>
            </a:r>
          </a:p>
          <a:p>
            <a:pPr lvl="1"/>
            <a:endParaRPr lang="en-GB" sz="1100" dirty="0"/>
          </a:p>
          <a:p>
            <a:r>
              <a:rPr lang="en-GB" sz="1100" dirty="0"/>
              <a:t>If developers assume that the server will only accept tokens signed with RS256 and use a fixed public key, attackers could sign the token with HS256 and verify it using the fixed public key as the HMAC secret key.</a:t>
            </a:r>
          </a:p>
        </p:txBody>
      </p:sp>
    </p:spTree>
    <p:extLst>
      <p:ext uri="{BB962C8B-B14F-4D97-AF65-F5344CB8AC3E}">
        <p14:creationId xmlns:p14="http://schemas.microsoft.com/office/powerpoint/2010/main" val="21800981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9A9E9155-9632-7770-CE28-C9BE2972C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45706-73EE-402E-F508-9DD93CF4B835}"/>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791257B0-DDA3-0736-C963-1BEE9DC3BB86}"/>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F5ABAAE0-1867-8905-74FA-6D91BDB7C42F}"/>
              </a:ext>
            </a:extLst>
          </p:cNvPr>
          <p:cNvSpPr txBox="1"/>
          <p:nvPr/>
        </p:nvSpPr>
        <p:spPr>
          <a:xfrm>
            <a:off x="685800" y="1938866"/>
            <a:ext cx="11277600" cy="4185761"/>
          </a:xfrm>
          <a:prstGeom prst="rect">
            <a:avLst/>
          </a:prstGeom>
          <a:noFill/>
        </p:spPr>
        <p:txBody>
          <a:bodyPr wrap="square">
            <a:spAutoFit/>
          </a:bodyPr>
          <a:lstStyle/>
          <a:p>
            <a:r>
              <a:rPr lang="en-US" sz="1400" b="1" dirty="0"/>
              <a:t>JWT Vulnerabilities Mitigation Techniques</a:t>
            </a:r>
          </a:p>
          <a:p>
            <a:endParaRPr lang="en-US" sz="1400" b="1" dirty="0"/>
          </a:p>
          <a:p>
            <a:r>
              <a:rPr lang="en-US" sz="1400" dirty="0"/>
              <a:t>When properly configured, JSON Web Tokens (JWT) offer a robust authentication and authorization mechanism. However, if misconfigured or if security measures are not taken, they can lead to severe security vulnerabilities.</a:t>
            </a:r>
          </a:p>
          <a:p>
            <a:r>
              <a:rPr lang="en-US" sz="1400" dirty="0"/>
              <a:t> </a:t>
            </a:r>
          </a:p>
          <a:p>
            <a:r>
              <a:rPr lang="en-US" sz="1400" b="1" dirty="0"/>
              <a:t>Use Strong Signing Algorithms</a:t>
            </a:r>
          </a:p>
          <a:p>
            <a:endParaRPr lang="en-US" sz="1400" b="1" dirty="0"/>
          </a:p>
          <a:p>
            <a:r>
              <a:rPr lang="en-US" sz="1400" dirty="0"/>
              <a:t>To ensure the security of JWTs, it's important to use strong and reliable signing algorithms. You can enhance security by using asymmetric algorithms (e.g., RS256) instead of symmetric algorithms (e.g., HS256).</a:t>
            </a:r>
          </a:p>
          <a:p>
            <a:endParaRPr lang="en-US" sz="1400" dirty="0"/>
          </a:p>
          <a:p>
            <a:r>
              <a:rPr lang="en-US" sz="1400" b="1" dirty="0"/>
              <a:t>Advantages of Asymmetric Algorithms</a:t>
            </a:r>
          </a:p>
          <a:p>
            <a:endParaRPr lang="en-US" sz="1400" b="1" dirty="0"/>
          </a:p>
          <a:p>
            <a:pPr marL="285750" indent="-285750">
              <a:buFont typeface="Arial" panose="020B0604020202020204" pitchFamily="34" charset="0"/>
              <a:buChar char="•"/>
            </a:pPr>
            <a:r>
              <a:rPr lang="en-US" sz="1400" b="1" dirty="0"/>
              <a:t>Key Management:</a:t>
            </a:r>
            <a:r>
              <a:rPr lang="en-US" sz="1400" dirty="0"/>
              <a:t> In asymmetric algorithms, the private key is only used for signing and is kept secret. The public key is used for verification and can be shared with anyone, making key management more secure.</a:t>
            </a:r>
          </a:p>
          <a:p>
            <a:pPr marL="285750" indent="-285750">
              <a:buFont typeface="Arial" panose="020B0604020202020204" pitchFamily="34" charset="0"/>
              <a:buChar char="•"/>
            </a:pPr>
            <a:r>
              <a:rPr lang="en-US" sz="1400" b="1" dirty="0"/>
              <a:t>Stronger Cryptography:</a:t>
            </a:r>
            <a:r>
              <a:rPr lang="en-US" sz="1400" dirty="0"/>
              <a:t> Asymmetric algorithms like RSA increase security with more complex mathematical operations and are more resistant to brute force attacks.</a:t>
            </a:r>
          </a:p>
          <a:p>
            <a:endParaRPr lang="en-US" sz="1400" dirty="0"/>
          </a:p>
          <a:p>
            <a:r>
              <a:rPr lang="en-US" sz="1400" b="1" dirty="0"/>
              <a:t>Algorithm Restrictions</a:t>
            </a:r>
          </a:p>
          <a:p>
            <a:r>
              <a:rPr lang="en-US" sz="1400" dirty="0"/>
              <a:t>Allow only certain secure algorithms to be used on the server side.</a:t>
            </a:r>
          </a:p>
        </p:txBody>
      </p:sp>
    </p:spTree>
    <p:extLst>
      <p:ext uri="{BB962C8B-B14F-4D97-AF65-F5344CB8AC3E}">
        <p14:creationId xmlns:p14="http://schemas.microsoft.com/office/powerpoint/2010/main" val="25392261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526125DE-91CC-F8E6-9808-AD4DBF6FF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34739-8CF8-2CD1-A3F7-596340933CF1}"/>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34F327D1-4F55-8E69-CED1-07D092C33D53}"/>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B8B7C293-0F85-7CA8-DF6D-951FFA4566C6}"/>
              </a:ext>
            </a:extLst>
          </p:cNvPr>
          <p:cNvSpPr txBox="1"/>
          <p:nvPr/>
        </p:nvSpPr>
        <p:spPr>
          <a:xfrm>
            <a:off x="685800" y="1938866"/>
            <a:ext cx="11277600" cy="4216539"/>
          </a:xfrm>
          <a:prstGeom prst="rect">
            <a:avLst/>
          </a:prstGeom>
          <a:noFill/>
        </p:spPr>
        <p:txBody>
          <a:bodyPr wrap="square">
            <a:spAutoFit/>
          </a:bodyPr>
          <a:lstStyle/>
          <a:p>
            <a:r>
              <a:rPr lang="en-US" sz="1400" b="1" dirty="0"/>
              <a:t>JWT Vulnerabilities Mitigation Techniques</a:t>
            </a:r>
          </a:p>
          <a:p>
            <a:endParaRPr lang="en-US" sz="1400" b="1" dirty="0"/>
          </a:p>
          <a:p>
            <a:r>
              <a:rPr lang="en-US" sz="1000" b="1" dirty="0"/>
              <a:t>Example code implementation:</a:t>
            </a:r>
          </a:p>
          <a:p>
            <a:endParaRPr lang="en-US" sz="1000" dirty="0"/>
          </a:p>
          <a:p>
            <a:pPr lvl="1"/>
            <a:r>
              <a:rPr lang="en-US" sz="1000" dirty="0"/>
              <a:t>import </a:t>
            </a:r>
            <a:r>
              <a:rPr lang="en-US" sz="1000" dirty="0" err="1"/>
              <a:t>jwt</a:t>
            </a:r>
            <a:endParaRPr lang="en-US" sz="1000" dirty="0"/>
          </a:p>
          <a:p>
            <a:pPr lvl="1"/>
            <a:endParaRPr lang="en-US" sz="1000" dirty="0"/>
          </a:p>
          <a:p>
            <a:pPr lvl="1"/>
            <a:r>
              <a:rPr lang="en-US" sz="1000" dirty="0"/>
              <a:t>def </a:t>
            </a:r>
            <a:r>
              <a:rPr lang="en-US" sz="1000" dirty="0" err="1"/>
              <a:t>verify_jwt</a:t>
            </a:r>
            <a:r>
              <a:rPr lang="en-US" sz="1000" dirty="0"/>
              <a:t>(token, </a:t>
            </a:r>
            <a:r>
              <a:rPr lang="en-US" sz="1000" dirty="0" err="1"/>
              <a:t>public_key</a:t>
            </a:r>
            <a:r>
              <a:rPr lang="en-US" sz="1000" dirty="0"/>
              <a:t>):</a:t>
            </a:r>
          </a:p>
          <a:p>
            <a:pPr lvl="1"/>
            <a:r>
              <a:rPr lang="en-US" sz="1000" dirty="0"/>
              <a:t>    try:</a:t>
            </a:r>
          </a:p>
          <a:p>
            <a:pPr lvl="1"/>
            <a:r>
              <a:rPr lang="en-US" sz="1000" dirty="0"/>
              <a:t>        decoded = </a:t>
            </a:r>
            <a:r>
              <a:rPr lang="en-US" sz="1000" dirty="0" err="1"/>
              <a:t>jwt.decode</a:t>
            </a:r>
            <a:r>
              <a:rPr lang="en-US" sz="1000" dirty="0"/>
              <a:t>(token, </a:t>
            </a:r>
            <a:r>
              <a:rPr lang="en-US" sz="1000" dirty="0" err="1"/>
              <a:t>public_key</a:t>
            </a:r>
            <a:r>
              <a:rPr lang="en-US" sz="1000" dirty="0"/>
              <a:t>, algorithms=['RS256'])</a:t>
            </a:r>
          </a:p>
          <a:p>
            <a:pPr lvl="1"/>
            <a:r>
              <a:rPr lang="en-US" sz="1000" dirty="0"/>
              <a:t>        return decoded</a:t>
            </a:r>
          </a:p>
          <a:p>
            <a:pPr lvl="1"/>
            <a:r>
              <a:rPr lang="en-US" sz="1000" dirty="0"/>
              <a:t>    except </a:t>
            </a:r>
            <a:r>
              <a:rPr lang="en-US" sz="1000" dirty="0" err="1"/>
              <a:t>jwt.exceptions.InvalidAlgorithmError</a:t>
            </a:r>
            <a:r>
              <a:rPr lang="en-US" sz="1000" dirty="0"/>
              <a:t>:</a:t>
            </a:r>
          </a:p>
          <a:p>
            <a:pPr lvl="1"/>
            <a:r>
              <a:rPr lang="en-US" sz="1000" dirty="0"/>
              <a:t>        raise </a:t>
            </a:r>
            <a:r>
              <a:rPr lang="en-US" sz="1000" dirty="0" err="1"/>
              <a:t>ValueError</a:t>
            </a:r>
            <a:r>
              <a:rPr lang="en-US" sz="1000" dirty="0"/>
              <a:t>("Invalid algorithm")</a:t>
            </a:r>
          </a:p>
          <a:p>
            <a:pPr lvl="1"/>
            <a:endParaRPr lang="en-US" sz="1000" dirty="0"/>
          </a:p>
          <a:p>
            <a:r>
              <a:rPr lang="en-US" sz="1000" b="1" dirty="0"/>
              <a:t>Secure Key Management</a:t>
            </a:r>
          </a:p>
          <a:p>
            <a:r>
              <a:rPr lang="en-US" sz="1000" dirty="0"/>
              <a:t>To ensure the security of JWTs, managing signature keys securely is of critical importance.</a:t>
            </a:r>
          </a:p>
          <a:p>
            <a:endParaRPr lang="en-US" sz="1000" dirty="0"/>
          </a:p>
          <a:p>
            <a:r>
              <a:rPr lang="en-US" sz="1000" b="1" dirty="0"/>
              <a:t>Secure Storage of Keys</a:t>
            </a:r>
          </a:p>
          <a:p>
            <a:endParaRPr lang="en-US" sz="1000" b="1" dirty="0"/>
          </a:p>
          <a:p>
            <a:pPr marL="171450" indent="-171450">
              <a:buFont typeface="Arial" panose="020B0604020202020204" pitchFamily="34" charset="0"/>
              <a:buChar char="•"/>
            </a:pPr>
            <a:r>
              <a:rPr lang="en-US" sz="1000" b="1" dirty="0"/>
              <a:t>Environmental Variables:</a:t>
            </a:r>
            <a:r>
              <a:rPr lang="en-US" sz="1000" dirty="0"/>
              <a:t> Store keys in environmental variables to isolate them from the codebase.</a:t>
            </a:r>
          </a:p>
          <a:p>
            <a:pPr marL="171450" indent="-171450">
              <a:buFont typeface="Arial" panose="020B0604020202020204" pitchFamily="34" charset="0"/>
              <a:buChar char="•"/>
            </a:pPr>
            <a:r>
              <a:rPr lang="en-US" sz="1000" b="1" dirty="0"/>
              <a:t>Secure Storage:</a:t>
            </a:r>
            <a:r>
              <a:rPr lang="en-US" sz="1000" dirty="0"/>
              <a:t> Use HSM (Hardware Security Module) or secure vaults to store keys securely.</a:t>
            </a:r>
          </a:p>
          <a:p>
            <a:pPr marL="171450" indent="-171450">
              <a:buFont typeface="Arial" panose="020B0604020202020204" pitchFamily="34" charset="0"/>
              <a:buChar char="•"/>
            </a:pPr>
            <a:r>
              <a:rPr lang="en-US" sz="1000" b="1" dirty="0"/>
              <a:t>Key Rotation:</a:t>
            </a:r>
            <a:r>
              <a:rPr lang="en-US" sz="1000" dirty="0"/>
              <a:t> Regularly rotate keys and invalidate old keys.</a:t>
            </a:r>
          </a:p>
          <a:p>
            <a:endParaRPr lang="en-US" sz="1000" dirty="0"/>
          </a:p>
          <a:p>
            <a:r>
              <a:rPr lang="en-US" sz="1000" b="1" dirty="0"/>
              <a:t>Key Management Tools</a:t>
            </a:r>
          </a:p>
          <a:p>
            <a:endParaRPr lang="en-US" sz="1000" b="1" dirty="0"/>
          </a:p>
          <a:p>
            <a:r>
              <a:rPr lang="en-US" sz="1000" b="1" dirty="0"/>
              <a:t>AWS KMS (Key Management Service):</a:t>
            </a:r>
            <a:r>
              <a:rPr lang="en-US" sz="1000" dirty="0"/>
              <a:t> Offers secure storage and management of keys.</a:t>
            </a:r>
          </a:p>
          <a:p>
            <a:r>
              <a:rPr lang="en-US" sz="1000" b="1" dirty="0"/>
              <a:t>Azure Key Vault:</a:t>
            </a:r>
            <a:r>
              <a:rPr lang="en-US" sz="1000" dirty="0"/>
              <a:t> Provides secure key management and storage services.</a:t>
            </a:r>
          </a:p>
        </p:txBody>
      </p:sp>
    </p:spTree>
    <p:extLst>
      <p:ext uri="{BB962C8B-B14F-4D97-AF65-F5344CB8AC3E}">
        <p14:creationId xmlns:p14="http://schemas.microsoft.com/office/powerpoint/2010/main" val="34207715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37D72388-A35D-030B-6C76-1F0B3927E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A87FC5-DEB4-4779-B7A1-21958B7BAED9}"/>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6F448293-B4F9-3E09-D05C-F1B5ADB3C4A0}"/>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1279F0B8-3200-887B-1073-A3C4B0E720B0}"/>
              </a:ext>
            </a:extLst>
          </p:cNvPr>
          <p:cNvSpPr txBox="1"/>
          <p:nvPr/>
        </p:nvSpPr>
        <p:spPr>
          <a:xfrm>
            <a:off x="685800" y="1938866"/>
            <a:ext cx="11277600" cy="4985980"/>
          </a:xfrm>
          <a:prstGeom prst="rect">
            <a:avLst/>
          </a:prstGeom>
          <a:noFill/>
        </p:spPr>
        <p:txBody>
          <a:bodyPr wrap="square">
            <a:spAutoFit/>
          </a:bodyPr>
          <a:lstStyle/>
          <a:p>
            <a:r>
              <a:rPr lang="en-US" sz="1400" b="1" dirty="0"/>
              <a:t>JWT Vulnerabilities Mitigation Techniques</a:t>
            </a:r>
          </a:p>
          <a:p>
            <a:endParaRPr lang="en-US" sz="1400" b="1" dirty="0"/>
          </a:p>
          <a:p>
            <a:r>
              <a:rPr lang="en-US" sz="1000" b="1" dirty="0"/>
              <a:t>Expiry Management</a:t>
            </a:r>
          </a:p>
          <a:p>
            <a:r>
              <a:rPr lang="en-US" sz="1000" dirty="0"/>
              <a:t>Carefully managing the expiry durations of JWTs reduces potential security risks.</a:t>
            </a:r>
          </a:p>
          <a:p>
            <a:r>
              <a:rPr lang="en-US" sz="1000" b="1" dirty="0"/>
              <a:t>Short-Lived Tokens</a:t>
            </a:r>
          </a:p>
          <a:p>
            <a:r>
              <a:rPr lang="en-US" sz="1000" dirty="0"/>
              <a:t>Keeping token expiry times short restricts the amount of time an attacker can use a stolen token.</a:t>
            </a:r>
          </a:p>
          <a:p>
            <a:r>
              <a:rPr lang="en-US" sz="1000" b="1" dirty="0"/>
              <a:t>Example code implementation:</a:t>
            </a:r>
          </a:p>
          <a:p>
            <a:endParaRPr lang="en-US" sz="1000" dirty="0"/>
          </a:p>
          <a:p>
            <a:pPr lvl="1"/>
            <a:r>
              <a:rPr lang="en-US" sz="1000" dirty="0"/>
              <a:t>import datetime</a:t>
            </a:r>
          </a:p>
          <a:p>
            <a:pPr lvl="1"/>
            <a:r>
              <a:rPr lang="en-US" sz="1000" dirty="0"/>
              <a:t>import </a:t>
            </a:r>
            <a:r>
              <a:rPr lang="en-US" sz="1000" dirty="0" err="1"/>
              <a:t>jwt</a:t>
            </a:r>
            <a:endParaRPr lang="en-US" sz="1000" dirty="0"/>
          </a:p>
          <a:p>
            <a:pPr lvl="1"/>
            <a:endParaRPr lang="en-US" sz="1000" dirty="0"/>
          </a:p>
          <a:p>
            <a:pPr lvl="1"/>
            <a:r>
              <a:rPr lang="en-US" sz="1000" dirty="0"/>
              <a:t>def </a:t>
            </a:r>
            <a:r>
              <a:rPr lang="en-US" sz="1000" dirty="0" err="1"/>
              <a:t>create_jwt</a:t>
            </a:r>
            <a:r>
              <a:rPr lang="en-US" sz="1000" dirty="0"/>
              <a:t>(payload, secret):</a:t>
            </a:r>
          </a:p>
          <a:p>
            <a:pPr lvl="1"/>
            <a:r>
              <a:rPr lang="en-US" sz="1000" dirty="0"/>
              <a:t>    expiration = </a:t>
            </a:r>
            <a:r>
              <a:rPr lang="en-US" sz="1000" dirty="0" err="1"/>
              <a:t>datetime.datetime.utcnow</a:t>
            </a:r>
            <a:r>
              <a:rPr lang="en-US" sz="1000" dirty="0"/>
              <a:t>() + </a:t>
            </a:r>
            <a:r>
              <a:rPr lang="en-US" sz="1000" dirty="0" err="1"/>
              <a:t>datetime.timedelta</a:t>
            </a:r>
            <a:r>
              <a:rPr lang="en-US" sz="1000" dirty="0"/>
              <a:t>(minutes=15)</a:t>
            </a:r>
          </a:p>
          <a:p>
            <a:pPr lvl="1"/>
            <a:r>
              <a:rPr lang="en-US" sz="1000" dirty="0"/>
              <a:t>    payload['exp'] = expiration</a:t>
            </a:r>
          </a:p>
          <a:p>
            <a:pPr lvl="1"/>
            <a:r>
              <a:rPr lang="en-US" sz="1000" dirty="0"/>
              <a:t>    token = </a:t>
            </a:r>
            <a:r>
              <a:rPr lang="en-US" sz="1000" dirty="0" err="1"/>
              <a:t>jwt.encode</a:t>
            </a:r>
            <a:r>
              <a:rPr lang="en-US" sz="1000" dirty="0"/>
              <a:t>(payload, secret, algorithm='HS256')</a:t>
            </a:r>
          </a:p>
          <a:p>
            <a:pPr lvl="1"/>
            <a:r>
              <a:rPr lang="en-US" sz="1000" dirty="0"/>
              <a:t>    return token</a:t>
            </a:r>
          </a:p>
          <a:p>
            <a:pPr lvl="1"/>
            <a:endParaRPr lang="en-US" sz="1000" dirty="0"/>
          </a:p>
          <a:p>
            <a:r>
              <a:rPr lang="en-US" sz="1000" b="1" dirty="0"/>
              <a:t>Proper Configuration and Checks</a:t>
            </a:r>
          </a:p>
          <a:p>
            <a:r>
              <a:rPr lang="en-US" sz="1000" dirty="0"/>
              <a:t>Ensuring proper configuration and performing necessary checks on JWTs is important for securing them.</a:t>
            </a:r>
          </a:p>
          <a:p>
            <a:endParaRPr lang="en-US" sz="1000" dirty="0"/>
          </a:p>
          <a:p>
            <a:r>
              <a:rPr lang="en-US" sz="1000" b="1" dirty="0"/>
              <a:t>Algorithm Validation</a:t>
            </a:r>
          </a:p>
          <a:p>
            <a:r>
              <a:rPr lang="en-US" sz="1000" dirty="0"/>
              <a:t>Validate the </a:t>
            </a:r>
            <a:r>
              <a:rPr lang="en-US" sz="1000" dirty="0" err="1"/>
              <a:t>alg</a:t>
            </a:r>
            <a:r>
              <a:rPr lang="en-US" sz="1000" dirty="0"/>
              <a:t> parameter in the JWT header to ensure only allowed algorithms are used.</a:t>
            </a:r>
          </a:p>
          <a:p>
            <a:endParaRPr lang="en-US" sz="1000" dirty="0"/>
          </a:p>
          <a:p>
            <a:r>
              <a:rPr lang="en-US" sz="1000" b="1" dirty="0"/>
              <a:t>Example code implementation:</a:t>
            </a:r>
          </a:p>
          <a:p>
            <a:endParaRPr lang="en-US" sz="1000" dirty="0"/>
          </a:p>
          <a:p>
            <a:pPr lvl="1"/>
            <a:r>
              <a:rPr lang="en-US" sz="1000" dirty="0"/>
              <a:t>def </a:t>
            </a:r>
            <a:r>
              <a:rPr lang="en-US" sz="1000" dirty="0" err="1"/>
              <a:t>verify_jwt_with_alg_check</a:t>
            </a:r>
            <a:r>
              <a:rPr lang="en-US" sz="1000" dirty="0"/>
              <a:t>(token, </a:t>
            </a:r>
            <a:r>
              <a:rPr lang="en-US" sz="1000" dirty="0" err="1"/>
              <a:t>secret_or_public_key</a:t>
            </a:r>
            <a:r>
              <a:rPr lang="en-US" sz="1000" dirty="0"/>
              <a:t>):</a:t>
            </a:r>
          </a:p>
          <a:p>
            <a:pPr lvl="1"/>
            <a:r>
              <a:rPr lang="en-US" sz="1000" dirty="0"/>
              <a:t>    header = </a:t>
            </a:r>
            <a:r>
              <a:rPr lang="en-US" sz="1000" dirty="0" err="1"/>
              <a:t>jwt.get_unverified_header</a:t>
            </a:r>
            <a:r>
              <a:rPr lang="en-US" sz="1000" dirty="0"/>
              <a:t>(token)</a:t>
            </a:r>
          </a:p>
          <a:p>
            <a:pPr lvl="1"/>
            <a:r>
              <a:rPr lang="en-US" sz="1000" dirty="0"/>
              <a:t>    if header['</a:t>
            </a:r>
            <a:r>
              <a:rPr lang="en-US" sz="1000" dirty="0" err="1"/>
              <a:t>alg</a:t>
            </a:r>
            <a:r>
              <a:rPr lang="en-US" sz="1000" dirty="0"/>
              <a:t>'] != 'RS256':</a:t>
            </a:r>
          </a:p>
          <a:p>
            <a:pPr lvl="1"/>
            <a:r>
              <a:rPr lang="en-US" sz="1000" dirty="0"/>
              <a:t>        raise </a:t>
            </a:r>
            <a:r>
              <a:rPr lang="en-US" sz="1000" dirty="0" err="1"/>
              <a:t>ValueError</a:t>
            </a:r>
            <a:r>
              <a:rPr lang="en-US" sz="1000" dirty="0"/>
              <a:t>("Invalid algorithm")</a:t>
            </a:r>
          </a:p>
          <a:p>
            <a:pPr lvl="1"/>
            <a:r>
              <a:rPr lang="en-US" sz="1000" dirty="0"/>
              <a:t>    return </a:t>
            </a:r>
            <a:r>
              <a:rPr lang="en-US" sz="1000" dirty="0" err="1"/>
              <a:t>jwt.decode</a:t>
            </a:r>
            <a:r>
              <a:rPr lang="en-US" sz="1000" dirty="0"/>
              <a:t>(token, </a:t>
            </a:r>
            <a:r>
              <a:rPr lang="en-US" sz="1000" dirty="0" err="1"/>
              <a:t>secret_or_public_key</a:t>
            </a:r>
            <a:r>
              <a:rPr lang="en-US" sz="1000" dirty="0"/>
              <a:t>, algorithms=['RS256’])</a:t>
            </a:r>
          </a:p>
          <a:p>
            <a:endParaRPr lang="en-US" sz="1000" dirty="0"/>
          </a:p>
        </p:txBody>
      </p:sp>
    </p:spTree>
    <p:extLst>
      <p:ext uri="{BB962C8B-B14F-4D97-AF65-F5344CB8AC3E}">
        <p14:creationId xmlns:p14="http://schemas.microsoft.com/office/powerpoint/2010/main" val="12980292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ADC953C-6659-A51D-1B0B-22F65CD31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B9BF5-B16D-5301-3F9A-83015A4015FA}"/>
              </a:ext>
            </a:extLst>
          </p:cNvPr>
          <p:cNvSpPr>
            <a:spLocks noGrp="1"/>
          </p:cNvSpPr>
          <p:nvPr>
            <p:ph type="title"/>
          </p:nvPr>
        </p:nvSpPr>
        <p:spPr>
          <a:xfrm>
            <a:off x="685800" y="609600"/>
            <a:ext cx="7023099" cy="1456267"/>
          </a:xfrm>
        </p:spPr>
        <p:txBody>
          <a:bodyPr>
            <a:normAutofit/>
          </a:bodyPr>
          <a:lstStyle/>
          <a:p>
            <a:r>
              <a:rPr lang="en-GB" dirty="0"/>
              <a:t>OWASP Top 10: </a:t>
            </a:r>
            <a:r>
              <a:rPr lang="en-US" dirty="0"/>
              <a:t>JWT Vulnerabilities</a:t>
            </a:r>
            <a:endParaRPr lang="en-GB" b="1" dirty="0"/>
          </a:p>
        </p:txBody>
      </p:sp>
      <p:sp>
        <p:nvSpPr>
          <p:cNvPr id="12" name="AutoShape 14">
            <a:extLst>
              <a:ext uri="{FF2B5EF4-FFF2-40B4-BE49-F238E27FC236}">
                <a16:creationId xmlns:a16="http://schemas.microsoft.com/office/drawing/2014/main" id="{DC2B0935-E95B-9C12-F479-F1406AA70B57}"/>
              </a:ext>
            </a:extLst>
          </p:cNvPr>
          <p:cNvSpPr>
            <a:spLocks noChangeAspect="1" noChangeArrowheads="1"/>
          </p:cNvSpPr>
          <p:nvPr/>
        </p:nvSpPr>
        <p:spPr bwMode="auto">
          <a:xfrm>
            <a:off x="1323975" y="690563"/>
            <a:ext cx="9544050" cy="5476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2E9A68FB-7EE2-A20B-1621-D3884F7BC204}"/>
              </a:ext>
            </a:extLst>
          </p:cNvPr>
          <p:cNvSpPr txBox="1"/>
          <p:nvPr/>
        </p:nvSpPr>
        <p:spPr>
          <a:xfrm>
            <a:off x="685800" y="1938866"/>
            <a:ext cx="11277600" cy="1384995"/>
          </a:xfrm>
          <a:prstGeom prst="rect">
            <a:avLst/>
          </a:prstGeom>
          <a:noFill/>
        </p:spPr>
        <p:txBody>
          <a:bodyPr wrap="square">
            <a:spAutoFit/>
          </a:bodyPr>
          <a:lstStyle/>
          <a:p>
            <a:r>
              <a:rPr lang="en-US" sz="1400" b="1" dirty="0"/>
              <a:t>JWT Vulnerabilities Mitigation Techniques</a:t>
            </a:r>
          </a:p>
          <a:p>
            <a:endParaRPr lang="en-US" sz="1000" dirty="0"/>
          </a:p>
          <a:p>
            <a:r>
              <a:rPr lang="en-US" sz="1200" b="1" dirty="0"/>
              <a:t>Token Validation Steps</a:t>
            </a:r>
          </a:p>
          <a:p>
            <a:endParaRPr lang="en-US" sz="1200" b="1" dirty="0"/>
          </a:p>
          <a:p>
            <a:pPr marL="171450" indent="-171450">
              <a:buFont typeface="Arial" panose="020B0604020202020204" pitchFamily="34" charset="0"/>
              <a:buChar char="•"/>
            </a:pPr>
            <a:r>
              <a:rPr lang="en-US" sz="1200" b="1" dirty="0"/>
              <a:t>Signature Verification:</a:t>
            </a:r>
            <a:r>
              <a:rPr lang="en-US" sz="1200" dirty="0"/>
              <a:t> Verify the token's signature to check its integrity and authenticity.</a:t>
            </a:r>
          </a:p>
          <a:p>
            <a:pPr marL="171450" indent="-171450">
              <a:buFont typeface="Arial" panose="020B0604020202020204" pitchFamily="34" charset="0"/>
              <a:buChar char="•"/>
            </a:pPr>
            <a:r>
              <a:rPr lang="en-US" sz="1200" b="1" dirty="0"/>
              <a:t>Expiration Check:</a:t>
            </a:r>
            <a:r>
              <a:rPr lang="en-US" sz="1200" dirty="0"/>
              <a:t> Confirm that the token has not expired.</a:t>
            </a:r>
          </a:p>
          <a:p>
            <a:pPr marL="171450" indent="-171450">
              <a:buFont typeface="Arial" panose="020B0604020202020204" pitchFamily="34" charset="0"/>
              <a:buChar char="•"/>
            </a:pPr>
            <a:r>
              <a:rPr lang="en-US" sz="1200" b="1" dirty="0"/>
              <a:t>Validation of Allowed Claims:</a:t>
            </a:r>
            <a:r>
              <a:rPr lang="en-US" sz="1200" dirty="0"/>
              <a:t> Validate certain claims (e.g., </a:t>
            </a:r>
            <a:r>
              <a:rPr lang="en-US" sz="1200" dirty="0" err="1"/>
              <a:t>iss</a:t>
            </a:r>
            <a:r>
              <a:rPr lang="en-US" sz="1200" dirty="0"/>
              <a:t>, </a:t>
            </a:r>
            <a:r>
              <a:rPr lang="en-US" sz="1200" dirty="0" err="1"/>
              <a:t>aud</a:t>
            </a:r>
            <a:r>
              <a:rPr lang="en-US" sz="1200" dirty="0"/>
              <a:t>) within the token to ensure it originates from an authorized source and belongs to the correct user.</a:t>
            </a:r>
          </a:p>
        </p:txBody>
      </p:sp>
    </p:spTree>
    <p:extLst>
      <p:ext uri="{BB962C8B-B14F-4D97-AF65-F5344CB8AC3E}">
        <p14:creationId xmlns:p14="http://schemas.microsoft.com/office/powerpoint/2010/main" val="27830482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BD85AFA-046A-F12F-BD3C-17AD2F4634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C0AD9-D452-E544-019E-5B5B89477130}"/>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Cross-Site Request Forgery (CSRF)</a:t>
            </a:r>
            <a:endParaRPr lang="en-GB" b="1" dirty="0"/>
          </a:p>
        </p:txBody>
      </p:sp>
      <p:sp>
        <p:nvSpPr>
          <p:cNvPr id="5" name="Rectangle 2">
            <a:extLst>
              <a:ext uri="{FF2B5EF4-FFF2-40B4-BE49-F238E27FC236}">
                <a16:creationId xmlns:a16="http://schemas.microsoft.com/office/drawing/2014/main" id="{70770362-066B-1FD5-4B44-BA0E647FACD3}"/>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GB" sz="1400" b="1" dirty="0"/>
              <a:t>Cross-Site Request Forgery (CSRF)</a:t>
            </a:r>
            <a:r>
              <a:rPr lang="en-GB" sz="1400" dirty="0"/>
              <a:t> is an attack that forces an authenticated user to perform unintended actions on a web application.</a:t>
            </a:r>
          </a:p>
          <a:p>
            <a:r>
              <a:rPr lang="en-GB" sz="1400" b="1" dirty="0"/>
              <a:t>Also known as:</a:t>
            </a:r>
            <a:endParaRPr lang="en-GB" sz="1400" dirty="0"/>
          </a:p>
          <a:p>
            <a:pPr lvl="1"/>
            <a:r>
              <a:rPr lang="en-GB" sz="1050" dirty="0"/>
              <a:t>Session Riding </a:t>
            </a:r>
          </a:p>
          <a:p>
            <a:pPr lvl="1"/>
            <a:r>
              <a:rPr lang="en-GB" sz="1050" dirty="0"/>
              <a:t>One-Click Attack </a:t>
            </a:r>
          </a:p>
          <a:p>
            <a:r>
              <a:rPr lang="en-GB" sz="1400" b="1" dirty="0"/>
              <a:t>Core Idea:</a:t>
            </a:r>
            <a:endParaRPr lang="en-GB" sz="1400" dirty="0"/>
          </a:p>
          <a:p>
            <a:pPr lvl="1"/>
            <a:r>
              <a:rPr lang="en-GB" sz="1050" dirty="0"/>
              <a:t>Server trusts </a:t>
            </a:r>
            <a:r>
              <a:rPr lang="en-GB" sz="1050" b="1" dirty="0"/>
              <a:t>session cookies only</a:t>
            </a:r>
            <a:r>
              <a:rPr lang="en-GB" sz="1050" dirty="0"/>
              <a:t> </a:t>
            </a:r>
          </a:p>
          <a:p>
            <a:pPr lvl="1"/>
            <a:r>
              <a:rPr lang="en-GB" sz="1050" dirty="0"/>
              <a:t>Browser </a:t>
            </a:r>
            <a:r>
              <a:rPr lang="en-GB" sz="1050" b="1" dirty="0"/>
              <a:t>automatically attaches cookies</a:t>
            </a:r>
            <a:r>
              <a:rPr lang="en-GB" sz="1050" dirty="0"/>
              <a:t> </a:t>
            </a:r>
          </a:p>
          <a:p>
            <a:pPr lvl="1"/>
            <a:r>
              <a:rPr lang="en-GB" sz="1050" dirty="0"/>
              <a:t>Attacker abuses this trust </a:t>
            </a:r>
          </a:p>
          <a:p>
            <a:r>
              <a:rPr lang="en-GB" sz="1400" b="1" dirty="0"/>
              <a:t>Attack Flow:</a:t>
            </a:r>
            <a:endParaRPr lang="en-GB" sz="1400" dirty="0"/>
          </a:p>
          <a:p>
            <a:pPr lvl="1"/>
            <a:r>
              <a:rPr lang="en-GB" sz="1050" dirty="0"/>
              <a:t>Victim logs into target app </a:t>
            </a:r>
          </a:p>
          <a:p>
            <a:pPr lvl="1"/>
            <a:r>
              <a:rPr lang="en-GB" sz="1050" dirty="0"/>
              <a:t>Attacker crafts malicious request </a:t>
            </a:r>
          </a:p>
          <a:p>
            <a:pPr lvl="1"/>
            <a:r>
              <a:rPr lang="en-GB" sz="1050" dirty="0"/>
              <a:t>Victim visits attacker-controlled page </a:t>
            </a:r>
          </a:p>
          <a:p>
            <a:pPr lvl="1"/>
            <a:r>
              <a:rPr lang="en-GB" sz="1050" dirty="0"/>
              <a:t>Browser sends request </a:t>
            </a:r>
            <a:r>
              <a:rPr lang="en-GB" sz="1050" b="1" dirty="0"/>
              <a:t>with session cookie</a:t>
            </a:r>
            <a:r>
              <a:rPr lang="en-GB" sz="1050" dirty="0"/>
              <a:t> </a:t>
            </a:r>
          </a:p>
          <a:p>
            <a:pPr lvl="1"/>
            <a:r>
              <a:rPr lang="en-GB" sz="1050" dirty="0"/>
              <a:t>Server executes action as victim</a:t>
            </a:r>
          </a:p>
        </p:txBody>
      </p:sp>
    </p:spTree>
    <p:extLst>
      <p:ext uri="{BB962C8B-B14F-4D97-AF65-F5344CB8AC3E}">
        <p14:creationId xmlns:p14="http://schemas.microsoft.com/office/powerpoint/2010/main" val="23695741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15E7830-11AC-4038-AC35-833CB2AD5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9117D-8F21-5E65-D7D5-035B60D37F8A}"/>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Cross-Site Request Forgery (CSRF)</a:t>
            </a:r>
            <a:endParaRPr lang="en-GB" b="1" dirty="0"/>
          </a:p>
        </p:txBody>
      </p:sp>
      <p:sp>
        <p:nvSpPr>
          <p:cNvPr id="5" name="Rectangle 2">
            <a:extLst>
              <a:ext uri="{FF2B5EF4-FFF2-40B4-BE49-F238E27FC236}">
                <a16:creationId xmlns:a16="http://schemas.microsoft.com/office/drawing/2014/main" id="{2223C1C2-1556-FD6E-F391-7276CCC1C36F}"/>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US" sz="1400" b="1" dirty="0"/>
              <a:t>Impact &amp; Risk Scenarios</a:t>
            </a:r>
          </a:p>
          <a:p>
            <a:r>
              <a:rPr lang="en-US" sz="1400" b="1" dirty="0"/>
              <a:t>Why CSRF is dangerous:</a:t>
            </a:r>
            <a:endParaRPr lang="en-US" sz="1400" dirty="0"/>
          </a:p>
          <a:p>
            <a:r>
              <a:rPr lang="en-US" sz="1400" dirty="0"/>
              <a:t>Unauthorized Actions </a:t>
            </a:r>
          </a:p>
          <a:p>
            <a:pPr lvl="1"/>
            <a:r>
              <a:rPr lang="en-US" sz="1200" dirty="0"/>
              <a:t>Change email/password </a:t>
            </a:r>
          </a:p>
          <a:p>
            <a:pPr lvl="1"/>
            <a:r>
              <a:rPr lang="en-US" sz="1200" dirty="0"/>
              <a:t>Post or send messages </a:t>
            </a:r>
          </a:p>
          <a:p>
            <a:r>
              <a:rPr lang="en-US" sz="1400" dirty="0"/>
              <a:t>Financial Impact </a:t>
            </a:r>
          </a:p>
          <a:p>
            <a:pPr lvl="1"/>
            <a:r>
              <a:rPr lang="en-US" sz="1200" dirty="0"/>
              <a:t>Money transfer </a:t>
            </a:r>
          </a:p>
          <a:p>
            <a:pPr lvl="1"/>
            <a:r>
              <a:rPr lang="en-US" sz="1200" dirty="0"/>
              <a:t>Unauthorized purchases </a:t>
            </a:r>
          </a:p>
          <a:p>
            <a:r>
              <a:rPr lang="en-US" sz="1400" dirty="0"/>
              <a:t>Account Takeover </a:t>
            </a:r>
          </a:p>
          <a:p>
            <a:pPr lvl="1"/>
            <a:r>
              <a:rPr lang="en-US" sz="1200" dirty="0"/>
              <a:t>Email change → password reset </a:t>
            </a:r>
          </a:p>
          <a:p>
            <a:r>
              <a:rPr lang="en-US" sz="1400" dirty="0"/>
              <a:t>Data Integrity Issues </a:t>
            </a:r>
          </a:p>
          <a:p>
            <a:pPr lvl="1"/>
            <a:r>
              <a:rPr lang="en-US" sz="1200" dirty="0"/>
              <a:t>Modify/delete records </a:t>
            </a:r>
          </a:p>
          <a:p>
            <a:r>
              <a:rPr lang="en-US" sz="1400" dirty="0"/>
              <a:t>Privilege Escalation </a:t>
            </a:r>
          </a:p>
          <a:p>
            <a:pPr lvl="1"/>
            <a:r>
              <a:rPr lang="en-US" sz="1200" dirty="0"/>
              <a:t>Promote attacker to admin</a:t>
            </a:r>
          </a:p>
        </p:txBody>
      </p:sp>
    </p:spTree>
    <p:extLst>
      <p:ext uri="{BB962C8B-B14F-4D97-AF65-F5344CB8AC3E}">
        <p14:creationId xmlns:p14="http://schemas.microsoft.com/office/powerpoint/2010/main" val="37301981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1B80B99C-2344-09D8-9C07-C91A108DC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621B8C-519B-A9BD-1BC6-19D8C49D4CAE}"/>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Cross-Site Request Forgery (CSRF)</a:t>
            </a:r>
            <a:endParaRPr lang="en-GB" b="1" dirty="0"/>
          </a:p>
        </p:txBody>
      </p:sp>
      <p:sp>
        <p:nvSpPr>
          <p:cNvPr id="5" name="Rectangle 2">
            <a:extLst>
              <a:ext uri="{FF2B5EF4-FFF2-40B4-BE49-F238E27FC236}">
                <a16:creationId xmlns:a16="http://schemas.microsoft.com/office/drawing/2014/main" id="{10388E92-FFF5-A662-1BB6-5B784F7E7EBB}"/>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sz="1100" b="1" dirty="0"/>
              <a:t>Anti-CSRF Tokens (Correct Implementation)</a:t>
            </a:r>
          </a:p>
          <a:p>
            <a:r>
              <a:rPr lang="en-US" sz="1100" b="1" dirty="0"/>
              <a:t>Token Requirements</a:t>
            </a:r>
          </a:p>
          <a:p>
            <a:pPr lvl="1"/>
            <a:r>
              <a:rPr lang="en-US" sz="900" dirty="0"/>
              <a:t>Random (cryptographically secure) </a:t>
            </a:r>
          </a:p>
          <a:p>
            <a:pPr lvl="1"/>
            <a:r>
              <a:rPr lang="en-US" sz="900" dirty="0"/>
              <a:t>Unpredictable </a:t>
            </a:r>
          </a:p>
          <a:p>
            <a:pPr lvl="1"/>
            <a:r>
              <a:rPr lang="en-US" sz="900" dirty="0"/>
              <a:t>Bound to user session </a:t>
            </a:r>
          </a:p>
          <a:p>
            <a:pPr lvl="1"/>
            <a:r>
              <a:rPr lang="en-US" sz="900" dirty="0"/>
              <a:t>Validated on every request </a:t>
            </a:r>
          </a:p>
          <a:p>
            <a:r>
              <a:rPr lang="en-US" sz="1100" b="1" dirty="0"/>
              <a:t>Full Flow</a:t>
            </a:r>
          </a:p>
          <a:p>
            <a:pPr lvl="1"/>
            <a:r>
              <a:rPr lang="en-US" sz="900" b="1" dirty="0"/>
              <a:t>1. Generate Token</a:t>
            </a:r>
            <a:endParaRPr lang="en-US" sz="900" dirty="0"/>
          </a:p>
          <a:p>
            <a:pPr lvl="1"/>
            <a:r>
              <a:rPr lang="en-US" sz="1200" dirty="0"/>
              <a:t>$_SESSION['</a:t>
            </a:r>
            <a:r>
              <a:rPr lang="en-US" sz="1200" dirty="0" err="1"/>
              <a:t>csrf_token</a:t>
            </a:r>
            <a:r>
              <a:rPr lang="en-US" sz="1200" dirty="0"/>
              <a:t>'] = bin2hex(</a:t>
            </a:r>
            <a:r>
              <a:rPr lang="en-US" sz="1200" dirty="0" err="1"/>
              <a:t>random_bytes</a:t>
            </a:r>
            <a:r>
              <a:rPr lang="en-US" sz="1200" dirty="0"/>
              <a:t>(32));</a:t>
            </a:r>
          </a:p>
          <a:p>
            <a:pPr lvl="1"/>
            <a:r>
              <a:rPr lang="en-US" sz="900" b="1" dirty="0"/>
              <a:t>2. Send to Client</a:t>
            </a:r>
            <a:endParaRPr lang="en-US" sz="900" dirty="0"/>
          </a:p>
          <a:p>
            <a:pPr lvl="1"/>
            <a:r>
              <a:rPr lang="en-US" sz="1200" dirty="0"/>
              <a:t>&lt;input type="hidden" name="</a:t>
            </a:r>
            <a:r>
              <a:rPr lang="en-US" sz="1200" dirty="0" err="1"/>
              <a:t>csrf_token</a:t>
            </a:r>
            <a:r>
              <a:rPr lang="en-US" sz="1200" dirty="0"/>
              <a:t>" value="..."&gt;</a:t>
            </a:r>
          </a:p>
          <a:p>
            <a:pPr lvl="1"/>
            <a:r>
              <a:rPr lang="en-US" sz="900" b="1" dirty="0"/>
              <a:t>3. Validate</a:t>
            </a:r>
            <a:endParaRPr lang="en-US" sz="900" dirty="0"/>
          </a:p>
          <a:p>
            <a:pPr lvl="1"/>
            <a:r>
              <a:rPr lang="en-US" sz="1200" dirty="0"/>
              <a:t>if (!</a:t>
            </a:r>
            <a:r>
              <a:rPr lang="en-US" sz="1200" dirty="0" err="1"/>
              <a:t>hash_equals</a:t>
            </a:r>
            <a:r>
              <a:rPr lang="en-US" sz="1200" dirty="0"/>
              <a:t>($_SESSION['</a:t>
            </a:r>
            <a:r>
              <a:rPr lang="en-US" sz="1200" dirty="0" err="1"/>
              <a:t>csrf_token</a:t>
            </a:r>
            <a:r>
              <a:rPr lang="en-US" sz="1200" dirty="0"/>
              <a:t>'], $_POST['</a:t>
            </a:r>
            <a:r>
              <a:rPr lang="en-US" sz="1200" dirty="0" err="1"/>
              <a:t>csrf_token</a:t>
            </a:r>
            <a:r>
              <a:rPr lang="en-US" sz="1200" dirty="0"/>
              <a:t>'])) {</a:t>
            </a:r>
            <a:br>
              <a:rPr lang="en-US" sz="1200" dirty="0"/>
            </a:br>
            <a:r>
              <a:rPr lang="en-US" sz="1200" dirty="0"/>
              <a:t>    die("CSRF validation failed");</a:t>
            </a:r>
            <a:br>
              <a:rPr lang="en-US" sz="1200" dirty="0"/>
            </a:br>
            <a:r>
              <a:rPr lang="en-US" sz="1200" dirty="0"/>
              <a:t>}</a:t>
            </a:r>
          </a:p>
          <a:p>
            <a:pPr lvl="1"/>
            <a:endParaRPr lang="en-US" sz="1050" dirty="0"/>
          </a:p>
        </p:txBody>
      </p:sp>
    </p:spTree>
    <p:extLst>
      <p:ext uri="{BB962C8B-B14F-4D97-AF65-F5344CB8AC3E}">
        <p14:creationId xmlns:p14="http://schemas.microsoft.com/office/powerpoint/2010/main" val="24056249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415D2118-108F-24C3-E45E-D602C4819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8F675-A643-140F-0B79-3280670946C6}"/>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Cross-Site Request Forgery (CSRF)</a:t>
            </a:r>
            <a:endParaRPr lang="en-GB" b="1" dirty="0"/>
          </a:p>
        </p:txBody>
      </p:sp>
      <p:sp>
        <p:nvSpPr>
          <p:cNvPr id="5" name="Rectangle 2">
            <a:extLst>
              <a:ext uri="{FF2B5EF4-FFF2-40B4-BE49-F238E27FC236}">
                <a16:creationId xmlns:a16="http://schemas.microsoft.com/office/drawing/2014/main" id="{F3650FF3-D897-D305-EDFF-29FA24E1AC6D}"/>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US" sz="1000" b="1" dirty="0"/>
              <a:t>CSRF in APIs / SPAs (Real-World Setup)</a:t>
            </a:r>
          </a:p>
          <a:p>
            <a:r>
              <a:rPr lang="en-US" sz="1000" dirty="0"/>
              <a:t>Heavy use of AJAX / fetch </a:t>
            </a:r>
          </a:p>
          <a:p>
            <a:r>
              <a:rPr lang="en-US" sz="1000" b="1" dirty="0"/>
              <a:t>Secure Pattern</a:t>
            </a:r>
          </a:p>
          <a:p>
            <a:r>
              <a:rPr lang="en-US" sz="1000" b="1" dirty="0"/>
              <a:t>Backend sends token (meta / API response):</a:t>
            </a:r>
            <a:endParaRPr lang="en-US" sz="1000" dirty="0"/>
          </a:p>
          <a:p>
            <a:pPr marL="457200" lvl="1" indent="0">
              <a:buNone/>
            </a:pPr>
            <a:r>
              <a:rPr lang="en-US" sz="1050" dirty="0"/>
              <a:t>&lt;meta name="</a:t>
            </a:r>
            <a:r>
              <a:rPr lang="en-US" sz="1050" dirty="0" err="1"/>
              <a:t>csrf</a:t>
            </a:r>
            <a:r>
              <a:rPr lang="en-US" sz="1050" dirty="0"/>
              <a:t>-token" content="</a:t>
            </a:r>
            <a:r>
              <a:rPr lang="en-US" sz="1050" dirty="0" err="1"/>
              <a:t>secureRandomToken</a:t>
            </a:r>
            <a:r>
              <a:rPr lang="en-US" sz="1050" dirty="0"/>
              <a:t>"&gt;</a:t>
            </a:r>
            <a:endParaRPr lang="en-US" sz="800" dirty="0"/>
          </a:p>
          <a:p>
            <a:r>
              <a:rPr lang="en-US" sz="1000" b="1" dirty="0"/>
              <a:t>Frontend attaches token:</a:t>
            </a:r>
            <a:endParaRPr lang="en-US" sz="1000" dirty="0"/>
          </a:p>
          <a:p>
            <a:pPr marL="457200" lvl="1" indent="0">
              <a:buNone/>
            </a:pPr>
            <a:r>
              <a:rPr lang="en-US" sz="1050" dirty="0"/>
              <a:t>fetch('/api/update-profile', {</a:t>
            </a:r>
            <a:br>
              <a:rPr lang="en-US" sz="1050" dirty="0"/>
            </a:br>
            <a:r>
              <a:rPr lang="en-US" sz="1050" dirty="0"/>
              <a:t>  method: 'POST',</a:t>
            </a:r>
            <a:br>
              <a:rPr lang="en-US" sz="1050" dirty="0"/>
            </a:br>
            <a:r>
              <a:rPr lang="en-US" sz="1050" dirty="0"/>
              <a:t>  headers: {</a:t>
            </a:r>
            <a:br>
              <a:rPr lang="en-US" sz="1050" dirty="0"/>
            </a:br>
            <a:r>
              <a:rPr lang="en-US" sz="1050" dirty="0"/>
              <a:t>    'Content-Type': 'application/</a:t>
            </a:r>
            <a:r>
              <a:rPr lang="en-US" sz="1050" dirty="0" err="1"/>
              <a:t>json</a:t>
            </a:r>
            <a:r>
              <a:rPr lang="en-US" sz="1050" dirty="0"/>
              <a:t>',</a:t>
            </a:r>
            <a:br>
              <a:rPr lang="en-US" sz="1050" dirty="0"/>
            </a:br>
            <a:r>
              <a:rPr lang="en-US" sz="1050" dirty="0"/>
              <a:t>    'X-CSRF-Token': </a:t>
            </a:r>
            <a:r>
              <a:rPr lang="en-US" sz="1050" dirty="0" err="1"/>
              <a:t>csrfToken</a:t>
            </a:r>
            <a:br>
              <a:rPr lang="en-US" sz="1050" dirty="0"/>
            </a:br>
            <a:r>
              <a:rPr lang="en-US" sz="1050" dirty="0"/>
              <a:t>  },</a:t>
            </a:r>
            <a:br>
              <a:rPr lang="en-US" sz="1050" dirty="0"/>
            </a:br>
            <a:r>
              <a:rPr lang="en-US" sz="1050" dirty="0"/>
              <a:t>  body: </a:t>
            </a:r>
            <a:r>
              <a:rPr lang="en-US" sz="1050" dirty="0" err="1"/>
              <a:t>JSON.stringify</a:t>
            </a:r>
            <a:r>
              <a:rPr lang="en-US" sz="1050" dirty="0"/>
              <a:t>(data)</a:t>
            </a:r>
            <a:br>
              <a:rPr lang="en-US" sz="1050" dirty="0"/>
            </a:br>
            <a:r>
              <a:rPr lang="en-US" sz="1050" dirty="0"/>
              <a:t>});</a:t>
            </a:r>
            <a:endParaRPr lang="en-US" sz="800" dirty="0"/>
          </a:p>
          <a:p>
            <a:r>
              <a:rPr lang="en-US" sz="1000" b="1" dirty="0"/>
              <a:t>Backend Validation</a:t>
            </a:r>
          </a:p>
          <a:p>
            <a:pPr marL="457200" lvl="1" indent="0">
              <a:buNone/>
            </a:pPr>
            <a:r>
              <a:rPr lang="en-US" sz="1050" dirty="0"/>
              <a:t>if </a:t>
            </a:r>
            <a:r>
              <a:rPr lang="en-US" sz="1050" dirty="0" err="1"/>
              <a:t>request.headers</a:t>
            </a:r>
            <a:r>
              <a:rPr lang="en-US" sz="1050" dirty="0"/>
              <a:t>['X-CSRF-Token'] != session['</a:t>
            </a:r>
            <a:r>
              <a:rPr lang="en-US" sz="1050" dirty="0" err="1"/>
              <a:t>csrf_token</a:t>
            </a:r>
            <a:r>
              <a:rPr lang="en-US" sz="1050" dirty="0"/>
              <a:t>']:</a:t>
            </a:r>
            <a:br>
              <a:rPr lang="en-US" sz="1050" dirty="0"/>
            </a:br>
            <a:r>
              <a:rPr lang="en-US" sz="1050" dirty="0"/>
              <a:t>    </a:t>
            </a:r>
            <a:r>
              <a:rPr lang="en-US" sz="1050" dirty="0" err="1"/>
              <a:t>reject_request</a:t>
            </a:r>
            <a:r>
              <a:rPr lang="en-US" sz="1050" dirty="0"/>
              <a:t>()</a:t>
            </a:r>
            <a:endParaRPr lang="en-US" sz="800" dirty="0"/>
          </a:p>
          <a:p>
            <a:r>
              <a:rPr lang="en-US" sz="1000" b="1" dirty="0"/>
              <a:t>Key Insight</a:t>
            </a:r>
          </a:p>
          <a:p>
            <a:r>
              <a:rPr lang="en-US" sz="1000" dirty="0"/>
              <a:t>Cookies = automatic → attacker can send</a:t>
            </a:r>
            <a:br>
              <a:rPr lang="en-US" sz="1000" dirty="0"/>
            </a:br>
            <a:r>
              <a:rPr lang="en-US" sz="1000" dirty="0"/>
              <a:t>Headers = manual → attacker cannot control</a:t>
            </a:r>
          </a:p>
          <a:p>
            <a:pPr lvl="1"/>
            <a:endParaRPr lang="en-US" sz="200" dirty="0"/>
          </a:p>
        </p:txBody>
      </p:sp>
    </p:spTree>
    <p:extLst>
      <p:ext uri="{BB962C8B-B14F-4D97-AF65-F5344CB8AC3E}">
        <p14:creationId xmlns:p14="http://schemas.microsoft.com/office/powerpoint/2010/main" val="16061312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9BFB5D90-02F1-5C5D-A25E-9953144AD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58B38B-B97E-AC20-5E74-0185D259F77B}"/>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Cross-Site Request Forgery (CSRF)</a:t>
            </a:r>
            <a:endParaRPr lang="en-GB" b="1" dirty="0"/>
          </a:p>
        </p:txBody>
      </p:sp>
      <p:sp>
        <p:nvSpPr>
          <p:cNvPr id="5" name="Rectangle 2">
            <a:extLst>
              <a:ext uri="{FF2B5EF4-FFF2-40B4-BE49-F238E27FC236}">
                <a16:creationId xmlns:a16="http://schemas.microsoft.com/office/drawing/2014/main" id="{9600627A-728B-F7CD-A3ED-FF6F5845C398}"/>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US" sz="1200" b="1" dirty="0"/>
              <a:t>Secure Design Principles (Architecture Level)</a:t>
            </a:r>
          </a:p>
          <a:p>
            <a:r>
              <a:rPr lang="en-US" sz="1200" b="1" dirty="0"/>
              <a:t>Must-Have Practices</a:t>
            </a:r>
          </a:p>
          <a:p>
            <a:pPr lvl="1"/>
            <a:r>
              <a:rPr lang="en-US" sz="1050" dirty="0"/>
              <a:t>Enforce CSRF on </a:t>
            </a:r>
            <a:r>
              <a:rPr lang="en-US" sz="1050" b="1" dirty="0"/>
              <a:t>ALL state-changing endpoints</a:t>
            </a:r>
            <a:r>
              <a:rPr lang="en-US" sz="1050" dirty="0"/>
              <a:t> </a:t>
            </a:r>
          </a:p>
          <a:p>
            <a:pPr lvl="1"/>
            <a:r>
              <a:rPr lang="en-US" sz="1050" dirty="0"/>
              <a:t>Use </a:t>
            </a:r>
            <a:r>
              <a:rPr lang="en-US" sz="1050" b="1" dirty="0"/>
              <a:t>POST/PUT/DELETE only</a:t>
            </a:r>
            <a:r>
              <a:rPr lang="en-US" sz="1050" dirty="0"/>
              <a:t> </a:t>
            </a:r>
          </a:p>
          <a:p>
            <a:pPr lvl="1"/>
            <a:r>
              <a:rPr lang="en-US" sz="1050" dirty="0"/>
              <a:t>Implement </a:t>
            </a:r>
            <a:r>
              <a:rPr lang="en-US" sz="1050" b="1" dirty="0"/>
              <a:t>central middleware for CSRF validation</a:t>
            </a:r>
            <a:r>
              <a:rPr lang="en-US" sz="1050" dirty="0"/>
              <a:t> </a:t>
            </a:r>
          </a:p>
          <a:p>
            <a:pPr lvl="1"/>
            <a:r>
              <a:rPr lang="en-US" sz="1050" dirty="0"/>
              <a:t>Rotate tokens periodically </a:t>
            </a:r>
          </a:p>
          <a:p>
            <a:r>
              <a:rPr lang="en-US" sz="1200" b="1" dirty="0"/>
              <a:t>Advanced Protections</a:t>
            </a:r>
          </a:p>
          <a:p>
            <a:pPr lvl="1"/>
            <a:r>
              <a:rPr lang="en-US" sz="1050" dirty="0"/>
              <a:t>Re-authentication for sensitive actions </a:t>
            </a:r>
          </a:p>
          <a:p>
            <a:pPr lvl="1"/>
            <a:r>
              <a:rPr lang="en-US" sz="1050" dirty="0"/>
              <a:t>Step-up verification (OTP, password confirm) </a:t>
            </a:r>
          </a:p>
          <a:p>
            <a:pPr lvl="1"/>
            <a:r>
              <a:rPr lang="en-US" sz="1050" dirty="0"/>
              <a:t>Double-submit cookie pattern </a:t>
            </a:r>
          </a:p>
          <a:p>
            <a:r>
              <a:rPr lang="en-US" sz="1200" b="1" dirty="0"/>
              <a:t>Anti-Patterns</a:t>
            </a:r>
          </a:p>
          <a:p>
            <a:pPr lvl="1"/>
            <a:r>
              <a:rPr lang="en-US" sz="1050" dirty="0"/>
              <a:t>Skipping CSRF for “internal APIs” </a:t>
            </a:r>
          </a:p>
          <a:p>
            <a:pPr lvl="1"/>
            <a:r>
              <a:rPr lang="en-US" sz="1050" dirty="0"/>
              <a:t>Trusting mobile apps blindly </a:t>
            </a:r>
          </a:p>
          <a:p>
            <a:pPr lvl="1"/>
            <a:r>
              <a:rPr lang="en-US" sz="1050" dirty="0"/>
              <a:t>Disabling CSRF for “testing” and forgetting</a:t>
            </a:r>
          </a:p>
        </p:txBody>
      </p:sp>
    </p:spTree>
    <p:extLst>
      <p:ext uri="{BB962C8B-B14F-4D97-AF65-F5344CB8AC3E}">
        <p14:creationId xmlns:p14="http://schemas.microsoft.com/office/powerpoint/2010/main" val="11100280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15C6D399-AE11-849C-D4DF-54D18D645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E2625F-0CE3-7FFD-1666-C7CDBE1F8633}"/>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Server-Side Request Forgery (SSRF)</a:t>
            </a:r>
            <a:endParaRPr lang="en-GB" b="1" dirty="0"/>
          </a:p>
        </p:txBody>
      </p:sp>
      <p:sp>
        <p:nvSpPr>
          <p:cNvPr id="5" name="Rectangle 2">
            <a:extLst>
              <a:ext uri="{FF2B5EF4-FFF2-40B4-BE49-F238E27FC236}">
                <a16:creationId xmlns:a16="http://schemas.microsoft.com/office/drawing/2014/main" id="{0C7DC1FE-3F80-B33F-9682-C81D4B419559}"/>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GB" sz="1200" dirty="0"/>
              <a:t>Server-Side Request Forgery (SSRF) is a vulnerability where:</a:t>
            </a:r>
          </a:p>
          <a:p>
            <a:r>
              <a:rPr lang="en-GB" sz="1200" dirty="0"/>
              <a:t>The </a:t>
            </a:r>
            <a:r>
              <a:rPr lang="en-GB" sz="1200" b="1" dirty="0"/>
              <a:t>server makes requests based on user input</a:t>
            </a:r>
            <a:r>
              <a:rPr lang="en-GB" sz="1200" dirty="0"/>
              <a:t> </a:t>
            </a:r>
          </a:p>
          <a:p>
            <a:r>
              <a:rPr lang="en-GB" sz="1200" dirty="0"/>
              <a:t>Without proper validation, attackers control the destination </a:t>
            </a:r>
          </a:p>
          <a:p>
            <a:r>
              <a:rPr lang="en-GB" sz="1200" dirty="0"/>
              <a:t>Instead of attacking directly, attacker </a:t>
            </a:r>
            <a:r>
              <a:rPr lang="en-GB" sz="1200" b="1" dirty="0"/>
              <a:t>abuses your backend as a proxy</a:t>
            </a:r>
          </a:p>
          <a:p>
            <a:r>
              <a:rPr lang="en-GB" sz="1200" b="1" dirty="0"/>
              <a:t>Why SSRF is Dangerous</a:t>
            </a:r>
          </a:p>
          <a:p>
            <a:r>
              <a:rPr lang="en-GB" sz="1200" dirty="0"/>
              <a:t>Bypasses: </a:t>
            </a:r>
          </a:p>
          <a:p>
            <a:pPr lvl="1"/>
            <a:r>
              <a:rPr lang="en-GB" sz="1200" dirty="0"/>
              <a:t>Firewalls </a:t>
            </a:r>
          </a:p>
          <a:p>
            <a:pPr lvl="1"/>
            <a:r>
              <a:rPr lang="en-GB" sz="1200" dirty="0"/>
              <a:t>VPN boundaries </a:t>
            </a:r>
          </a:p>
          <a:p>
            <a:pPr lvl="1"/>
            <a:r>
              <a:rPr lang="en-GB" sz="1200" dirty="0"/>
              <a:t>Internal network isolation </a:t>
            </a:r>
          </a:p>
          <a:p>
            <a:r>
              <a:rPr lang="en-GB" sz="1200" dirty="0"/>
              <a:t>Server has </a:t>
            </a:r>
            <a:r>
              <a:rPr lang="en-GB" sz="1200" b="1" dirty="0"/>
              <a:t>higher trust level than external users</a:t>
            </a:r>
            <a:endParaRPr lang="en-GB" sz="1200" dirty="0"/>
          </a:p>
          <a:p>
            <a:r>
              <a:rPr lang="en-US" sz="1200" b="1" dirty="0"/>
              <a:t>Real Developer Mistake</a:t>
            </a:r>
          </a:p>
          <a:p>
            <a:pPr marL="457200" lvl="1" indent="0">
              <a:buNone/>
            </a:pPr>
            <a:r>
              <a:rPr lang="en-US" sz="1200" dirty="0" err="1"/>
              <a:t>url</a:t>
            </a:r>
            <a:r>
              <a:rPr lang="en-US" sz="1200" dirty="0"/>
              <a:t> = </a:t>
            </a:r>
            <a:r>
              <a:rPr lang="en-US" sz="1200" dirty="0" err="1"/>
              <a:t>request.args.get</a:t>
            </a:r>
            <a:r>
              <a:rPr lang="en-US" sz="1200" dirty="0"/>
              <a:t>("</a:t>
            </a:r>
            <a:r>
              <a:rPr lang="en-US" sz="1200" dirty="0" err="1"/>
              <a:t>url</a:t>
            </a:r>
            <a:r>
              <a:rPr lang="en-US" sz="1200" dirty="0"/>
              <a:t>")</a:t>
            </a:r>
            <a:br>
              <a:rPr lang="en-US" sz="1200" dirty="0"/>
            </a:br>
            <a:r>
              <a:rPr lang="en-US" sz="1200" dirty="0" err="1"/>
              <a:t>requests.get</a:t>
            </a:r>
            <a:r>
              <a:rPr lang="en-US" sz="1200" dirty="0"/>
              <a:t>(</a:t>
            </a:r>
            <a:r>
              <a:rPr lang="en-US" sz="1200" dirty="0" err="1"/>
              <a:t>url</a:t>
            </a:r>
            <a:r>
              <a:rPr lang="en-US" sz="1200" dirty="0"/>
              <a:t>)</a:t>
            </a:r>
          </a:p>
          <a:p>
            <a:r>
              <a:rPr lang="en-US" sz="1200" dirty="0"/>
              <a:t>No validation → attacker controls request target</a:t>
            </a:r>
          </a:p>
          <a:p>
            <a:endParaRPr lang="en-GB" sz="1200" dirty="0"/>
          </a:p>
        </p:txBody>
      </p:sp>
    </p:spTree>
    <p:extLst>
      <p:ext uri="{BB962C8B-B14F-4D97-AF65-F5344CB8AC3E}">
        <p14:creationId xmlns:p14="http://schemas.microsoft.com/office/powerpoint/2010/main" val="4019976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85FF956-899D-2B6C-1B80-4161B2D31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006AE-858D-69C0-AD19-C8FFA694D8B9}"/>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Server-Side Request Forgery (SSRF)</a:t>
            </a:r>
            <a:endParaRPr lang="en-GB" b="1" dirty="0"/>
          </a:p>
        </p:txBody>
      </p:sp>
      <p:sp>
        <p:nvSpPr>
          <p:cNvPr id="5" name="Rectangle 2">
            <a:extLst>
              <a:ext uri="{FF2B5EF4-FFF2-40B4-BE49-F238E27FC236}">
                <a16:creationId xmlns:a16="http://schemas.microsoft.com/office/drawing/2014/main" id="{D2F7235D-FFDA-85CE-5629-8343515363E8}"/>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US" sz="900" b="1" dirty="0"/>
              <a:t>Where SSRF Happens (Real Features)</a:t>
            </a:r>
          </a:p>
          <a:p>
            <a:r>
              <a:rPr lang="en-US" sz="900" b="1" dirty="0"/>
              <a:t>1. Fetching External Resources</a:t>
            </a:r>
          </a:p>
          <a:p>
            <a:pPr lvl="1"/>
            <a:r>
              <a:rPr lang="en-US" sz="700" dirty="0"/>
              <a:t>Image upload via URL </a:t>
            </a:r>
          </a:p>
          <a:p>
            <a:pPr lvl="1"/>
            <a:r>
              <a:rPr lang="en-US" sz="700" dirty="0"/>
              <a:t>PDF generators </a:t>
            </a:r>
          </a:p>
          <a:p>
            <a:pPr lvl="1"/>
            <a:r>
              <a:rPr lang="en-US" sz="700" dirty="0"/>
              <a:t>Data import tools </a:t>
            </a:r>
          </a:p>
          <a:p>
            <a:pPr marL="914400" lvl="2" indent="0">
              <a:buNone/>
            </a:pPr>
            <a:r>
              <a:rPr lang="en-US" sz="800" dirty="0"/>
              <a:t>GET /</a:t>
            </a:r>
            <a:r>
              <a:rPr lang="en-US" sz="800" dirty="0" err="1"/>
              <a:t>fetch?url</a:t>
            </a:r>
            <a:r>
              <a:rPr lang="en-US" sz="800" dirty="0"/>
              <a:t>=https://example.com/image.png</a:t>
            </a:r>
            <a:endParaRPr lang="en-US" sz="500" dirty="0"/>
          </a:p>
          <a:p>
            <a:r>
              <a:rPr lang="en-US" sz="900" b="1" dirty="0"/>
              <a:t>2. Webhooks (Very Common)</a:t>
            </a:r>
          </a:p>
          <a:p>
            <a:pPr marL="457200" lvl="1" indent="0">
              <a:buNone/>
            </a:pPr>
            <a:r>
              <a:rPr lang="en-US" sz="1000" dirty="0"/>
              <a:t>{</a:t>
            </a:r>
            <a:br>
              <a:rPr lang="en-US" sz="1000" dirty="0"/>
            </a:br>
            <a:r>
              <a:rPr lang="en-US" sz="1000" dirty="0"/>
              <a:t>  "callback": "https://my-service.com/webhook"</a:t>
            </a:r>
            <a:br>
              <a:rPr lang="en-US" sz="1000" dirty="0"/>
            </a:br>
            <a:r>
              <a:rPr lang="en-US" sz="1000" dirty="0"/>
              <a:t>}</a:t>
            </a:r>
          </a:p>
          <a:p>
            <a:r>
              <a:rPr lang="en-US" sz="900" dirty="0"/>
              <a:t> If not validated → attacker sets:</a:t>
            </a:r>
          </a:p>
          <a:p>
            <a:pPr lvl="1"/>
            <a:r>
              <a:rPr lang="en-US" sz="900" dirty="0"/>
              <a:t>http://localhost/admin</a:t>
            </a:r>
            <a:endParaRPr lang="en-US" sz="700" dirty="0"/>
          </a:p>
          <a:p>
            <a:r>
              <a:rPr lang="en-US" sz="900" b="1" dirty="0"/>
              <a:t>3. Internal API Routing</a:t>
            </a:r>
          </a:p>
          <a:p>
            <a:pPr marL="457200" lvl="1" indent="0">
              <a:buNone/>
            </a:pPr>
            <a:r>
              <a:rPr lang="en-US" sz="1000" dirty="0"/>
              <a:t>{</a:t>
            </a:r>
            <a:br>
              <a:rPr lang="en-US" sz="1000" dirty="0"/>
            </a:br>
            <a:r>
              <a:rPr lang="en-US" sz="1000" dirty="0"/>
              <a:t>  "</a:t>
            </a:r>
            <a:r>
              <a:rPr lang="en-US" sz="1000" dirty="0" err="1"/>
              <a:t>api_url</a:t>
            </a:r>
            <a:r>
              <a:rPr lang="en-US" sz="1000" dirty="0"/>
              <a:t>": "http://internal-service"</a:t>
            </a:r>
            <a:br>
              <a:rPr lang="en-US" sz="1000" dirty="0"/>
            </a:br>
            <a:r>
              <a:rPr lang="en-US" sz="1000" dirty="0"/>
              <a:t>}</a:t>
            </a:r>
          </a:p>
          <a:p>
            <a:r>
              <a:rPr lang="en-US" sz="900" dirty="0"/>
              <a:t> User controls backend routing</a:t>
            </a:r>
          </a:p>
          <a:p>
            <a:r>
              <a:rPr lang="en-US" sz="900" b="1" dirty="0"/>
              <a:t>Key Insight for Devs</a:t>
            </a:r>
          </a:p>
          <a:p>
            <a:r>
              <a:rPr lang="en-US" sz="900" dirty="0"/>
              <a:t>If your backend </a:t>
            </a:r>
            <a:r>
              <a:rPr lang="en-US" sz="900" b="1" dirty="0"/>
              <a:t>calls a URL from user input → think SSRF</a:t>
            </a:r>
            <a:endParaRPr lang="en-US" sz="900" dirty="0"/>
          </a:p>
        </p:txBody>
      </p:sp>
    </p:spTree>
    <p:extLst>
      <p:ext uri="{BB962C8B-B14F-4D97-AF65-F5344CB8AC3E}">
        <p14:creationId xmlns:p14="http://schemas.microsoft.com/office/powerpoint/2010/main" val="7879131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3DBCBFC5-0A49-3656-3A2F-BA6900055F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ECC4E-C5F0-1644-5FF8-00A8FCD3648C}"/>
              </a:ext>
            </a:extLst>
          </p:cNvPr>
          <p:cNvSpPr>
            <a:spLocks noGrp="1"/>
          </p:cNvSpPr>
          <p:nvPr>
            <p:ph type="title"/>
          </p:nvPr>
        </p:nvSpPr>
        <p:spPr>
          <a:xfrm>
            <a:off x="685801" y="609600"/>
            <a:ext cx="6733094" cy="1456267"/>
          </a:xfrm>
        </p:spPr>
        <p:txBody>
          <a:bodyPr>
            <a:normAutofit/>
          </a:bodyPr>
          <a:lstStyle/>
          <a:p>
            <a:r>
              <a:rPr lang="en-GB" dirty="0"/>
              <a:t>OWASP Top 10: </a:t>
            </a:r>
            <a:r>
              <a:rPr lang="en-US" dirty="0"/>
              <a:t>Server-Side Request Forgery (SSRF)</a:t>
            </a:r>
            <a:endParaRPr lang="en-GB" b="1" dirty="0"/>
          </a:p>
        </p:txBody>
      </p:sp>
      <p:sp>
        <p:nvSpPr>
          <p:cNvPr id="5" name="Rectangle 2">
            <a:extLst>
              <a:ext uri="{FF2B5EF4-FFF2-40B4-BE49-F238E27FC236}">
                <a16:creationId xmlns:a16="http://schemas.microsoft.com/office/drawing/2014/main" id="{05FFB17B-4FBD-0BBC-36DD-2DA1E186DCF1}"/>
              </a:ext>
            </a:extLst>
          </p:cNvPr>
          <p:cNvSpPr>
            <a:spLocks noGrp="1" noChangeArrowheads="1"/>
          </p:cNvSpPr>
          <p:nvPr>
            <p:ph idx="1"/>
          </p:nvPr>
        </p:nvSpPr>
        <p:spPr bwMode="auto">
          <a:xfrm>
            <a:off x="685800" y="1873251"/>
            <a:ext cx="10629899" cy="4851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a:buNone/>
            </a:pPr>
            <a:r>
              <a:rPr lang="en-US" sz="1050" b="1" dirty="0"/>
              <a:t>Secure Design (How to Fix SSRF)</a:t>
            </a:r>
          </a:p>
          <a:p>
            <a:r>
              <a:rPr lang="en-US" sz="900" b="1" dirty="0"/>
              <a:t>1. Allow-List (BEST PRACTICE )</a:t>
            </a:r>
          </a:p>
          <a:p>
            <a:pPr lvl="1"/>
            <a:r>
              <a:rPr lang="en-US" sz="1050" dirty="0"/>
              <a:t>ALLOWED_HOSTS = ["api.trusted.com"]</a:t>
            </a:r>
            <a:br>
              <a:rPr lang="en-US" sz="1050" dirty="0"/>
            </a:br>
            <a:br>
              <a:rPr lang="en-US" sz="1050" dirty="0"/>
            </a:br>
            <a:r>
              <a:rPr lang="en-US" sz="1050" dirty="0"/>
              <a:t>if hostname not in ALLOWED_HOSTS:</a:t>
            </a:r>
            <a:br>
              <a:rPr lang="en-US" sz="1050" dirty="0"/>
            </a:br>
            <a:r>
              <a:rPr lang="en-US" sz="1050" dirty="0"/>
              <a:t>    reject()</a:t>
            </a:r>
            <a:endParaRPr lang="en-US" sz="500" dirty="0"/>
          </a:p>
          <a:p>
            <a:r>
              <a:rPr lang="en-US" sz="900" b="1" dirty="0"/>
              <a:t>2. Block Internal IPs</a:t>
            </a:r>
          </a:p>
          <a:p>
            <a:pPr lvl="1"/>
            <a:r>
              <a:rPr lang="en-US" sz="1050" dirty="0"/>
              <a:t>127.0.0.1</a:t>
            </a:r>
            <a:br>
              <a:rPr lang="en-US" sz="1050" dirty="0"/>
            </a:br>
            <a:r>
              <a:rPr lang="en-US" sz="1050" dirty="0"/>
              <a:t>10.0.0.0/8</a:t>
            </a:r>
            <a:br>
              <a:rPr lang="en-US" sz="1050" dirty="0"/>
            </a:br>
            <a:r>
              <a:rPr lang="en-US" sz="1050" dirty="0"/>
              <a:t>192.168.0.0/16</a:t>
            </a:r>
            <a:br>
              <a:rPr lang="en-US" sz="1050" dirty="0"/>
            </a:br>
            <a:r>
              <a:rPr lang="en-US" sz="1050" dirty="0"/>
              <a:t>169.254.169.254</a:t>
            </a:r>
            <a:endParaRPr lang="en-US" sz="500" dirty="0"/>
          </a:p>
          <a:p>
            <a:r>
              <a:rPr lang="en-US" sz="900" b="1" dirty="0"/>
              <a:t>3. Resolve DNS Before Request</a:t>
            </a:r>
          </a:p>
          <a:p>
            <a:pPr lvl="1"/>
            <a:r>
              <a:rPr lang="en-US" sz="1200" dirty="0" err="1"/>
              <a:t>ip</a:t>
            </a:r>
            <a:r>
              <a:rPr lang="en-US" sz="1200" dirty="0"/>
              <a:t> = </a:t>
            </a:r>
            <a:r>
              <a:rPr lang="en-US" sz="1200" dirty="0" err="1"/>
              <a:t>socket.gethostbyname</a:t>
            </a:r>
            <a:r>
              <a:rPr lang="en-US" sz="1200" dirty="0"/>
              <a:t>(host)</a:t>
            </a:r>
          </a:p>
          <a:p>
            <a:r>
              <a:rPr lang="en-US" sz="900" dirty="0"/>
              <a:t> Prevent DNS rebinding</a:t>
            </a:r>
          </a:p>
          <a:p>
            <a:r>
              <a:rPr lang="en-US" sz="900" b="1" dirty="0"/>
              <a:t>4. Disable Dangerous Schemes</a:t>
            </a:r>
          </a:p>
          <a:p>
            <a:r>
              <a:rPr lang="en-US" sz="900" dirty="0"/>
              <a:t> Block:</a:t>
            </a:r>
          </a:p>
          <a:p>
            <a:pPr lvl="1"/>
            <a:r>
              <a:rPr lang="en-US" sz="900" dirty="0"/>
              <a:t>file:// </a:t>
            </a:r>
          </a:p>
          <a:p>
            <a:pPr lvl="1"/>
            <a:r>
              <a:rPr lang="en-US" sz="900" dirty="0"/>
              <a:t>gopher:// </a:t>
            </a:r>
          </a:p>
          <a:p>
            <a:pPr lvl="1"/>
            <a:r>
              <a:rPr lang="en-US" sz="900" dirty="0"/>
              <a:t>dict://</a:t>
            </a:r>
            <a:endParaRPr lang="en-US" sz="700" dirty="0"/>
          </a:p>
        </p:txBody>
      </p:sp>
    </p:spTree>
    <p:extLst>
      <p:ext uri="{BB962C8B-B14F-4D97-AF65-F5344CB8AC3E}">
        <p14:creationId xmlns:p14="http://schemas.microsoft.com/office/powerpoint/2010/main" val="33958228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05B189B-23DC-18B3-03E0-90EEA3C84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C93AE-655B-854B-B3B4-2E8243BE065A}"/>
              </a:ext>
            </a:extLst>
          </p:cNvPr>
          <p:cNvSpPr>
            <a:spLocks noGrp="1"/>
          </p:cNvSpPr>
          <p:nvPr>
            <p:ph type="title"/>
          </p:nvPr>
        </p:nvSpPr>
        <p:spPr>
          <a:xfrm>
            <a:off x="685800" y="609600"/>
            <a:ext cx="7732335" cy="1456267"/>
          </a:xfrm>
        </p:spPr>
        <p:txBody>
          <a:bodyPr>
            <a:normAutofit/>
          </a:bodyPr>
          <a:lstStyle/>
          <a:p>
            <a:r>
              <a:rPr lang="en-GB" dirty="0"/>
              <a:t>OWASP Top 10: </a:t>
            </a:r>
            <a:r>
              <a:rPr lang="en-US" dirty="0"/>
              <a:t>Command Injection</a:t>
            </a:r>
            <a:endParaRPr lang="en-GB" b="1" dirty="0"/>
          </a:p>
        </p:txBody>
      </p:sp>
      <p:sp>
        <p:nvSpPr>
          <p:cNvPr id="5" name="Rectangle 2">
            <a:extLst>
              <a:ext uri="{FF2B5EF4-FFF2-40B4-BE49-F238E27FC236}">
                <a16:creationId xmlns:a16="http://schemas.microsoft.com/office/drawing/2014/main" id="{04AFB1D5-F085-5995-26D6-360D5720EEA5}"/>
              </a:ext>
            </a:extLst>
          </p:cNvPr>
          <p:cNvSpPr>
            <a:spLocks noGrp="1" noChangeArrowheads="1"/>
          </p:cNvSpPr>
          <p:nvPr>
            <p:ph idx="1"/>
          </p:nvPr>
        </p:nvSpPr>
        <p:spPr bwMode="auto">
          <a:xfrm>
            <a:off x="685800" y="1873251"/>
            <a:ext cx="10820400" cy="243479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dirty="0"/>
              <a:t>Command Injection is a vulnerability that allows attackers to execute system commands through an application.</a:t>
            </a:r>
          </a:p>
          <a:p>
            <a:r>
              <a:rPr lang="en-GB" dirty="0"/>
              <a:t>It happens when:</a:t>
            </a:r>
          </a:p>
          <a:p>
            <a:pPr lvl="1"/>
            <a:r>
              <a:rPr lang="en-GB" dirty="0"/>
              <a:t>User input is directly used in OS commands</a:t>
            </a:r>
          </a:p>
          <a:p>
            <a:pPr lvl="1"/>
            <a:r>
              <a:rPr lang="en-GB" dirty="0"/>
              <a:t>Without validation or sanitization</a:t>
            </a:r>
          </a:p>
        </p:txBody>
      </p:sp>
    </p:spTree>
    <p:extLst>
      <p:ext uri="{BB962C8B-B14F-4D97-AF65-F5344CB8AC3E}">
        <p14:creationId xmlns:p14="http://schemas.microsoft.com/office/powerpoint/2010/main" val="36691487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F5EF46BE-AAE0-5EB0-6CF1-483209D8F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F4C75-FE3E-3403-750C-1534F8845348}"/>
              </a:ext>
            </a:extLst>
          </p:cNvPr>
          <p:cNvSpPr>
            <a:spLocks noGrp="1"/>
          </p:cNvSpPr>
          <p:nvPr>
            <p:ph type="title"/>
          </p:nvPr>
        </p:nvSpPr>
        <p:spPr>
          <a:xfrm>
            <a:off x="685800" y="609600"/>
            <a:ext cx="7732335" cy="1456267"/>
          </a:xfrm>
        </p:spPr>
        <p:txBody>
          <a:bodyPr>
            <a:normAutofit/>
          </a:bodyPr>
          <a:lstStyle/>
          <a:p>
            <a:r>
              <a:rPr lang="en-GB" dirty="0"/>
              <a:t>OWASP Top 10: </a:t>
            </a:r>
            <a:r>
              <a:rPr lang="en-US" dirty="0"/>
              <a:t>Command Injection</a:t>
            </a:r>
            <a:endParaRPr lang="en-GB" b="1" dirty="0"/>
          </a:p>
        </p:txBody>
      </p:sp>
      <p:sp>
        <p:nvSpPr>
          <p:cNvPr id="5" name="Rectangle 2">
            <a:extLst>
              <a:ext uri="{FF2B5EF4-FFF2-40B4-BE49-F238E27FC236}">
                <a16:creationId xmlns:a16="http://schemas.microsoft.com/office/drawing/2014/main" id="{87CB8497-CEE5-A9FD-AD61-8C60F54E9DCD}"/>
              </a:ext>
            </a:extLst>
          </p:cNvPr>
          <p:cNvSpPr>
            <a:spLocks noGrp="1" noChangeArrowheads="1"/>
          </p:cNvSpPr>
          <p:nvPr>
            <p:ph idx="1"/>
          </p:nvPr>
        </p:nvSpPr>
        <p:spPr bwMode="auto">
          <a:xfrm>
            <a:off x="685800" y="1873251"/>
            <a:ext cx="10820400" cy="243479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b="1" dirty="0"/>
              <a:t>How It Happens (Simple Flow)</a:t>
            </a:r>
          </a:p>
          <a:p>
            <a:r>
              <a:rPr lang="en-GB" dirty="0"/>
              <a:t>User Input → Application builds command → OS executes → Attacker controls execution</a:t>
            </a:r>
          </a:p>
        </p:txBody>
      </p:sp>
    </p:spTree>
    <p:extLst>
      <p:ext uri="{BB962C8B-B14F-4D97-AF65-F5344CB8AC3E}">
        <p14:creationId xmlns:p14="http://schemas.microsoft.com/office/powerpoint/2010/main" val="7275635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2F7A87A-28B7-E5EC-2006-B92C29B2B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320DA-443F-0785-1E38-83A0EE95EADD}"/>
              </a:ext>
            </a:extLst>
          </p:cNvPr>
          <p:cNvSpPr>
            <a:spLocks noGrp="1"/>
          </p:cNvSpPr>
          <p:nvPr>
            <p:ph type="title"/>
          </p:nvPr>
        </p:nvSpPr>
        <p:spPr>
          <a:xfrm>
            <a:off x="685800" y="609600"/>
            <a:ext cx="7732335" cy="1456267"/>
          </a:xfrm>
        </p:spPr>
        <p:txBody>
          <a:bodyPr>
            <a:normAutofit/>
          </a:bodyPr>
          <a:lstStyle/>
          <a:p>
            <a:r>
              <a:rPr lang="en-GB" dirty="0"/>
              <a:t>OWASP Top 10: </a:t>
            </a:r>
            <a:r>
              <a:rPr lang="en-US" dirty="0"/>
              <a:t>Command Injection</a:t>
            </a:r>
            <a:endParaRPr lang="en-GB" b="1" dirty="0"/>
          </a:p>
        </p:txBody>
      </p:sp>
      <p:sp>
        <p:nvSpPr>
          <p:cNvPr id="5" name="Rectangle 2">
            <a:extLst>
              <a:ext uri="{FF2B5EF4-FFF2-40B4-BE49-F238E27FC236}">
                <a16:creationId xmlns:a16="http://schemas.microsoft.com/office/drawing/2014/main" id="{452E1FBC-C97D-CE09-8D1A-32DA01CD1DB2}"/>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b="1" dirty="0"/>
              <a:t>Real Example Scenario</a:t>
            </a:r>
          </a:p>
          <a:p>
            <a:r>
              <a:rPr lang="en-US" dirty="0"/>
              <a:t>A web app performs DNS lookup:</a:t>
            </a:r>
          </a:p>
          <a:p>
            <a:pPr lvl="1"/>
            <a:r>
              <a:rPr lang="en-US" sz="1800" dirty="0"/>
              <a:t>$query = $_POST['query'];</a:t>
            </a:r>
          </a:p>
          <a:p>
            <a:pPr lvl="1"/>
            <a:r>
              <a:rPr lang="en-US" sz="1800" dirty="0"/>
              <a:t>$command = "</a:t>
            </a:r>
            <a:r>
              <a:rPr lang="en-US" sz="1800" dirty="0" err="1"/>
              <a:t>nslookup</a:t>
            </a:r>
            <a:r>
              <a:rPr lang="en-US" sz="1800" dirty="0"/>
              <a:t> $query";</a:t>
            </a:r>
          </a:p>
          <a:p>
            <a:pPr lvl="1"/>
            <a:r>
              <a:rPr lang="en-US" sz="1800" dirty="0"/>
              <a:t>exec($command);</a:t>
            </a:r>
          </a:p>
          <a:p>
            <a:pPr lvl="1"/>
            <a:endParaRPr lang="en-US" sz="1800" dirty="0"/>
          </a:p>
          <a:p>
            <a:r>
              <a:rPr lang="en-GB" dirty="0"/>
              <a:t>User input is directly injected into a system command.</a:t>
            </a:r>
          </a:p>
          <a:p>
            <a:r>
              <a:rPr lang="en-GB" dirty="0"/>
              <a:t>No validation</a:t>
            </a:r>
            <a:br>
              <a:rPr lang="en-GB" dirty="0"/>
            </a:br>
            <a:r>
              <a:rPr lang="en-GB" dirty="0"/>
              <a:t>No sanitization</a:t>
            </a:r>
            <a:br>
              <a:rPr lang="en-GB" dirty="0"/>
            </a:br>
            <a:r>
              <a:rPr lang="en-GB" dirty="0"/>
              <a:t>No escaping</a:t>
            </a:r>
          </a:p>
          <a:p>
            <a:pPr lvl="1"/>
            <a:endParaRPr lang="en-US" sz="1800" dirty="0"/>
          </a:p>
        </p:txBody>
      </p:sp>
    </p:spTree>
    <p:extLst>
      <p:ext uri="{BB962C8B-B14F-4D97-AF65-F5344CB8AC3E}">
        <p14:creationId xmlns:p14="http://schemas.microsoft.com/office/powerpoint/2010/main" val="16305074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19BBA673-E505-9095-6477-8594EAB70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D95F8-D6A1-99B2-6627-488451E4F220}"/>
              </a:ext>
            </a:extLst>
          </p:cNvPr>
          <p:cNvSpPr>
            <a:spLocks noGrp="1"/>
          </p:cNvSpPr>
          <p:nvPr>
            <p:ph type="title"/>
          </p:nvPr>
        </p:nvSpPr>
        <p:spPr>
          <a:xfrm>
            <a:off x="685800" y="609600"/>
            <a:ext cx="7732335" cy="1456267"/>
          </a:xfrm>
        </p:spPr>
        <p:txBody>
          <a:bodyPr>
            <a:normAutofit/>
          </a:bodyPr>
          <a:lstStyle/>
          <a:p>
            <a:r>
              <a:rPr lang="en-GB" dirty="0"/>
              <a:t>OWASP Top 10: </a:t>
            </a:r>
            <a:r>
              <a:rPr lang="en-US" dirty="0"/>
              <a:t>Command Injection</a:t>
            </a:r>
            <a:endParaRPr lang="en-GB" b="1" dirty="0"/>
          </a:p>
        </p:txBody>
      </p:sp>
      <p:sp>
        <p:nvSpPr>
          <p:cNvPr id="5" name="Rectangle 2">
            <a:extLst>
              <a:ext uri="{FF2B5EF4-FFF2-40B4-BE49-F238E27FC236}">
                <a16:creationId xmlns:a16="http://schemas.microsoft.com/office/drawing/2014/main" id="{9E7D381A-BCBC-B84A-16A8-72D83D083DE3}"/>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400" b="1" dirty="0"/>
              <a:t>Simple Attack Example</a:t>
            </a:r>
          </a:p>
          <a:p>
            <a:r>
              <a:rPr lang="en-GB" sz="2400" dirty="0"/>
              <a:t>Input:</a:t>
            </a:r>
          </a:p>
          <a:p>
            <a:pPr lvl="1"/>
            <a:r>
              <a:rPr lang="en-GB" sz="2000" dirty="0"/>
              <a:t>google.com; </a:t>
            </a:r>
            <a:r>
              <a:rPr lang="en-GB" sz="2000" dirty="0" err="1"/>
              <a:t>whoami</a:t>
            </a:r>
            <a:endParaRPr lang="en-GB" sz="2000" dirty="0"/>
          </a:p>
          <a:p>
            <a:r>
              <a:rPr lang="en-GB" sz="2400" dirty="0"/>
              <a:t>Executed command:</a:t>
            </a:r>
          </a:p>
          <a:p>
            <a:pPr lvl="1"/>
            <a:r>
              <a:rPr lang="en-GB" sz="2000" dirty="0" err="1"/>
              <a:t>nslookup</a:t>
            </a:r>
            <a:r>
              <a:rPr lang="en-GB" sz="2000" dirty="0"/>
              <a:t> google.com; </a:t>
            </a:r>
            <a:r>
              <a:rPr lang="en-GB" sz="2000" dirty="0" err="1"/>
              <a:t>whoami</a:t>
            </a:r>
            <a:endParaRPr lang="en-GB" sz="2000" dirty="0"/>
          </a:p>
          <a:p>
            <a:r>
              <a:rPr lang="en-GB" sz="2400" dirty="0"/>
              <a:t>The system executes BOTH commands</a:t>
            </a:r>
          </a:p>
          <a:p>
            <a:pPr lvl="1"/>
            <a:endParaRPr lang="en-US" sz="1800" dirty="0"/>
          </a:p>
        </p:txBody>
      </p:sp>
    </p:spTree>
    <p:extLst>
      <p:ext uri="{BB962C8B-B14F-4D97-AF65-F5344CB8AC3E}">
        <p14:creationId xmlns:p14="http://schemas.microsoft.com/office/powerpoint/2010/main" val="569444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DC7F725-0C87-68FA-23D5-EB1CE01FF1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F255C-5D04-87AD-2E56-2E2C125AC994}"/>
              </a:ext>
            </a:extLst>
          </p:cNvPr>
          <p:cNvSpPr>
            <a:spLocks noGrp="1"/>
          </p:cNvSpPr>
          <p:nvPr>
            <p:ph type="title"/>
          </p:nvPr>
        </p:nvSpPr>
        <p:spPr>
          <a:xfrm>
            <a:off x="685800" y="609600"/>
            <a:ext cx="7732335" cy="1456267"/>
          </a:xfrm>
        </p:spPr>
        <p:txBody>
          <a:bodyPr>
            <a:normAutofit/>
          </a:bodyPr>
          <a:lstStyle/>
          <a:p>
            <a:r>
              <a:rPr lang="en-GB" dirty="0"/>
              <a:t>OWASP Top 10: </a:t>
            </a:r>
            <a:r>
              <a:rPr lang="en-US" dirty="0"/>
              <a:t>Command Injection</a:t>
            </a:r>
            <a:endParaRPr lang="en-GB" b="1" dirty="0"/>
          </a:p>
        </p:txBody>
      </p:sp>
      <p:sp>
        <p:nvSpPr>
          <p:cNvPr id="5" name="Rectangle 2">
            <a:extLst>
              <a:ext uri="{FF2B5EF4-FFF2-40B4-BE49-F238E27FC236}">
                <a16:creationId xmlns:a16="http://schemas.microsoft.com/office/drawing/2014/main" id="{D85A897F-72DD-1F1B-E15A-B542F210C03D}"/>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000" b="1" dirty="0"/>
              <a:t>Root Cause (Most Important)</a:t>
            </a:r>
          </a:p>
          <a:p>
            <a:pPr lvl="1"/>
            <a:r>
              <a:rPr lang="en-GB" sz="1800" dirty="0"/>
              <a:t>Mixing user input with system commands</a:t>
            </a:r>
          </a:p>
          <a:p>
            <a:pPr lvl="1"/>
            <a:r>
              <a:rPr lang="en-GB" sz="1800" dirty="0"/>
              <a:t>Lack of input validation</a:t>
            </a:r>
          </a:p>
          <a:p>
            <a:pPr lvl="1"/>
            <a:r>
              <a:rPr lang="en-GB" sz="1800" dirty="0"/>
              <a:t>Poor design decision (using OS commands unnecessarily)</a:t>
            </a:r>
          </a:p>
          <a:p>
            <a:pPr lvl="1"/>
            <a:endParaRPr lang="en-US" sz="1800" dirty="0"/>
          </a:p>
        </p:txBody>
      </p:sp>
    </p:spTree>
    <p:extLst>
      <p:ext uri="{BB962C8B-B14F-4D97-AF65-F5344CB8AC3E}">
        <p14:creationId xmlns:p14="http://schemas.microsoft.com/office/powerpoint/2010/main" val="244396926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6B2DDF0-6105-D0EE-16B5-922088D2F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49333-751A-6095-C1EB-DAE67B82F5D9}"/>
              </a:ext>
            </a:extLst>
          </p:cNvPr>
          <p:cNvSpPr>
            <a:spLocks noGrp="1"/>
          </p:cNvSpPr>
          <p:nvPr>
            <p:ph type="title"/>
          </p:nvPr>
        </p:nvSpPr>
        <p:spPr>
          <a:xfrm>
            <a:off x="685800" y="609600"/>
            <a:ext cx="7732335" cy="1456267"/>
          </a:xfrm>
        </p:spPr>
        <p:txBody>
          <a:bodyPr>
            <a:normAutofit/>
          </a:bodyPr>
          <a:lstStyle/>
          <a:p>
            <a:r>
              <a:rPr lang="en-GB" dirty="0"/>
              <a:t>OWASP Top 10: </a:t>
            </a:r>
            <a:r>
              <a:rPr lang="en-US" dirty="0"/>
              <a:t>Command Injection</a:t>
            </a:r>
            <a:endParaRPr lang="en-GB" b="1" dirty="0"/>
          </a:p>
        </p:txBody>
      </p:sp>
      <p:sp>
        <p:nvSpPr>
          <p:cNvPr id="5" name="Rectangle 2">
            <a:extLst>
              <a:ext uri="{FF2B5EF4-FFF2-40B4-BE49-F238E27FC236}">
                <a16:creationId xmlns:a16="http://schemas.microsoft.com/office/drawing/2014/main" id="{711F5D8A-8A03-1246-0EFE-243FB785016C}"/>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400" b="1" dirty="0"/>
              <a:t>Impact of Command Injection</a:t>
            </a:r>
          </a:p>
          <a:p>
            <a:pPr lvl="1"/>
            <a:r>
              <a:rPr lang="en-GB" sz="2000" dirty="0"/>
              <a:t>Remote Code Execution (RCE)</a:t>
            </a:r>
          </a:p>
          <a:p>
            <a:pPr lvl="1"/>
            <a:r>
              <a:rPr lang="en-GB" sz="2000" dirty="0"/>
              <a:t>Data leakage</a:t>
            </a:r>
          </a:p>
          <a:p>
            <a:pPr lvl="1"/>
            <a:r>
              <a:rPr lang="en-GB" sz="2000" dirty="0"/>
              <a:t>System compromise</a:t>
            </a:r>
          </a:p>
          <a:p>
            <a:pPr lvl="1"/>
            <a:r>
              <a:rPr lang="en-GB" sz="2000" dirty="0"/>
              <a:t>Service disruption</a:t>
            </a:r>
          </a:p>
          <a:p>
            <a:pPr lvl="1"/>
            <a:endParaRPr lang="en-US" sz="1800" dirty="0"/>
          </a:p>
        </p:txBody>
      </p:sp>
    </p:spTree>
    <p:extLst>
      <p:ext uri="{BB962C8B-B14F-4D97-AF65-F5344CB8AC3E}">
        <p14:creationId xmlns:p14="http://schemas.microsoft.com/office/powerpoint/2010/main" val="28161344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55FE36DE-396D-345A-01B1-9217BCCCC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EE411-1A2F-5D9F-726C-1DDEA16EED1F}"/>
              </a:ext>
            </a:extLst>
          </p:cNvPr>
          <p:cNvSpPr>
            <a:spLocks noGrp="1"/>
          </p:cNvSpPr>
          <p:nvPr>
            <p:ph type="title"/>
          </p:nvPr>
        </p:nvSpPr>
        <p:spPr>
          <a:xfrm>
            <a:off x="685800" y="609600"/>
            <a:ext cx="7732335" cy="1456267"/>
          </a:xfrm>
        </p:spPr>
        <p:txBody>
          <a:bodyPr>
            <a:normAutofit/>
          </a:bodyPr>
          <a:lstStyle/>
          <a:p>
            <a:r>
              <a:rPr lang="en-GB" dirty="0"/>
              <a:t>OWASP Top 10: </a:t>
            </a:r>
            <a:r>
              <a:rPr lang="en-US" dirty="0"/>
              <a:t>Command Injection</a:t>
            </a:r>
            <a:endParaRPr lang="en-GB" b="1" dirty="0"/>
          </a:p>
        </p:txBody>
      </p:sp>
      <p:sp>
        <p:nvSpPr>
          <p:cNvPr id="5" name="Rectangle 2">
            <a:extLst>
              <a:ext uri="{FF2B5EF4-FFF2-40B4-BE49-F238E27FC236}">
                <a16:creationId xmlns:a16="http://schemas.microsoft.com/office/drawing/2014/main" id="{DD787B5D-C6EE-8308-D358-693FD42E143F}"/>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400" b="1" dirty="0"/>
              <a:t>Secure Design Principle</a:t>
            </a:r>
          </a:p>
          <a:p>
            <a:r>
              <a:rPr lang="en-GB" sz="2400" dirty="0"/>
              <a:t>Avoid using OS commands if possible</a:t>
            </a:r>
          </a:p>
          <a:p>
            <a:r>
              <a:rPr lang="en-GB" sz="2400" dirty="0"/>
              <a:t>Use built-in functions instead of:</a:t>
            </a:r>
          </a:p>
          <a:p>
            <a:pPr lvl="1"/>
            <a:r>
              <a:rPr lang="en-GB" sz="2000" dirty="0"/>
              <a:t>exec(), system(), </a:t>
            </a:r>
            <a:r>
              <a:rPr lang="en-GB" sz="2000" dirty="0" err="1"/>
              <a:t>shell_exec</a:t>
            </a:r>
            <a:r>
              <a:rPr lang="en-GB" sz="2000" dirty="0"/>
              <a:t>()</a:t>
            </a:r>
          </a:p>
        </p:txBody>
      </p:sp>
    </p:spTree>
    <p:extLst>
      <p:ext uri="{BB962C8B-B14F-4D97-AF65-F5344CB8AC3E}">
        <p14:creationId xmlns:p14="http://schemas.microsoft.com/office/powerpoint/2010/main" val="42021734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3CDB8F2-478C-F661-96D2-66813E608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B0C7B-366D-EA51-AF49-1F1EEC3C00A5}"/>
              </a:ext>
            </a:extLst>
          </p:cNvPr>
          <p:cNvSpPr>
            <a:spLocks noGrp="1"/>
          </p:cNvSpPr>
          <p:nvPr>
            <p:ph type="title"/>
          </p:nvPr>
        </p:nvSpPr>
        <p:spPr>
          <a:xfrm>
            <a:off x="685800" y="609600"/>
            <a:ext cx="7732335" cy="1456267"/>
          </a:xfrm>
        </p:spPr>
        <p:txBody>
          <a:bodyPr>
            <a:normAutofit/>
          </a:bodyPr>
          <a:lstStyle/>
          <a:p>
            <a:r>
              <a:rPr lang="en-GB" dirty="0"/>
              <a:t>OWASP Top 10: </a:t>
            </a:r>
            <a:r>
              <a:rPr lang="en-US" dirty="0"/>
              <a:t>Command Injection</a:t>
            </a:r>
            <a:endParaRPr lang="en-GB" b="1" dirty="0"/>
          </a:p>
        </p:txBody>
      </p:sp>
      <p:sp>
        <p:nvSpPr>
          <p:cNvPr id="5" name="Rectangle 2">
            <a:extLst>
              <a:ext uri="{FF2B5EF4-FFF2-40B4-BE49-F238E27FC236}">
                <a16:creationId xmlns:a16="http://schemas.microsoft.com/office/drawing/2014/main" id="{F1F2653A-B6AC-C464-BF36-6DE48FD4056F}"/>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sz="2000" b="1" dirty="0"/>
              <a:t>Secure Fix #1: Input Validation</a:t>
            </a:r>
          </a:p>
          <a:p>
            <a:r>
              <a:rPr lang="en-US" sz="2000" dirty="0"/>
              <a:t>Allow only valid input:</a:t>
            </a:r>
          </a:p>
          <a:p>
            <a:r>
              <a:rPr lang="en-US" sz="2000" dirty="0"/>
              <a:t>Example:</a:t>
            </a:r>
          </a:p>
          <a:p>
            <a:pPr lvl="1"/>
            <a:r>
              <a:rPr lang="en-US" sz="1400" dirty="0"/>
              <a:t>^[a-zA-Z0-9.-]+$</a:t>
            </a:r>
          </a:p>
          <a:p>
            <a:pPr lvl="1"/>
            <a:r>
              <a:rPr lang="en-US" sz="1800" dirty="0"/>
              <a:t>Accept only domain names</a:t>
            </a:r>
            <a:br>
              <a:rPr lang="en-US" sz="1800" dirty="0"/>
            </a:br>
            <a:r>
              <a:rPr lang="en-US" sz="1800" dirty="0"/>
              <a:t>Reject everything else</a:t>
            </a:r>
          </a:p>
          <a:p>
            <a:r>
              <a:rPr lang="en-US" sz="2000" b="1" dirty="0"/>
              <a:t>Secure Fix #2: Escaping Input</a:t>
            </a:r>
          </a:p>
          <a:p>
            <a:pPr lvl="1"/>
            <a:r>
              <a:rPr lang="en-US" sz="1400" dirty="0"/>
              <a:t>$</a:t>
            </a:r>
            <a:r>
              <a:rPr lang="en-US" sz="1400" dirty="0" err="1"/>
              <a:t>safe_query</a:t>
            </a:r>
            <a:r>
              <a:rPr lang="en-US" sz="1400" dirty="0"/>
              <a:t> = </a:t>
            </a:r>
            <a:r>
              <a:rPr lang="en-US" sz="1400" dirty="0" err="1"/>
              <a:t>escapeshellarg</a:t>
            </a:r>
            <a:r>
              <a:rPr lang="en-US" sz="1400" dirty="0"/>
              <a:t>($query);</a:t>
            </a:r>
          </a:p>
          <a:p>
            <a:pPr lvl="1"/>
            <a:r>
              <a:rPr lang="en-US" sz="1400" dirty="0"/>
              <a:t>$command = "</a:t>
            </a:r>
            <a:r>
              <a:rPr lang="en-US" sz="1400" dirty="0" err="1"/>
              <a:t>nslookup</a:t>
            </a:r>
            <a:r>
              <a:rPr lang="en-US" sz="1400" dirty="0"/>
              <a:t> $</a:t>
            </a:r>
            <a:r>
              <a:rPr lang="en-US" sz="1400" dirty="0" err="1"/>
              <a:t>safe_query</a:t>
            </a:r>
            <a:r>
              <a:rPr lang="en-US" sz="1400" dirty="0"/>
              <a:t>";</a:t>
            </a:r>
          </a:p>
          <a:p>
            <a:pPr lvl="1"/>
            <a:r>
              <a:rPr lang="en-US" sz="1400" dirty="0"/>
              <a:t>exec($command);</a:t>
            </a:r>
          </a:p>
          <a:p>
            <a:r>
              <a:rPr lang="en-US" sz="2000" dirty="0"/>
              <a:t>Prevents command injection</a:t>
            </a:r>
          </a:p>
        </p:txBody>
      </p:sp>
    </p:spTree>
    <p:extLst>
      <p:ext uri="{BB962C8B-B14F-4D97-AF65-F5344CB8AC3E}">
        <p14:creationId xmlns:p14="http://schemas.microsoft.com/office/powerpoint/2010/main" val="3688419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19C639EE-1B24-54C6-AE8C-015E269A9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2224F-E9BD-CCE4-7D5A-65F720551285}"/>
              </a:ext>
            </a:extLst>
          </p:cNvPr>
          <p:cNvSpPr>
            <a:spLocks noGrp="1"/>
          </p:cNvSpPr>
          <p:nvPr>
            <p:ph type="title"/>
          </p:nvPr>
        </p:nvSpPr>
        <p:spPr>
          <a:xfrm>
            <a:off x="685800" y="609600"/>
            <a:ext cx="7732335" cy="1456267"/>
          </a:xfrm>
        </p:spPr>
        <p:txBody>
          <a:bodyPr>
            <a:normAutofit/>
          </a:bodyPr>
          <a:lstStyle/>
          <a:p>
            <a:r>
              <a:rPr lang="en-GB" dirty="0"/>
              <a:t>OWASP Top 10: </a:t>
            </a:r>
            <a:r>
              <a:rPr lang="en-US" dirty="0"/>
              <a:t>Command Injection</a:t>
            </a:r>
            <a:endParaRPr lang="en-GB" b="1" dirty="0"/>
          </a:p>
        </p:txBody>
      </p:sp>
      <p:sp>
        <p:nvSpPr>
          <p:cNvPr id="5" name="Rectangle 2">
            <a:extLst>
              <a:ext uri="{FF2B5EF4-FFF2-40B4-BE49-F238E27FC236}">
                <a16:creationId xmlns:a16="http://schemas.microsoft.com/office/drawing/2014/main" id="{46A7D9D5-66F7-07D9-FDF9-732EAFE1248C}"/>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sz="2400" b="1" dirty="0"/>
              <a:t>Secure Fix #3: Better Design</a:t>
            </a:r>
          </a:p>
          <a:p>
            <a:r>
              <a:rPr lang="en-US" sz="2400" dirty="0"/>
              <a:t>Bad:</a:t>
            </a:r>
          </a:p>
          <a:p>
            <a:pPr lvl="1"/>
            <a:r>
              <a:rPr lang="en-US" dirty="0"/>
              <a:t>exec("ping " . $_GET['host']);</a:t>
            </a:r>
          </a:p>
          <a:p>
            <a:r>
              <a:rPr lang="en-US" sz="2400" dirty="0"/>
              <a:t>Better:</a:t>
            </a:r>
          </a:p>
          <a:p>
            <a:pPr lvl="1"/>
            <a:r>
              <a:rPr lang="en-US" sz="2200" dirty="0"/>
              <a:t>Use native libraries (DNS/network APIs)</a:t>
            </a:r>
          </a:p>
          <a:p>
            <a:pPr lvl="1"/>
            <a:r>
              <a:rPr lang="en-US" sz="2200" dirty="0"/>
              <a:t>Avoid shell execution completely</a:t>
            </a:r>
          </a:p>
          <a:p>
            <a:r>
              <a:rPr lang="en-US" sz="2400" b="1" dirty="0"/>
              <a:t>Validation vs Sanitization</a:t>
            </a:r>
          </a:p>
          <a:p>
            <a:pPr lvl="1"/>
            <a:r>
              <a:rPr lang="en-US" sz="2200" b="1" dirty="0"/>
              <a:t>Whitelisting (Recommended):</a:t>
            </a:r>
            <a:r>
              <a:rPr lang="en-US" sz="2200" dirty="0"/>
              <a:t> Allow only valid inputs</a:t>
            </a:r>
          </a:p>
          <a:p>
            <a:pPr lvl="1"/>
            <a:r>
              <a:rPr lang="en-US" sz="2200" b="1" dirty="0"/>
              <a:t>Blacklisting (Weak):</a:t>
            </a:r>
            <a:r>
              <a:rPr lang="en-US" sz="2200" dirty="0"/>
              <a:t> Block known bad inputs</a:t>
            </a:r>
          </a:p>
        </p:txBody>
      </p:sp>
    </p:spTree>
    <p:extLst>
      <p:ext uri="{BB962C8B-B14F-4D97-AF65-F5344CB8AC3E}">
        <p14:creationId xmlns:p14="http://schemas.microsoft.com/office/powerpoint/2010/main" val="1207323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C94AD3FE-AE1E-4530-6904-40E2A8AF5F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6E135-0C79-E1F0-A99E-7E233E0ADAC2}"/>
              </a:ext>
            </a:extLst>
          </p:cNvPr>
          <p:cNvSpPr>
            <a:spLocks noGrp="1"/>
          </p:cNvSpPr>
          <p:nvPr>
            <p:ph type="title"/>
          </p:nvPr>
        </p:nvSpPr>
        <p:spPr>
          <a:xfrm>
            <a:off x="685800" y="609600"/>
            <a:ext cx="7732335" cy="1456267"/>
          </a:xfrm>
        </p:spPr>
        <p:txBody>
          <a:bodyPr>
            <a:normAutofit/>
          </a:bodyPr>
          <a:lstStyle/>
          <a:p>
            <a:r>
              <a:rPr lang="en-GB" dirty="0"/>
              <a:t>OWASP Top 10: </a:t>
            </a:r>
            <a:r>
              <a:rPr lang="en-US" dirty="0"/>
              <a:t>Command Injection</a:t>
            </a:r>
            <a:endParaRPr lang="en-GB" b="1" dirty="0"/>
          </a:p>
        </p:txBody>
      </p:sp>
      <p:sp>
        <p:nvSpPr>
          <p:cNvPr id="5" name="Rectangle 2">
            <a:extLst>
              <a:ext uri="{FF2B5EF4-FFF2-40B4-BE49-F238E27FC236}">
                <a16:creationId xmlns:a16="http://schemas.microsoft.com/office/drawing/2014/main" id="{D14C2F58-C0B5-0D00-D4C5-2665D55544B9}"/>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400" b="1" dirty="0"/>
              <a:t>Developer Security Rules</a:t>
            </a:r>
          </a:p>
          <a:p>
            <a:pPr lvl="1"/>
            <a:r>
              <a:rPr lang="en-GB" sz="2200" dirty="0"/>
              <a:t>Never concatenate user input into commands</a:t>
            </a:r>
          </a:p>
          <a:p>
            <a:pPr lvl="1"/>
            <a:r>
              <a:rPr lang="en-GB" sz="2200" dirty="0"/>
              <a:t>Avoid OS commands when possible</a:t>
            </a:r>
          </a:p>
          <a:p>
            <a:pPr lvl="1"/>
            <a:r>
              <a:rPr lang="en-GB" sz="2200" dirty="0"/>
              <a:t>Validate input strictly (whitelist)</a:t>
            </a:r>
          </a:p>
          <a:p>
            <a:pPr lvl="1"/>
            <a:r>
              <a:rPr lang="en-GB" sz="2200" dirty="0"/>
              <a:t>Escape input if needed</a:t>
            </a:r>
          </a:p>
          <a:p>
            <a:pPr lvl="1"/>
            <a:r>
              <a:rPr lang="en-GB" sz="2200" dirty="0"/>
              <a:t>Use secure APIs</a:t>
            </a:r>
          </a:p>
        </p:txBody>
      </p:sp>
    </p:spTree>
    <p:extLst>
      <p:ext uri="{BB962C8B-B14F-4D97-AF65-F5344CB8AC3E}">
        <p14:creationId xmlns:p14="http://schemas.microsoft.com/office/powerpoint/2010/main" val="31178579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B9E9EE4-33E0-6ED1-0CAC-B21D7541A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AED55-95EF-61F8-BF87-4E81A778DDB3}"/>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40344C32-42CE-FF33-6711-F9CFA1B6FD8C}"/>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800" dirty="0"/>
              <a:t>Developers often misuse these concepts:</a:t>
            </a:r>
          </a:p>
          <a:p>
            <a:pPr lvl="1"/>
            <a:r>
              <a:rPr lang="en-GB" sz="2400" dirty="0"/>
              <a:t>Encrypt passwords</a:t>
            </a:r>
            <a:br>
              <a:rPr lang="en-GB" sz="2400" dirty="0"/>
            </a:br>
            <a:r>
              <a:rPr lang="en-GB" sz="2400" dirty="0"/>
              <a:t>Encode sensitive data</a:t>
            </a:r>
            <a:br>
              <a:rPr lang="en-GB" sz="2400" dirty="0"/>
            </a:br>
            <a:r>
              <a:rPr lang="en-GB" sz="2400" dirty="0"/>
              <a:t>Use weak hashing</a:t>
            </a:r>
          </a:p>
          <a:p>
            <a:r>
              <a:rPr lang="en-GB" sz="2800" dirty="0"/>
              <a:t>Leads to serious security issues</a:t>
            </a:r>
          </a:p>
        </p:txBody>
      </p:sp>
    </p:spTree>
    <p:extLst>
      <p:ext uri="{BB962C8B-B14F-4D97-AF65-F5344CB8AC3E}">
        <p14:creationId xmlns:p14="http://schemas.microsoft.com/office/powerpoint/2010/main" val="5102270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3077F6EE-0302-ACEE-2BD4-2191DB26E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5DC30-DE18-297D-37E2-0F84FEB5F1E5}"/>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graphicFrame>
        <p:nvGraphicFramePr>
          <p:cNvPr id="6" name="Content Placeholder 5">
            <a:extLst>
              <a:ext uri="{FF2B5EF4-FFF2-40B4-BE49-F238E27FC236}">
                <a16:creationId xmlns:a16="http://schemas.microsoft.com/office/drawing/2014/main" id="{4F65B17B-05C5-5001-350A-97357128D4DA}"/>
              </a:ext>
            </a:extLst>
          </p:cNvPr>
          <p:cNvGraphicFramePr>
            <a:graphicFrameLocks noGrp="1"/>
          </p:cNvGraphicFramePr>
          <p:nvPr>
            <p:ph idx="1"/>
            <p:extLst>
              <p:ext uri="{D42A27DB-BD31-4B8C-83A1-F6EECF244321}">
                <p14:modId xmlns:p14="http://schemas.microsoft.com/office/powerpoint/2010/main" val="1097967975"/>
              </p:ext>
            </p:extLst>
          </p:nvPr>
        </p:nvGraphicFramePr>
        <p:xfrm>
          <a:off x="685800" y="2295728"/>
          <a:ext cx="8249056" cy="3180944"/>
        </p:xfrm>
        <a:graphic>
          <a:graphicData uri="http://schemas.openxmlformats.org/drawingml/2006/table">
            <a:tbl>
              <a:tblPr/>
              <a:tblGrid>
                <a:gridCol w="4124528">
                  <a:extLst>
                    <a:ext uri="{9D8B030D-6E8A-4147-A177-3AD203B41FA5}">
                      <a16:colId xmlns:a16="http://schemas.microsoft.com/office/drawing/2014/main" val="1211801361"/>
                    </a:ext>
                  </a:extLst>
                </a:gridCol>
                <a:gridCol w="4124528">
                  <a:extLst>
                    <a:ext uri="{9D8B030D-6E8A-4147-A177-3AD203B41FA5}">
                      <a16:colId xmlns:a16="http://schemas.microsoft.com/office/drawing/2014/main" val="2817403082"/>
                    </a:ext>
                  </a:extLst>
                </a:gridCol>
              </a:tblGrid>
              <a:tr h="795236">
                <a:tc>
                  <a:txBody>
                    <a:bodyPr/>
                    <a:lstStyle/>
                    <a:p>
                      <a:pPr>
                        <a:buNone/>
                      </a:pPr>
                      <a:r>
                        <a:rPr lang="en-US"/>
                        <a:t>Technique</a:t>
                      </a:r>
                    </a:p>
                  </a:txBody>
                  <a:tcPr anchor="ctr">
                    <a:lnL>
                      <a:noFill/>
                    </a:lnL>
                    <a:lnR>
                      <a:noFill/>
                    </a:lnR>
                    <a:lnT>
                      <a:noFill/>
                    </a:lnT>
                    <a:lnB>
                      <a:noFill/>
                    </a:lnB>
                    <a:noFill/>
                  </a:tcPr>
                </a:tc>
                <a:tc>
                  <a:txBody>
                    <a:bodyPr/>
                    <a:lstStyle/>
                    <a:p>
                      <a:pPr>
                        <a:buNone/>
                      </a:pPr>
                      <a:r>
                        <a:rPr lang="en-US"/>
                        <a:t>Purpose</a:t>
                      </a:r>
                    </a:p>
                  </a:txBody>
                  <a:tcPr anchor="ctr">
                    <a:lnL>
                      <a:noFill/>
                    </a:lnL>
                    <a:lnR>
                      <a:noFill/>
                    </a:lnR>
                    <a:lnT>
                      <a:noFill/>
                    </a:lnT>
                    <a:lnB>
                      <a:noFill/>
                    </a:lnB>
                    <a:noFill/>
                  </a:tcPr>
                </a:tc>
                <a:extLst>
                  <a:ext uri="{0D108BD9-81ED-4DB2-BD59-A6C34878D82A}">
                    <a16:rowId xmlns:a16="http://schemas.microsoft.com/office/drawing/2014/main" val="572270295"/>
                  </a:ext>
                </a:extLst>
              </a:tr>
              <a:tr h="795236">
                <a:tc>
                  <a:txBody>
                    <a:bodyPr/>
                    <a:lstStyle/>
                    <a:p>
                      <a:pPr>
                        <a:buNone/>
                      </a:pPr>
                      <a:r>
                        <a:rPr lang="en-US"/>
                        <a:t>Encoding</a:t>
                      </a:r>
                    </a:p>
                  </a:txBody>
                  <a:tcPr anchor="ctr">
                    <a:lnL>
                      <a:noFill/>
                    </a:lnL>
                    <a:lnR>
                      <a:noFill/>
                    </a:lnR>
                    <a:lnT>
                      <a:noFill/>
                    </a:lnT>
                    <a:lnB>
                      <a:noFill/>
                    </a:lnB>
                    <a:noFill/>
                  </a:tcPr>
                </a:tc>
                <a:tc>
                  <a:txBody>
                    <a:bodyPr/>
                    <a:lstStyle/>
                    <a:p>
                      <a:pPr>
                        <a:buNone/>
                      </a:pPr>
                      <a:r>
                        <a:rPr lang="en-US"/>
                        <a:t>Format data</a:t>
                      </a:r>
                    </a:p>
                  </a:txBody>
                  <a:tcPr anchor="ctr">
                    <a:lnL>
                      <a:noFill/>
                    </a:lnL>
                    <a:lnR>
                      <a:noFill/>
                    </a:lnR>
                    <a:lnT>
                      <a:noFill/>
                    </a:lnT>
                    <a:lnB>
                      <a:noFill/>
                    </a:lnB>
                    <a:noFill/>
                  </a:tcPr>
                </a:tc>
                <a:extLst>
                  <a:ext uri="{0D108BD9-81ED-4DB2-BD59-A6C34878D82A}">
                    <a16:rowId xmlns:a16="http://schemas.microsoft.com/office/drawing/2014/main" val="865112067"/>
                  </a:ext>
                </a:extLst>
              </a:tr>
              <a:tr h="795236">
                <a:tc>
                  <a:txBody>
                    <a:bodyPr/>
                    <a:lstStyle/>
                    <a:p>
                      <a:pPr>
                        <a:buNone/>
                      </a:pPr>
                      <a:r>
                        <a:rPr lang="en-US" dirty="0"/>
                        <a:t>Encryption</a:t>
                      </a:r>
                    </a:p>
                  </a:txBody>
                  <a:tcPr anchor="ctr">
                    <a:lnL>
                      <a:noFill/>
                    </a:lnL>
                    <a:lnR>
                      <a:noFill/>
                    </a:lnR>
                    <a:lnT>
                      <a:noFill/>
                    </a:lnT>
                    <a:lnB>
                      <a:noFill/>
                    </a:lnB>
                    <a:noFill/>
                  </a:tcPr>
                </a:tc>
                <a:tc>
                  <a:txBody>
                    <a:bodyPr/>
                    <a:lstStyle/>
                    <a:p>
                      <a:pPr>
                        <a:buNone/>
                      </a:pPr>
                      <a:r>
                        <a:rPr lang="en-US"/>
                        <a:t>Protect data (reversible)</a:t>
                      </a:r>
                    </a:p>
                  </a:txBody>
                  <a:tcPr anchor="ctr">
                    <a:lnL>
                      <a:noFill/>
                    </a:lnL>
                    <a:lnR>
                      <a:noFill/>
                    </a:lnR>
                    <a:lnT>
                      <a:noFill/>
                    </a:lnT>
                    <a:lnB>
                      <a:noFill/>
                    </a:lnB>
                    <a:noFill/>
                  </a:tcPr>
                </a:tc>
                <a:extLst>
                  <a:ext uri="{0D108BD9-81ED-4DB2-BD59-A6C34878D82A}">
                    <a16:rowId xmlns:a16="http://schemas.microsoft.com/office/drawing/2014/main" val="386280951"/>
                  </a:ext>
                </a:extLst>
              </a:tr>
              <a:tr h="795236">
                <a:tc>
                  <a:txBody>
                    <a:bodyPr/>
                    <a:lstStyle/>
                    <a:p>
                      <a:pPr>
                        <a:buNone/>
                      </a:pPr>
                      <a:r>
                        <a:rPr lang="en-US"/>
                        <a:t>Hashing</a:t>
                      </a:r>
                    </a:p>
                  </a:txBody>
                  <a:tcPr anchor="ctr">
                    <a:lnL>
                      <a:noFill/>
                    </a:lnL>
                    <a:lnR>
                      <a:noFill/>
                    </a:lnR>
                    <a:lnT>
                      <a:noFill/>
                    </a:lnT>
                    <a:lnB>
                      <a:noFill/>
                    </a:lnB>
                    <a:noFill/>
                  </a:tcPr>
                </a:tc>
                <a:tc>
                  <a:txBody>
                    <a:bodyPr/>
                    <a:lstStyle/>
                    <a:p>
                      <a:pPr>
                        <a:buNone/>
                      </a:pPr>
                      <a:r>
                        <a:rPr lang="en-US" dirty="0"/>
                        <a:t>Protect data (non-reversible)</a:t>
                      </a:r>
                    </a:p>
                  </a:txBody>
                  <a:tcPr anchor="ctr">
                    <a:lnL>
                      <a:noFill/>
                    </a:lnL>
                    <a:lnR>
                      <a:noFill/>
                    </a:lnR>
                    <a:lnT>
                      <a:noFill/>
                    </a:lnT>
                    <a:lnB>
                      <a:noFill/>
                    </a:lnB>
                    <a:noFill/>
                  </a:tcPr>
                </a:tc>
                <a:extLst>
                  <a:ext uri="{0D108BD9-81ED-4DB2-BD59-A6C34878D82A}">
                    <a16:rowId xmlns:a16="http://schemas.microsoft.com/office/drawing/2014/main" val="396917778"/>
                  </a:ext>
                </a:extLst>
              </a:tr>
            </a:tbl>
          </a:graphicData>
        </a:graphic>
      </p:graphicFrame>
    </p:spTree>
    <p:extLst>
      <p:ext uri="{BB962C8B-B14F-4D97-AF65-F5344CB8AC3E}">
        <p14:creationId xmlns:p14="http://schemas.microsoft.com/office/powerpoint/2010/main" val="4592688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F58C8E6-BC84-F6FD-B7BF-E9F5BC7690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1D40B7-8955-A1B8-6471-4A75FD588A7B}"/>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FD91B17B-D90C-79A2-D303-D00221958EF8}"/>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000" b="1" dirty="0"/>
              <a:t>What is Encoding?</a:t>
            </a:r>
          </a:p>
          <a:p>
            <a:r>
              <a:rPr lang="en-GB" sz="2000" dirty="0"/>
              <a:t>Encoding = transforming data format for compatibility</a:t>
            </a:r>
          </a:p>
          <a:p>
            <a:r>
              <a:rPr lang="en-GB" sz="2000" dirty="0"/>
              <a:t>Examples:</a:t>
            </a:r>
          </a:p>
          <a:p>
            <a:pPr lvl="1"/>
            <a:r>
              <a:rPr lang="en-GB" sz="2000" dirty="0"/>
              <a:t>Base64</a:t>
            </a:r>
          </a:p>
          <a:p>
            <a:pPr lvl="1"/>
            <a:r>
              <a:rPr lang="en-GB" sz="2000" dirty="0"/>
              <a:t>URL Encoding</a:t>
            </a:r>
          </a:p>
          <a:p>
            <a:r>
              <a:rPr lang="en-GB" sz="2000" dirty="0"/>
              <a:t>NOT security</a:t>
            </a:r>
          </a:p>
        </p:txBody>
      </p:sp>
    </p:spTree>
    <p:extLst>
      <p:ext uri="{BB962C8B-B14F-4D97-AF65-F5344CB8AC3E}">
        <p14:creationId xmlns:p14="http://schemas.microsoft.com/office/powerpoint/2010/main" val="1509027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7CF6926-FBA9-8900-1606-4254228A9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2345A-1448-7551-44CA-B757F0AFFD3D}"/>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16A4255E-5182-5585-4C03-C9C10239C2BE}"/>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sz="2000" b="1" dirty="0"/>
              <a:t>Encoding Example</a:t>
            </a:r>
          </a:p>
          <a:p>
            <a:pPr lvl="1"/>
            <a:r>
              <a:rPr lang="en-US" sz="2000" dirty="0" err="1"/>
              <a:t>btoa</a:t>
            </a:r>
            <a:r>
              <a:rPr lang="en-US" sz="2000" dirty="0"/>
              <a:t>("admin") → YWRtaW4=</a:t>
            </a:r>
          </a:p>
          <a:p>
            <a:r>
              <a:rPr lang="en-US" sz="2000" dirty="0"/>
              <a:t>Easily reversible:</a:t>
            </a:r>
          </a:p>
          <a:p>
            <a:pPr lvl="1"/>
            <a:r>
              <a:rPr lang="en-US" sz="2000" dirty="0" err="1"/>
              <a:t>atob</a:t>
            </a:r>
            <a:r>
              <a:rPr lang="en-US" sz="2000" dirty="0"/>
              <a:t>("YWRtaW4=") → admin</a:t>
            </a:r>
          </a:p>
          <a:p>
            <a:r>
              <a:rPr lang="en-US" sz="2000" dirty="0"/>
              <a:t>Do NOT use for passwords</a:t>
            </a:r>
          </a:p>
        </p:txBody>
      </p:sp>
    </p:spTree>
    <p:extLst>
      <p:ext uri="{BB962C8B-B14F-4D97-AF65-F5344CB8AC3E}">
        <p14:creationId xmlns:p14="http://schemas.microsoft.com/office/powerpoint/2010/main" val="39446076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1AB98C8-786C-FD66-1EB8-7DB641223F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38400-067B-9CC7-846D-06F5F91C71BD}"/>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B417CB84-AAF4-55E3-7D02-327C9A5E2657}"/>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000" b="1" dirty="0"/>
              <a:t>What is Encryption?</a:t>
            </a:r>
          </a:p>
          <a:p>
            <a:r>
              <a:rPr lang="en-GB" sz="2000" dirty="0"/>
              <a:t>Encryption = converting data into unreadable form</a:t>
            </a:r>
            <a:br>
              <a:rPr lang="en-GB" sz="2000" dirty="0"/>
            </a:br>
            <a:r>
              <a:rPr lang="en-GB" sz="2000" dirty="0"/>
              <a:t>Can be reversed with a key</a:t>
            </a:r>
          </a:p>
          <a:p>
            <a:r>
              <a:rPr lang="en-GB" sz="2000" dirty="0"/>
              <a:t>Used for:</a:t>
            </a:r>
          </a:p>
          <a:p>
            <a:pPr lvl="1"/>
            <a:r>
              <a:rPr lang="en-GB" sz="2000" dirty="0"/>
              <a:t>Data in transit (HTTPS)</a:t>
            </a:r>
          </a:p>
          <a:p>
            <a:pPr lvl="1"/>
            <a:r>
              <a:rPr lang="en-GB" sz="2000" dirty="0"/>
              <a:t>Sensitive stored data</a:t>
            </a:r>
          </a:p>
        </p:txBody>
      </p:sp>
    </p:spTree>
    <p:extLst>
      <p:ext uri="{BB962C8B-B14F-4D97-AF65-F5344CB8AC3E}">
        <p14:creationId xmlns:p14="http://schemas.microsoft.com/office/powerpoint/2010/main" val="326146010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2154280C-9E46-97AD-D921-5B82713B1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B2533-B6A0-33D6-856A-5A4E82A5BD23}"/>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A1E57909-C967-3580-1853-06F2B1BA683C}"/>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sz="2000" b="1" dirty="0"/>
              <a:t>Encryption Example</a:t>
            </a:r>
          </a:p>
          <a:p>
            <a:pPr lvl="1"/>
            <a:r>
              <a:rPr lang="en-US" sz="2000" dirty="0"/>
              <a:t>Plaintext → Encryption(key) → Ciphertext</a:t>
            </a:r>
          </a:p>
          <a:p>
            <a:pPr lvl="1"/>
            <a:r>
              <a:rPr lang="en-US" sz="2000" dirty="0"/>
              <a:t>Ciphertext → Decryption(key) → Plaintext</a:t>
            </a:r>
          </a:p>
          <a:p>
            <a:r>
              <a:rPr lang="en-US" sz="2000" dirty="0"/>
              <a:t>Requires:</a:t>
            </a:r>
          </a:p>
          <a:p>
            <a:pPr lvl="1"/>
            <a:r>
              <a:rPr lang="en-US" sz="2000" dirty="0"/>
              <a:t>Algorithm</a:t>
            </a:r>
          </a:p>
          <a:p>
            <a:pPr lvl="1"/>
            <a:r>
              <a:rPr lang="en-US" sz="2000" dirty="0"/>
              <a:t>Key</a:t>
            </a:r>
          </a:p>
        </p:txBody>
      </p:sp>
    </p:spTree>
    <p:extLst>
      <p:ext uri="{BB962C8B-B14F-4D97-AF65-F5344CB8AC3E}">
        <p14:creationId xmlns:p14="http://schemas.microsoft.com/office/powerpoint/2010/main" val="51540292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E0CDFCE-2160-5A9A-DEE6-E5670EF58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CDCDB5-E9DE-C25E-2B6F-B76462340CC8}"/>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95A396FE-268B-C817-6418-466975B3BD28}"/>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000" b="1" dirty="0"/>
              <a:t>Types of Encryption</a:t>
            </a:r>
          </a:p>
          <a:p>
            <a:pPr lvl="1"/>
            <a:r>
              <a:rPr lang="en-GB" sz="2000" b="1" dirty="0"/>
              <a:t>Symmetric</a:t>
            </a:r>
          </a:p>
          <a:p>
            <a:pPr lvl="2"/>
            <a:r>
              <a:rPr lang="en-GB" sz="2000" dirty="0"/>
              <a:t>Same key (AES)</a:t>
            </a:r>
          </a:p>
          <a:p>
            <a:pPr lvl="1"/>
            <a:r>
              <a:rPr lang="en-GB" sz="2000" b="1" dirty="0"/>
              <a:t>Asymmetric</a:t>
            </a:r>
          </a:p>
          <a:p>
            <a:pPr lvl="2"/>
            <a:r>
              <a:rPr lang="en-GB" sz="2000" dirty="0"/>
              <a:t>Public + Private keys (RSA)</a:t>
            </a:r>
          </a:p>
        </p:txBody>
      </p:sp>
    </p:spTree>
    <p:extLst>
      <p:ext uri="{BB962C8B-B14F-4D97-AF65-F5344CB8AC3E}">
        <p14:creationId xmlns:p14="http://schemas.microsoft.com/office/powerpoint/2010/main" val="163094819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E557334-FEE5-9768-E91F-EAE05A6A82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B2383-64AD-1D55-9B88-3C9D736C6BE8}"/>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686C2077-D63B-BA06-54A7-D2E043A34F7E}"/>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000" b="1" dirty="0"/>
              <a:t>What is Hashing?</a:t>
            </a:r>
          </a:p>
          <a:p>
            <a:pPr lvl="1"/>
            <a:r>
              <a:rPr lang="en-GB" sz="2000" dirty="0"/>
              <a:t>Hashing = one-way transformation</a:t>
            </a:r>
          </a:p>
          <a:p>
            <a:r>
              <a:rPr lang="en-GB" sz="2000" dirty="0"/>
              <a:t>Cannot be reversed</a:t>
            </a:r>
          </a:p>
          <a:p>
            <a:r>
              <a:rPr lang="en-GB" sz="2000" dirty="0"/>
              <a:t>Used for:</a:t>
            </a:r>
          </a:p>
          <a:p>
            <a:pPr lvl="1"/>
            <a:r>
              <a:rPr lang="en-GB" sz="2000" dirty="0"/>
              <a:t>Password storage</a:t>
            </a:r>
          </a:p>
        </p:txBody>
      </p:sp>
    </p:spTree>
    <p:extLst>
      <p:ext uri="{BB962C8B-B14F-4D97-AF65-F5344CB8AC3E}">
        <p14:creationId xmlns:p14="http://schemas.microsoft.com/office/powerpoint/2010/main" val="126092911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F800E330-D0E4-0969-FF28-37613984D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7B54A-CDE6-531E-096A-0F9112EAA614}"/>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9325E748-8DD7-5F49-381A-1FCB059ED0DF}"/>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000" b="1" dirty="0"/>
              <a:t>Hashing Example</a:t>
            </a:r>
          </a:p>
          <a:p>
            <a:pPr lvl="1"/>
            <a:r>
              <a:rPr lang="en-GB" dirty="0"/>
              <a:t>password123 → 482c811da5d5b4bc6d497ffa98491e38</a:t>
            </a:r>
          </a:p>
          <a:p>
            <a:r>
              <a:rPr lang="en-GB" sz="2000" dirty="0"/>
              <a:t>Always same output (for same input)</a:t>
            </a:r>
          </a:p>
          <a:p>
            <a:endParaRPr lang="en-GB" sz="2000" dirty="0"/>
          </a:p>
          <a:p>
            <a:r>
              <a:rPr lang="en-GB" sz="2000" b="1" dirty="0"/>
              <a:t>Key Property of Hashing</a:t>
            </a:r>
          </a:p>
          <a:p>
            <a:pPr lvl="1"/>
            <a:r>
              <a:rPr lang="en-GB" sz="1800" dirty="0"/>
              <a:t>One-way (irreversible)</a:t>
            </a:r>
            <a:br>
              <a:rPr lang="en-GB" sz="1800" dirty="0"/>
            </a:br>
            <a:r>
              <a:rPr lang="en-GB" sz="1800" dirty="0"/>
              <a:t>Deterministic</a:t>
            </a:r>
            <a:br>
              <a:rPr lang="en-GB" sz="1800" dirty="0"/>
            </a:br>
            <a:r>
              <a:rPr lang="en-GB" sz="1800" dirty="0"/>
              <a:t>Fixed output length</a:t>
            </a:r>
          </a:p>
          <a:p>
            <a:endParaRPr lang="en-GB" sz="2000" dirty="0"/>
          </a:p>
        </p:txBody>
      </p:sp>
    </p:spTree>
    <p:extLst>
      <p:ext uri="{BB962C8B-B14F-4D97-AF65-F5344CB8AC3E}">
        <p14:creationId xmlns:p14="http://schemas.microsoft.com/office/powerpoint/2010/main" val="10931248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DA66E8E1-2658-7348-1701-C99BEB7E8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79DD5-307E-4ED3-554E-F5C9D96AFDB7}"/>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5492E9B0-F2C9-AD52-9F45-690A7AAE23B9}"/>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sz="2000" b="1" dirty="0"/>
              <a:t>Hashing for Passwords</a:t>
            </a:r>
          </a:p>
          <a:p>
            <a:pPr lvl="1"/>
            <a:r>
              <a:rPr lang="en-US" sz="2000" dirty="0"/>
              <a:t>Wrong:</a:t>
            </a:r>
          </a:p>
          <a:p>
            <a:pPr lvl="2"/>
            <a:r>
              <a:rPr lang="en-US" sz="2000" dirty="0"/>
              <a:t>store("password123")</a:t>
            </a:r>
          </a:p>
          <a:p>
            <a:pPr lvl="1"/>
            <a:r>
              <a:rPr lang="en-US" sz="2000" dirty="0"/>
              <a:t>Also wrong:</a:t>
            </a:r>
          </a:p>
          <a:p>
            <a:pPr lvl="2"/>
            <a:r>
              <a:rPr lang="en-US" sz="2000" dirty="0"/>
              <a:t>store(encrypt("password123"))</a:t>
            </a:r>
          </a:p>
          <a:p>
            <a:pPr lvl="1"/>
            <a:r>
              <a:rPr lang="en-US" sz="2000" dirty="0"/>
              <a:t>Correct:</a:t>
            </a:r>
          </a:p>
          <a:p>
            <a:pPr lvl="2"/>
            <a:r>
              <a:rPr lang="en-US" sz="2000" dirty="0"/>
              <a:t>store(hash("password123"))</a:t>
            </a:r>
          </a:p>
        </p:txBody>
      </p:sp>
    </p:spTree>
    <p:extLst>
      <p:ext uri="{BB962C8B-B14F-4D97-AF65-F5344CB8AC3E}">
        <p14:creationId xmlns:p14="http://schemas.microsoft.com/office/powerpoint/2010/main" val="249530735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AE92F2ED-A660-9044-BFF8-495624B00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7188F-975F-9BF2-07E8-E1AAF8677EF2}"/>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6A824732-97F2-FB81-DC0F-732E708DCA4B}"/>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000" b="1" dirty="0"/>
              <a:t>Secure Hashing Practices</a:t>
            </a:r>
          </a:p>
          <a:p>
            <a:r>
              <a:rPr lang="en-GB" sz="2000" dirty="0"/>
              <a:t>Use:</a:t>
            </a:r>
          </a:p>
          <a:p>
            <a:pPr lvl="1"/>
            <a:r>
              <a:rPr lang="en-GB" sz="1800" dirty="0" err="1"/>
              <a:t>bcrypt</a:t>
            </a:r>
            <a:endParaRPr lang="en-GB" sz="1800" dirty="0"/>
          </a:p>
          <a:p>
            <a:pPr lvl="1"/>
            <a:r>
              <a:rPr lang="en-GB" sz="1800" dirty="0" err="1"/>
              <a:t>scrypt</a:t>
            </a:r>
            <a:endParaRPr lang="en-GB" sz="1800" dirty="0"/>
          </a:p>
          <a:p>
            <a:pPr lvl="1"/>
            <a:r>
              <a:rPr lang="en-GB" sz="1800" dirty="0"/>
              <a:t>Argon2</a:t>
            </a:r>
          </a:p>
          <a:p>
            <a:r>
              <a:rPr lang="en-GB" sz="2000" dirty="0"/>
              <a:t>Avoid:</a:t>
            </a:r>
          </a:p>
          <a:p>
            <a:pPr lvl="1"/>
            <a:r>
              <a:rPr lang="en-GB" sz="1800" dirty="0"/>
              <a:t>MD5</a:t>
            </a:r>
          </a:p>
          <a:p>
            <a:pPr lvl="1"/>
            <a:r>
              <a:rPr lang="en-GB" sz="1800" dirty="0"/>
              <a:t>SHA1</a:t>
            </a:r>
          </a:p>
        </p:txBody>
      </p:sp>
    </p:spTree>
    <p:extLst>
      <p:ext uri="{BB962C8B-B14F-4D97-AF65-F5344CB8AC3E}">
        <p14:creationId xmlns:p14="http://schemas.microsoft.com/office/powerpoint/2010/main" val="42614588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431897A-65BB-2158-838A-33A23E6D4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BF17B-1F45-EDBF-78F1-4189A8AFADEC}"/>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16A8ED3F-7879-6CD3-F8AD-D88B482D4E68}"/>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000" b="1" dirty="0"/>
              <a:t>What is Salting?</a:t>
            </a:r>
          </a:p>
          <a:p>
            <a:pPr lvl="1"/>
            <a:r>
              <a:rPr lang="en-GB" sz="2000" dirty="0"/>
              <a:t>Salt = random value added before hashing</a:t>
            </a:r>
          </a:p>
          <a:p>
            <a:pPr lvl="1"/>
            <a:r>
              <a:rPr lang="en-GB" sz="2000" dirty="0"/>
              <a:t>hash(password + salt)</a:t>
            </a:r>
          </a:p>
          <a:p>
            <a:pPr lvl="1"/>
            <a:r>
              <a:rPr lang="en-GB" sz="2000" dirty="0"/>
              <a:t>Prevents rainbow table attacks</a:t>
            </a:r>
          </a:p>
        </p:txBody>
      </p:sp>
    </p:spTree>
    <p:extLst>
      <p:ext uri="{BB962C8B-B14F-4D97-AF65-F5344CB8AC3E}">
        <p14:creationId xmlns:p14="http://schemas.microsoft.com/office/powerpoint/2010/main" val="48871419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0A7409E-A87F-CF4E-B0B0-7AE556DB7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DE379-19B5-C6D0-2423-564387F0F65E}"/>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A9A2533C-F619-00DF-879A-9DD2E170B0F7}"/>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000" b="1" dirty="0"/>
              <a:t>Common Developer Mistakes</a:t>
            </a:r>
          </a:p>
          <a:p>
            <a:pPr lvl="1"/>
            <a:r>
              <a:rPr lang="en-GB" sz="1800" dirty="0"/>
              <a:t>Using Base64 for security </a:t>
            </a:r>
          </a:p>
          <a:p>
            <a:pPr lvl="1"/>
            <a:r>
              <a:rPr lang="en-GB" sz="1800" dirty="0"/>
              <a:t>Encrypting passwords </a:t>
            </a:r>
          </a:p>
          <a:p>
            <a:pPr lvl="1"/>
            <a:r>
              <a:rPr lang="en-GB" sz="1800" dirty="0"/>
              <a:t>Using fast hashes (MD5) </a:t>
            </a:r>
          </a:p>
          <a:p>
            <a:pPr lvl="1"/>
            <a:r>
              <a:rPr lang="en-GB" sz="1800" dirty="0"/>
              <a:t>Not using salt </a:t>
            </a:r>
          </a:p>
        </p:txBody>
      </p:sp>
    </p:spTree>
    <p:extLst>
      <p:ext uri="{BB962C8B-B14F-4D97-AF65-F5344CB8AC3E}">
        <p14:creationId xmlns:p14="http://schemas.microsoft.com/office/powerpoint/2010/main" val="34972395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1B748D1E-1078-8E6B-EB90-4BE5BAC2D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E705A-FD88-341A-98B1-1F9F428CA65D}"/>
              </a:ext>
            </a:extLst>
          </p:cNvPr>
          <p:cNvSpPr>
            <a:spLocks noGrp="1"/>
          </p:cNvSpPr>
          <p:nvPr>
            <p:ph type="title"/>
          </p:nvPr>
        </p:nvSpPr>
        <p:spPr>
          <a:xfrm>
            <a:off x="685800" y="609600"/>
            <a:ext cx="7732335" cy="1456267"/>
          </a:xfrm>
        </p:spPr>
        <p:txBody>
          <a:bodyPr>
            <a:normAutofit/>
          </a:bodyPr>
          <a:lstStyle/>
          <a:p>
            <a:r>
              <a:rPr lang="en-US" dirty="0"/>
              <a:t>Hashing vs Encryption vs Encoding</a:t>
            </a:r>
            <a:endParaRPr lang="en-GB" b="1" dirty="0"/>
          </a:p>
        </p:txBody>
      </p:sp>
      <p:sp>
        <p:nvSpPr>
          <p:cNvPr id="5" name="Rectangle 2">
            <a:extLst>
              <a:ext uri="{FF2B5EF4-FFF2-40B4-BE49-F238E27FC236}">
                <a16:creationId xmlns:a16="http://schemas.microsoft.com/office/drawing/2014/main" id="{EDCE5352-02E6-2AFB-21A4-B23D1DC7AD86}"/>
              </a:ext>
            </a:extLst>
          </p:cNvPr>
          <p:cNvSpPr>
            <a:spLocks noGrp="1" noChangeArrowheads="1"/>
          </p:cNvSpPr>
          <p:nvPr>
            <p:ph idx="1"/>
          </p:nvPr>
        </p:nvSpPr>
        <p:spPr bwMode="auto">
          <a:xfrm>
            <a:off x="685800" y="1873250"/>
            <a:ext cx="10820400" cy="45086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GB" sz="2000" b="1" dirty="0"/>
              <a:t>Developer Security Rules</a:t>
            </a:r>
          </a:p>
          <a:p>
            <a:pPr lvl="1"/>
            <a:r>
              <a:rPr lang="en-GB" sz="1800" dirty="0"/>
              <a:t>Never store plaintext passwords</a:t>
            </a:r>
          </a:p>
          <a:p>
            <a:pPr lvl="1"/>
            <a:r>
              <a:rPr lang="en-GB" sz="1800" dirty="0"/>
              <a:t>Never encrypt passwords (hash instead)</a:t>
            </a:r>
          </a:p>
          <a:p>
            <a:pPr lvl="1"/>
            <a:r>
              <a:rPr lang="en-GB" sz="1800" dirty="0"/>
              <a:t>Use strong hashing algorithms</a:t>
            </a:r>
          </a:p>
          <a:p>
            <a:pPr lvl="1"/>
            <a:r>
              <a:rPr lang="en-GB" sz="1800" dirty="0"/>
              <a:t>Always use salt</a:t>
            </a:r>
          </a:p>
          <a:p>
            <a:pPr lvl="1"/>
            <a:r>
              <a:rPr lang="en-GB" sz="1800" dirty="0"/>
              <a:t>Treat encoding as formatting only</a:t>
            </a:r>
          </a:p>
        </p:txBody>
      </p:sp>
    </p:spTree>
    <p:extLst>
      <p:ext uri="{BB962C8B-B14F-4D97-AF65-F5344CB8AC3E}">
        <p14:creationId xmlns:p14="http://schemas.microsoft.com/office/powerpoint/2010/main" val="36250772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13298</TotalTime>
  <Words>9670</Words>
  <Application>Microsoft Office PowerPoint</Application>
  <PresentationFormat>Widescreen</PresentationFormat>
  <Paragraphs>1149</Paragraphs>
  <Slides>106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106</vt:i4>
      </vt:variant>
    </vt:vector>
  </HeadingPairs>
  <TitlesOfParts>
    <vt:vector size="112" baseType="lpstr">
      <vt:lpstr>Aptos</vt:lpstr>
      <vt:lpstr>Arial</vt:lpstr>
      <vt:lpstr>Calibri</vt:lpstr>
      <vt:lpstr>Calibri Light</vt:lpstr>
      <vt:lpstr>Courier New</vt:lpstr>
      <vt:lpstr>Celestial</vt:lpstr>
      <vt:lpstr>Advanced Software Development &amp; Security</vt:lpstr>
      <vt:lpstr>Security Fundamentals</vt:lpstr>
      <vt:lpstr>The CIA Triad</vt:lpstr>
      <vt:lpstr>Types of Hackers</vt:lpstr>
      <vt:lpstr>Ethical Hacker</vt:lpstr>
      <vt:lpstr>Security Teams</vt:lpstr>
      <vt:lpstr>Types of Penetration Testing</vt:lpstr>
      <vt:lpstr>Penetration Testing Methodologies</vt:lpstr>
      <vt:lpstr>Basic Networking Concepts</vt:lpstr>
      <vt:lpstr>Vulnerability</vt:lpstr>
      <vt:lpstr>Exploit</vt:lpstr>
      <vt:lpstr>Client and Server Model</vt:lpstr>
      <vt:lpstr>HTTP Requests</vt:lpstr>
      <vt:lpstr>HTTP Request Methods</vt:lpstr>
      <vt:lpstr>HTTP Request Headers</vt:lpstr>
      <vt:lpstr>Modern Web</vt:lpstr>
      <vt:lpstr>Frontend and Backend</vt:lpstr>
      <vt:lpstr>Frontend and Backend</vt:lpstr>
      <vt:lpstr>Application Programming Interface (API)</vt:lpstr>
      <vt:lpstr>Database Server</vt:lpstr>
      <vt:lpstr>Web Server</vt:lpstr>
      <vt:lpstr>Security and Performance</vt:lpstr>
      <vt:lpstr>Security and Performance</vt:lpstr>
      <vt:lpstr>Cloud Architecture</vt:lpstr>
      <vt:lpstr>Cloud Architecture</vt:lpstr>
      <vt:lpstr>Cloud Architecture</vt:lpstr>
      <vt:lpstr>DevOps</vt:lpstr>
      <vt:lpstr>Secure Software Development Life Cycle (SSDLC)</vt:lpstr>
      <vt:lpstr>SSDLC Phases</vt:lpstr>
      <vt:lpstr>OWASP Top 10: SQL Injection</vt:lpstr>
      <vt:lpstr>OWASP Top 10: SQL Injection</vt:lpstr>
      <vt:lpstr>OWASP Top 10: SQL Injection</vt:lpstr>
      <vt:lpstr>OWASP Top 10: SQL Injection</vt:lpstr>
      <vt:lpstr>OWASP Top 10: SQL Injection</vt:lpstr>
      <vt:lpstr>OWASP Top 10: SQL Injection</vt:lpstr>
      <vt:lpstr>OWASP Top 10: SQL Injection</vt:lpstr>
      <vt:lpstr>OWASP Top 10: SQL Injection</vt:lpstr>
      <vt:lpstr>OWASP Top 10: SQL Injection</vt:lpstr>
      <vt:lpstr>OWASP Top 10: XSS (Cross-Site Scripting)</vt:lpstr>
      <vt:lpstr>OWASP Top 10: XSS (Cross-Site Scripting)</vt:lpstr>
      <vt:lpstr>OWASP Top 10: XSS (Cross-Site Scripting)</vt:lpstr>
      <vt:lpstr>OWASP Top 10: XSS (Cross-Site Scripting)</vt:lpstr>
      <vt:lpstr>OWASP Top 10: XSS (Cross-Site Scripting)</vt:lpstr>
      <vt:lpstr>OWASP Top 10: XSS (Cross-Site Scripting)</vt:lpstr>
      <vt:lpstr>OWASP Top 10: XSS (Cross-Site Scripting)</vt:lpstr>
      <vt:lpstr>OWASP Top 10: XSS (Cross-Site Scripting)</vt:lpstr>
      <vt:lpstr>OWASP Top 10: XSS (Cross-Site Scripting)</vt:lpstr>
      <vt:lpstr>OWASP Top 10: Business Logic Vulnerabilities</vt:lpstr>
      <vt:lpstr>OWASP Top 10: Business Logic Vulnerabilities</vt:lpstr>
      <vt:lpstr>OWASP Top 10: Business Logic Vulnerabilities</vt:lpstr>
      <vt:lpstr>OWASP Top 10: Business Logic Vulnerabilities</vt:lpstr>
      <vt:lpstr>OWASP Top 10: Business Logic Vulnerabilities</vt:lpstr>
      <vt:lpstr>OWASP Top 10: Business Logic Vulnerabilities</vt:lpstr>
      <vt:lpstr>OWASP Top 10: Business Logic Vulnerabilities</vt:lpstr>
      <vt:lpstr>OWASP Top 10: Business Logic Vulnerabilities</vt:lpstr>
      <vt:lpstr>OWASP Top 10: Business Logic Vulnerabilities</vt:lpstr>
      <vt:lpstr>OWASP Top 10: Race Condition Vulnerabilities</vt:lpstr>
      <vt:lpstr>OWASP Top 10: Race Condition Vulnerabilities</vt:lpstr>
      <vt:lpstr>OWASP Top 10: Race Condition Vulnerabilities</vt:lpstr>
      <vt:lpstr>OWASP Top 10: Race Condition Vulnerabilities</vt:lpstr>
      <vt:lpstr>OWASP Top 10: Race Condition Vulnerabilities</vt:lpstr>
      <vt:lpstr>OWASP Top 10: JWT Vulnerabilities</vt:lpstr>
      <vt:lpstr>OWASP Top 10: JWT Vulnerabilities</vt:lpstr>
      <vt:lpstr>OWASP Top 10: JWT Vulnerabilities</vt:lpstr>
      <vt:lpstr>OWASP Top 10: JWT Vulnerabilities</vt:lpstr>
      <vt:lpstr>OWASP Top 10: JWT Vulnerabilities</vt:lpstr>
      <vt:lpstr>OWASP Top 10: JWT Vulnerabilities</vt:lpstr>
      <vt:lpstr>OWASP Top 10: JWT Vulnerabilities</vt:lpstr>
      <vt:lpstr>OWASP Top 10: JWT Vulnerabilities</vt:lpstr>
      <vt:lpstr>OWASP Top 10: JWT Vulnerabilities</vt:lpstr>
      <vt:lpstr>OWASP Top 10: JWT Vulnerabilities</vt:lpstr>
      <vt:lpstr>OWASP Top 10: JWT Vulnerabilities</vt:lpstr>
      <vt:lpstr>OWASP Top 10: JWT Vulnerabilities</vt:lpstr>
      <vt:lpstr>OWASP Top 10: JWT Vulnerabilities</vt:lpstr>
      <vt:lpstr>OWASP Top 10: Cross-Site Request Forgery (CSRF)</vt:lpstr>
      <vt:lpstr>OWASP Top 10: Cross-Site Request Forgery (CSRF)</vt:lpstr>
      <vt:lpstr>OWASP Top 10: Cross-Site Request Forgery (CSRF)</vt:lpstr>
      <vt:lpstr>OWASP Top 10: Cross-Site Request Forgery (CSRF)</vt:lpstr>
      <vt:lpstr>OWASP Top 10: Cross-Site Request Forgery (CSRF)</vt:lpstr>
      <vt:lpstr>OWASP Top 10: Server-Side Request Forgery (SSRF)</vt:lpstr>
      <vt:lpstr>OWASP Top 10: Server-Side Request Forgery (SSRF)</vt:lpstr>
      <vt:lpstr>OWASP Top 10: Server-Side Request Forgery (SSRF)</vt:lpstr>
      <vt:lpstr>OWASP Top 10: Command Injection</vt:lpstr>
      <vt:lpstr>OWASP Top 10: Command Injection</vt:lpstr>
      <vt:lpstr>OWASP Top 10: Command Injection</vt:lpstr>
      <vt:lpstr>OWASP Top 10: Command Injection</vt:lpstr>
      <vt:lpstr>OWASP Top 10: Command Injection</vt:lpstr>
      <vt:lpstr>OWASP Top 10: Command Injection</vt:lpstr>
      <vt:lpstr>OWASP Top 10: Command Injection</vt:lpstr>
      <vt:lpstr>OWASP Top 10: Command Injection</vt:lpstr>
      <vt:lpstr>OWASP Top 10: Command Injection</vt:lpstr>
      <vt:lpstr>OWASP Top 10: Command Injection</vt:lpstr>
      <vt:lpstr>Hashing vs Encryption vs Encoding</vt:lpstr>
      <vt:lpstr>Hashing vs Encryption vs Encoding</vt:lpstr>
      <vt:lpstr>Hashing vs Encryption vs Encoding</vt:lpstr>
      <vt:lpstr>Hashing vs Encryption vs Encoding</vt:lpstr>
      <vt:lpstr>Hashing vs Encryption vs Encoding</vt:lpstr>
      <vt:lpstr>Hashing vs Encryption vs Encoding</vt:lpstr>
      <vt:lpstr>Hashing vs Encryption vs Encoding</vt:lpstr>
      <vt:lpstr>Hashing vs Encryption vs Encoding</vt:lpstr>
      <vt:lpstr>Hashing vs Encryption vs Encoding</vt:lpstr>
      <vt:lpstr>Hashing vs Encryption vs Encoding</vt:lpstr>
      <vt:lpstr>Hashing vs Encryption vs Encoding</vt:lpstr>
      <vt:lpstr>Hashing vs Encryption vs Encoding</vt:lpstr>
      <vt:lpstr>Hashing vs Encryption vs Encoding</vt:lpstr>
      <vt:lpstr>Hashing vs Encryption vs Encoding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Abdallah Eid</dc:creator>
  <cp:lastModifiedBy>Abdallah Eid</cp:lastModifiedBy>
  <cp:revision>82</cp:revision>
  <dcterms:created xsi:type="dcterms:W3CDTF">2026-03-05T05:29:47Z</dcterms:created>
  <dcterms:modified xsi:type="dcterms:W3CDTF">2026-05-09T01:06:59Z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e531715-0ec9-49c7-8674-6118cbf831f9_Enabled">
    <vt:lpwstr>true</vt:lpwstr>
  </property>
  <property fmtid="{D5CDD505-2E9C-101B-9397-08002B2CF9AE}" pid="3" name="MSIP_Label_0e531715-0ec9-49c7-8674-6118cbf831f9_SetDate">
    <vt:lpwstr>2026-04-02T03:38:07Z</vt:lpwstr>
  </property>
  <property fmtid="{D5CDD505-2E9C-101B-9397-08002B2CF9AE}" pid="4" name="MSIP_Label_0e531715-0ec9-49c7-8674-6118cbf831f9_Method">
    <vt:lpwstr>Standard</vt:lpwstr>
  </property>
  <property fmtid="{D5CDD505-2E9C-101B-9397-08002B2CF9AE}" pid="5" name="MSIP_Label_0e531715-0ec9-49c7-8674-6118cbf831f9_Name">
    <vt:lpwstr>Confidential</vt:lpwstr>
  </property>
  <property fmtid="{D5CDD505-2E9C-101B-9397-08002B2CF9AE}" pid="6" name="MSIP_Label_0e531715-0ec9-49c7-8674-6118cbf831f9_SiteId">
    <vt:lpwstr>96bf2027-97ea-4dfc-8f5b-7121b770f292</vt:lpwstr>
  </property>
  <property fmtid="{D5CDD505-2E9C-101B-9397-08002B2CF9AE}" pid="7" name="MSIP_Label_0e531715-0ec9-49c7-8674-6118cbf831f9_ActionId">
    <vt:lpwstr>fb6b050c-6813-4a51-8b20-7f7e4cc99df5</vt:lpwstr>
  </property>
  <property fmtid="{D5CDD505-2E9C-101B-9397-08002B2CF9AE}" pid="8" name="MSIP_Label_0e531715-0ec9-49c7-8674-6118cbf831f9_ContentBits">
    <vt:lpwstr>2</vt:lpwstr>
  </property>
  <property fmtid="{D5CDD505-2E9C-101B-9397-08002B2CF9AE}" pid="9" name="MSIP_Label_0e531715-0ec9-49c7-8674-6118cbf831f9_Tag">
    <vt:lpwstr>10, 3, 0, 1</vt:lpwstr>
  </property>
  <property fmtid="{D5CDD505-2E9C-101B-9397-08002B2CF9AE}" pid="10" name="ClassificationContentMarkingFooterLocations">
    <vt:lpwstr>Celestial:8</vt:lpwstr>
  </property>
  <property fmtid="{D5CDD505-2E9C-101B-9397-08002B2CF9AE}" pid="11" name="ClassificationContentMarkingFooterText">
    <vt:lpwstr>Confidential</vt:lpwstr>
  </property>
</Properties>
</file>